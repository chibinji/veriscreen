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33"/>
  </p:notesMasterIdLst>
  <p:sldIdLst>
    <p:sldId id="256" r:id="rId2"/>
    <p:sldId id="258" r:id="rId3"/>
    <p:sldId id="259" r:id="rId4"/>
    <p:sldId id="261" r:id="rId5"/>
    <p:sldId id="260" r:id="rId6"/>
    <p:sldId id="263" r:id="rId7"/>
    <p:sldId id="262" r:id="rId8"/>
    <p:sldId id="297" r:id="rId9"/>
    <p:sldId id="298" r:id="rId10"/>
    <p:sldId id="299" r:id="rId11"/>
    <p:sldId id="313" r:id="rId12"/>
    <p:sldId id="308" r:id="rId13"/>
    <p:sldId id="311" r:id="rId14"/>
    <p:sldId id="310" r:id="rId15"/>
    <p:sldId id="309" r:id="rId16"/>
    <p:sldId id="314" r:id="rId17"/>
    <p:sldId id="312" r:id="rId18"/>
    <p:sldId id="300" r:id="rId19"/>
    <p:sldId id="315" r:id="rId20"/>
    <p:sldId id="316" r:id="rId21"/>
    <p:sldId id="317" r:id="rId22"/>
    <p:sldId id="318" r:id="rId23"/>
    <p:sldId id="319" r:id="rId24"/>
    <p:sldId id="301" r:id="rId25"/>
    <p:sldId id="267" r:id="rId26"/>
    <p:sldId id="302" r:id="rId27"/>
    <p:sldId id="305" r:id="rId28"/>
    <p:sldId id="306" r:id="rId29"/>
    <p:sldId id="303" r:id="rId30"/>
    <p:sldId id="304" r:id="rId31"/>
    <p:sldId id="320" r:id="rId38"/>
    <p:sldId id="321" r:id="rId39"/>
    <p:sldId id="322" r:id="rId40"/>
    <p:sldId id="268"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07EE39-42F6-4224-913A-FE5B60889325}">
  <a:tblStyle styleId="{A407EE39-42F6-4224-913A-FE5B6088932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63F5789-61F1-4460-8BB7-7D2F9F56B81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B208E96-A423-442F-B9BC-8177B98686DB}"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87" d="100"/>
          <a:sy n="87" d="100"/>
        </p:scale>
        <p:origin x="62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4.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2"/>
        <p:cNvGrpSpPr/>
        <p:nvPr/>
      </p:nvGrpSpPr>
      <p:grpSpPr>
        <a:xfrm>
          <a:off x="0" y="0"/>
          <a:ext cx="0" cy="0"/>
          <a:chOff x="0" y="0"/>
          <a:chExt cx="0" cy="0"/>
        </a:xfrm>
      </p:grpSpPr>
      <p:sp>
        <p:nvSpPr>
          <p:cNvPr id="2053" name="Google Shape;2053;g3146cb5cc3e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4" name="Google Shape;2054;g3146cb5cc3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1"/>
        <p:cNvGrpSpPr/>
        <p:nvPr/>
      </p:nvGrpSpPr>
      <p:grpSpPr>
        <a:xfrm>
          <a:off x="0" y="0"/>
          <a:ext cx="0" cy="0"/>
          <a:chOff x="0" y="0"/>
          <a:chExt cx="0" cy="0"/>
        </a:xfrm>
      </p:grpSpPr>
      <p:sp>
        <p:nvSpPr>
          <p:cNvPr id="2082" name="Google Shape;2082;g3146cb5cc3e_0_60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3" name="Google Shape;2083;g3146cb5cc3e_0_6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3146cb5cc3e_0_9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4" name="Google Shape;2104;g3146cb5cc3e_0_9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3146cb5cc3e_0_159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36" name="Google Shape;2236;g3146cb5cc3e_0_159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9"/>
        <p:cNvGrpSpPr/>
        <p:nvPr/>
      </p:nvGrpSpPr>
      <p:grpSpPr>
        <a:xfrm>
          <a:off x="0" y="0"/>
          <a:ext cx="0" cy="0"/>
          <a:chOff x="0" y="0"/>
          <a:chExt cx="0" cy="0"/>
        </a:xfrm>
      </p:grpSpPr>
      <p:sp>
        <p:nvSpPr>
          <p:cNvPr id="2110" name="Google Shape;2110;g3146cb5cc3e_0_125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1" name="Google Shape;2111;g3146cb5cc3e_0_1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3146cb5cc3e_0_187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8" name="Google Shape;2258;g3146cb5cc3e_0_187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0328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2354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52916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5002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1899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7129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8744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741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4628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7548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4517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g3146cb5cc3e_0_25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8" name="Google Shape;2298;g3146cb5cc3e_0_25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4127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0"/>
        <p:cNvGrpSpPr/>
        <p:nvPr/>
      </p:nvGrpSpPr>
      <p:grpSpPr>
        <a:xfrm>
          <a:off x="0" y="0"/>
          <a:ext cx="0" cy="0"/>
          <a:chOff x="0" y="0"/>
          <a:chExt cx="0" cy="0"/>
        </a:xfrm>
      </p:grpSpPr>
      <p:sp>
        <p:nvSpPr>
          <p:cNvPr id="2451" name="Google Shape;2451;g3146cb5cc3e_0_404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2" name="Google Shape;2452;g3146cb5cc3e_0_40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7766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6"/>
        <p:cNvGrpSpPr/>
        <p:nvPr/>
      </p:nvGrpSpPr>
      <p:grpSpPr>
        <a:xfrm>
          <a:off x="0" y="0"/>
          <a:ext cx="0" cy="0"/>
          <a:chOff x="0" y="0"/>
          <a:chExt cx="0" cy="0"/>
        </a:xfrm>
      </p:grpSpPr>
      <p:sp>
        <p:nvSpPr>
          <p:cNvPr id="2457" name="Google Shape;2457;g3146cb5cc3e_0_43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8" name="Google Shape;2458;g3146cb5cc3e_0_43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69225" y="560775"/>
            <a:ext cx="6805500" cy="22956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677750" y="3231851"/>
            <a:ext cx="5788500" cy="669000"/>
          </a:xfrm>
          <a:prstGeom prst="rect">
            <a:avLst/>
          </a:prstGeom>
          <a:ln>
            <a:noFill/>
          </a:ln>
        </p:spPr>
        <p:txBody>
          <a:bodyPr spcFirstLastPara="1" wrap="square" lIns="91425" tIns="91425" rIns="91425" bIns="91425" anchor="t" anchorCtr="0">
            <a:noAutofit/>
          </a:bodyPr>
          <a:lstStyle>
            <a:lvl1pPr lvl="0" algn="ctr">
              <a:lnSpc>
                <a:spcPct val="90000"/>
              </a:lnSpc>
              <a:spcBef>
                <a:spcPts val="75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450421" y="-383841"/>
            <a:ext cx="1507871" cy="1510263"/>
            <a:chOff x="39184" y="-151930"/>
            <a:chExt cx="1309825" cy="1311903"/>
          </a:xfrm>
        </p:grpSpPr>
        <p:sp>
          <p:nvSpPr>
            <p:cNvPr id="12" name="Google Shape;12;p2"/>
            <p:cNvSpPr/>
            <p:nvPr/>
          </p:nvSpPr>
          <p:spPr>
            <a:xfrm>
              <a:off x="1304909" y="544953"/>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
            <p:cNvSpPr/>
            <p:nvPr/>
          </p:nvSpPr>
          <p:spPr>
            <a:xfrm>
              <a:off x="1105499" y="628915"/>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
            <p:cNvSpPr/>
            <p:nvPr/>
          </p:nvSpPr>
          <p:spPr>
            <a:xfrm>
              <a:off x="1034132" y="700282"/>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1046726" y="572240"/>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
            <p:cNvSpPr/>
            <p:nvPr/>
          </p:nvSpPr>
          <p:spPr>
            <a:xfrm>
              <a:off x="975359" y="643608"/>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
            <p:cNvSpPr/>
            <p:nvPr/>
          </p:nvSpPr>
          <p:spPr>
            <a:xfrm>
              <a:off x="775949" y="727570"/>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2"/>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2"/>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2"/>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
            <p:cNvSpPr/>
            <p:nvPr/>
          </p:nvSpPr>
          <p:spPr>
            <a:xfrm>
              <a:off x="717176" y="668797"/>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
            <p:cNvSpPr/>
            <p:nvPr/>
          </p:nvSpPr>
          <p:spPr>
            <a:xfrm>
              <a:off x="647907" y="740164"/>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2"/>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2"/>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2"/>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2"/>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
            <p:cNvSpPr/>
            <p:nvPr/>
          </p:nvSpPr>
          <p:spPr>
            <a:xfrm>
              <a:off x="389725" y="765353"/>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2"/>
            <p:cNvSpPr/>
            <p:nvPr/>
          </p:nvSpPr>
          <p:spPr>
            <a:xfrm>
              <a:off x="899793" y="139837"/>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828425" y="211205"/>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2"/>
            <p:cNvSpPr/>
            <p:nvPr/>
          </p:nvSpPr>
          <p:spPr>
            <a:xfrm>
              <a:off x="841020" y="81064"/>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2"/>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
            <p:cNvSpPr/>
            <p:nvPr/>
          </p:nvSpPr>
          <p:spPr>
            <a:xfrm>
              <a:off x="641610" y="167125"/>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
            <p:cNvSpPr/>
            <p:nvPr/>
          </p:nvSpPr>
          <p:spPr>
            <a:xfrm>
              <a:off x="570243" y="236393"/>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2"/>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2"/>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2"/>
            <p:cNvSpPr/>
            <p:nvPr/>
          </p:nvSpPr>
          <p:spPr>
            <a:xfrm>
              <a:off x="582837" y="108352"/>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
            <p:cNvSpPr/>
            <p:nvPr/>
          </p:nvSpPr>
          <p:spPr>
            <a:xfrm>
              <a:off x="511469" y="179719"/>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2"/>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2"/>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2"/>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2"/>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2"/>
            <p:cNvSpPr/>
            <p:nvPr/>
          </p:nvSpPr>
          <p:spPr>
            <a:xfrm>
              <a:off x="312060" y="263681"/>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2"/>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2"/>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2"/>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2"/>
            <p:cNvSpPr/>
            <p:nvPr/>
          </p:nvSpPr>
          <p:spPr>
            <a:xfrm>
              <a:off x="255386" y="204908"/>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
            <p:cNvSpPr/>
            <p:nvPr/>
          </p:nvSpPr>
          <p:spPr>
            <a:xfrm>
              <a:off x="184018" y="276275"/>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2"/>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9" name="Google Shape;129;p2"/>
          <p:cNvGrpSpPr/>
          <p:nvPr/>
        </p:nvGrpSpPr>
        <p:grpSpPr>
          <a:xfrm flipH="1">
            <a:off x="8057468" y="4108382"/>
            <a:ext cx="1507871" cy="1510263"/>
            <a:chOff x="39184" y="-151930"/>
            <a:chExt cx="1309825" cy="1311903"/>
          </a:xfrm>
        </p:grpSpPr>
        <p:sp>
          <p:nvSpPr>
            <p:cNvPr id="130" name="Google Shape;130;p2"/>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2"/>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2"/>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2"/>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2"/>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2"/>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2"/>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2"/>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2"/>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2"/>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2"/>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2"/>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2"/>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2"/>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2"/>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2"/>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2"/>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2"/>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2"/>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2"/>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2"/>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2"/>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2"/>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2"/>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2"/>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2"/>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2"/>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2"/>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2"/>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2"/>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2"/>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2"/>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2"/>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2"/>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2"/>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2"/>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2"/>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2"/>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2"/>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2"/>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2"/>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2"/>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2"/>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2"/>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2"/>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2"/>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2"/>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2"/>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2"/>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2"/>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2"/>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2"/>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2"/>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2"/>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2"/>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2"/>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2"/>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2"/>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2"/>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2"/>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2"/>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2"/>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2"/>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2"/>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2"/>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2"/>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2"/>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2"/>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2"/>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2"/>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2"/>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2"/>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2"/>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2"/>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2"/>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2"/>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2"/>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2"/>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2"/>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2"/>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2"/>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2"/>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2"/>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2"/>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7"/>
        <p:cNvGrpSpPr/>
        <p:nvPr/>
      </p:nvGrpSpPr>
      <p:grpSpPr>
        <a:xfrm>
          <a:off x="0" y="0"/>
          <a:ext cx="0" cy="0"/>
          <a:chOff x="0" y="0"/>
          <a:chExt cx="0" cy="0"/>
        </a:xfrm>
      </p:grpSpPr>
      <p:sp>
        <p:nvSpPr>
          <p:cNvPr id="248" name="Google Shape;248;p3"/>
          <p:cNvSpPr/>
          <p:nvPr/>
        </p:nvSpPr>
        <p:spPr>
          <a:xfrm>
            <a:off x="723900" y="862425"/>
            <a:ext cx="1257300" cy="968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249" name="Google Shape;249;p3"/>
          <p:cNvSpPr txBox="1">
            <a:spLocks noGrp="1"/>
          </p:cNvSpPr>
          <p:nvPr>
            <p:ph type="title"/>
          </p:nvPr>
        </p:nvSpPr>
        <p:spPr>
          <a:xfrm>
            <a:off x="629525" y="1989775"/>
            <a:ext cx="7463100" cy="1224600"/>
          </a:xfrm>
          <a:prstGeom prst="rect">
            <a:avLst/>
          </a:prstGeom>
          <a:ln>
            <a:noFill/>
          </a:ln>
        </p:spPr>
        <p:txBody>
          <a:bodyPr spcFirstLastPara="1" wrap="square" lIns="91425" tIns="91425" rIns="91425" bIns="91425" anchor="b" anchorCtr="0">
            <a:noAutofit/>
          </a:bodyPr>
          <a:lstStyle>
            <a:lvl1pPr lvl="0">
              <a:lnSpc>
                <a:spcPct val="9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0" name="Google Shape;250;p3"/>
          <p:cNvSpPr txBox="1">
            <a:spLocks noGrp="1"/>
          </p:cNvSpPr>
          <p:nvPr>
            <p:ph type="title" idx="2" hasCustomPrompt="1"/>
          </p:nvPr>
        </p:nvSpPr>
        <p:spPr>
          <a:xfrm>
            <a:off x="723900" y="862425"/>
            <a:ext cx="1257300" cy="968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1" name="Google Shape;251;p3"/>
          <p:cNvSpPr txBox="1">
            <a:spLocks noGrp="1"/>
          </p:cNvSpPr>
          <p:nvPr>
            <p:ph type="subTitle" idx="1"/>
          </p:nvPr>
        </p:nvSpPr>
        <p:spPr>
          <a:xfrm>
            <a:off x="629525" y="3141225"/>
            <a:ext cx="7463100" cy="4497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52" name="Google Shape;252;p3"/>
          <p:cNvGrpSpPr/>
          <p:nvPr/>
        </p:nvGrpSpPr>
        <p:grpSpPr>
          <a:xfrm>
            <a:off x="-36383" y="-155066"/>
            <a:ext cx="9557011" cy="5716646"/>
            <a:chOff x="-36383" y="-155066"/>
            <a:chExt cx="9557011" cy="5716646"/>
          </a:xfrm>
        </p:grpSpPr>
        <p:grpSp>
          <p:nvGrpSpPr>
            <p:cNvPr id="253" name="Google Shape;253;p3"/>
            <p:cNvGrpSpPr/>
            <p:nvPr/>
          </p:nvGrpSpPr>
          <p:grpSpPr>
            <a:xfrm rot="10800000">
              <a:off x="7204195" y="-155066"/>
              <a:ext cx="2187094" cy="2789634"/>
              <a:chOff x="3700202" y="2700338"/>
              <a:chExt cx="1654132" cy="2109842"/>
            </a:xfrm>
          </p:grpSpPr>
          <p:sp>
            <p:nvSpPr>
              <p:cNvPr id="254" name="Google Shape;254;p3"/>
              <p:cNvSpPr/>
              <p:nvPr/>
            </p:nvSpPr>
            <p:spPr>
              <a:xfrm>
                <a:off x="3700202" y="2700338"/>
                <a:ext cx="1654132" cy="2109842"/>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3"/>
              <p:cNvSpPr/>
              <p:nvPr/>
            </p:nvSpPr>
            <p:spPr>
              <a:xfrm>
                <a:off x="3703377" y="3690938"/>
                <a:ext cx="1117623" cy="1117589"/>
              </a:xfrm>
              <a:custGeom>
                <a:avLst/>
                <a:gdLst/>
                <a:ahLst/>
                <a:cxnLst/>
                <a:rect l="l" t="t" r="r" b="b"/>
                <a:pathLst>
                  <a:path w="33788" h="33787" extrusionOk="0">
                    <a:moveTo>
                      <a:pt x="0" y="0"/>
                    </a:moveTo>
                    <a:lnTo>
                      <a:pt x="33788" y="33787"/>
                    </a:lnTo>
                    <a:lnTo>
                      <a:pt x="36" y="33751"/>
                    </a:lnTo>
                    <a:lnTo>
                      <a:pt x="0" y="0"/>
                    </a:lnTo>
                    <a:close/>
                  </a:path>
                </a:pathLst>
              </a:custGeom>
              <a:solidFill>
                <a:srgbClr val="4C6A7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3"/>
              <p:cNvSpPr/>
              <p:nvPr/>
            </p:nvSpPr>
            <p:spPr>
              <a:xfrm>
                <a:off x="4057390" y="3656013"/>
                <a:ext cx="935041" cy="652454"/>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3"/>
              <p:cNvSpPr/>
              <p:nvPr/>
            </p:nvSpPr>
            <p:spPr>
              <a:xfrm>
                <a:off x="3746240" y="3967163"/>
                <a:ext cx="935041" cy="652471"/>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rgbClr val="F0EBE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3"/>
              <p:cNvSpPr/>
              <p:nvPr/>
            </p:nvSpPr>
            <p:spPr>
              <a:xfrm>
                <a:off x="4128827" y="3976688"/>
                <a:ext cx="401633" cy="401633"/>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3"/>
              <p:cNvSpPr/>
              <p:nvPr/>
            </p:nvSpPr>
            <p:spPr>
              <a:xfrm>
                <a:off x="4211377" y="3895725"/>
                <a:ext cx="401633" cy="401633"/>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0" name="Google Shape;260;p3"/>
            <p:cNvSpPr/>
            <p:nvPr/>
          </p:nvSpPr>
          <p:spPr>
            <a:xfrm rot="5400000">
              <a:off x="7874" y="3678747"/>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1" name="Google Shape;261;p3"/>
            <p:cNvGrpSpPr/>
            <p:nvPr/>
          </p:nvGrpSpPr>
          <p:grpSpPr>
            <a:xfrm>
              <a:off x="-36383" y="4107925"/>
              <a:ext cx="1658229" cy="1282495"/>
              <a:chOff x="5136226" y="2246221"/>
              <a:chExt cx="1254144" cy="969970"/>
            </a:xfrm>
          </p:grpSpPr>
          <p:sp>
            <p:nvSpPr>
              <p:cNvPr id="262" name="Google Shape;262;p3"/>
              <p:cNvSpPr/>
              <p:nvPr/>
            </p:nvSpPr>
            <p:spPr>
              <a:xfrm>
                <a:off x="5448964" y="2246221"/>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3"/>
              <p:cNvSpPr/>
              <p:nvPr/>
            </p:nvSpPr>
            <p:spPr>
              <a:xfrm>
                <a:off x="5136226" y="2558958"/>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3"/>
              <p:cNvSpPr/>
              <p:nvPr/>
            </p:nvSpPr>
            <p:spPr>
              <a:xfrm>
                <a:off x="5521989" y="2570071"/>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3"/>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6" name="Google Shape;266;p3"/>
            <p:cNvGrpSpPr/>
            <p:nvPr/>
          </p:nvGrpSpPr>
          <p:grpSpPr>
            <a:xfrm flipH="1">
              <a:off x="8012757" y="4051317"/>
              <a:ext cx="1507871" cy="1510263"/>
              <a:chOff x="39184" y="-151930"/>
              <a:chExt cx="1309825" cy="1311903"/>
            </a:xfrm>
          </p:grpSpPr>
          <p:sp>
            <p:nvSpPr>
              <p:cNvPr id="267" name="Google Shape;267;p3"/>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3"/>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3"/>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3"/>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3"/>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3"/>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3"/>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3"/>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3"/>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3"/>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3"/>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3"/>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3"/>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3"/>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3"/>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3"/>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3"/>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3"/>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3"/>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3"/>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3"/>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3"/>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3"/>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3"/>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3"/>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3"/>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3"/>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3"/>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3"/>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3"/>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3"/>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3"/>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3"/>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3"/>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3"/>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3"/>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3"/>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3"/>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3"/>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3"/>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3"/>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3"/>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3"/>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3"/>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3"/>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3"/>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3"/>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3"/>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3"/>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3"/>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3"/>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3"/>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3"/>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3"/>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3"/>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3"/>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3"/>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3"/>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3"/>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3"/>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3"/>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3"/>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3"/>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3"/>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3"/>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3"/>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3"/>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3"/>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3"/>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3"/>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3"/>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3"/>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3"/>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3"/>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3"/>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3"/>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3"/>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3"/>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3"/>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3"/>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3"/>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3"/>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3"/>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3"/>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3"/>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3"/>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3"/>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3"/>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3"/>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3"/>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3"/>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3"/>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3"/>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3"/>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3"/>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3"/>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3"/>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3"/>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3"/>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3"/>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3"/>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3"/>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3"/>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3"/>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3"/>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3"/>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3"/>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3"/>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7"/>
        <p:cNvGrpSpPr/>
        <p:nvPr/>
      </p:nvGrpSpPr>
      <p:grpSpPr>
        <a:xfrm>
          <a:off x="0" y="0"/>
          <a:ext cx="0" cy="0"/>
          <a:chOff x="0" y="0"/>
          <a:chExt cx="0" cy="0"/>
        </a:xfrm>
      </p:grpSpPr>
      <p:sp>
        <p:nvSpPr>
          <p:cNvPr id="388" name="Google Shape;388;p5"/>
          <p:cNvSpPr txBox="1">
            <a:spLocks noGrp="1"/>
          </p:cNvSpPr>
          <p:nvPr>
            <p:ph type="subTitle" idx="1"/>
          </p:nvPr>
        </p:nvSpPr>
        <p:spPr>
          <a:xfrm>
            <a:off x="1290750" y="2672122"/>
            <a:ext cx="2907600" cy="425700"/>
          </a:xfrm>
          <a:prstGeom prst="rect">
            <a:avLst/>
          </a:prstGeom>
        </p:spPr>
        <p:txBody>
          <a:bodyPr spcFirstLastPara="1" wrap="square" lIns="91425" tIns="91425" rIns="91425" bIns="91425" anchor="t" anchorCtr="0">
            <a:noAutofit/>
          </a:bodyPr>
          <a:lstStyle>
            <a:lvl1pPr lv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89" name="Google Shape;389;p5"/>
          <p:cNvSpPr txBox="1">
            <a:spLocks noGrp="1"/>
          </p:cNvSpPr>
          <p:nvPr>
            <p:ph type="subTitle" idx="2"/>
          </p:nvPr>
        </p:nvSpPr>
        <p:spPr>
          <a:xfrm>
            <a:off x="4945625" y="2672122"/>
            <a:ext cx="2907600" cy="4257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90" name="Google Shape;390;p5"/>
          <p:cNvSpPr txBox="1">
            <a:spLocks noGrp="1"/>
          </p:cNvSpPr>
          <p:nvPr>
            <p:ph type="subTitle" idx="3"/>
          </p:nvPr>
        </p:nvSpPr>
        <p:spPr>
          <a:xfrm>
            <a:off x="1290750" y="3097824"/>
            <a:ext cx="2907600" cy="11670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2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1" name="Google Shape;391;p5"/>
          <p:cNvSpPr txBox="1">
            <a:spLocks noGrp="1"/>
          </p:cNvSpPr>
          <p:nvPr>
            <p:ph type="subTitle" idx="4"/>
          </p:nvPr>
        </p:nvSpPr>
        <p:spPr>
          <a:xfrm>
            <a:off x="4945625" y="3097824"/>
            <a:ext cx="2907600" cy="11670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2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2" name="Google Shape;392;p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393" name="Google Shape;393;p5"/>
          <p:cNvGrpSpPr/>
          <p:nvPr/>
        </p:nvGrpSpPr>
        <p:grpSpPr>
          <a:xfrm>
            <a:off x="-15990" y="3526515"/>
            <a:ext cx="2300520" cy="2575530"/>
            <a:chOff x="3238240" y="323850"/>
            <a:chExt cx="1739919" cy="1947912"/>
          </a:xfrm>
        </p:grpSpPr>
        <p:sp>
          <p:nvSpPr>
            <p:cNvPr id="394" name="Google Shape;394;p5"/>
            <p:cNvSpPr/>
            <p:nvPr/>
          </p:nvSpPr>
          <p:spPr>
            <a:xfrm>
              <a:off x="3238240" y="323850"/>
              <a:ext cx="1654154" cy="1947912"/>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5"/>
            <p:cNvSpPr/>
            <p:nvPr/>
          </p:nvSpPr>
          <p:spPr>
            <a:xfrm>
              <a:off x="4036753" y="947738"/>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5"/>
            <p:cNvSpPr/>
            <p:nvPr/>
          </p:nvSpPr>
          <p:spPr>
            <a:xfrm>
              <a:off x="3724015" y="1260475"/>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5"/>
            <p:cNvSpPr/>
            <p:nvPr/>
          </p:nvSpPr>
          <p:spPr>
            <a:xfrm>
              <a:off x="4109778" y="1271588"/>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5"/>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39"/>
        <p:cNvGrpSpPr/>
        <p:nvPr/>
      </p:nvGrpSpPr>
      <p:grpSpPr>
        <a:xfrm>
          <a:off x="0" y="0"/>
          <a:ext cx="0" cy="0"/>
          <a:chOff x="0" y="0"/>
          <a:chExt cx="0" cy="0"/>
        </a:xfrm>
      </p:grpSpPr>
      <p:sp>
        <p:nvSpPr>
          <p:cNvPr id="640" name="Google Shape;640;p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41" name="Google Shape;641;p7"/>
          <p:cNvSpPr txBox="1">
            <a:spLocks noGrp="1"/>
          </p:cNvSpPr>
          <p:nvPr>
            <p:ph type="body" idx="1"/>
          </p:nvPr>
        </p:nvSpPr>
        <p:spPr>
          <a:xfrm>
            <a:off x="574125" y="1374625"/>
            <a:ext cx="3987300" cy="31161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2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642" name="Google Shape;642;p7"/>
          <p:cNvSpPr>
            <a:spLocks noGrp="1"/>
          </p:cNvSpPr>
          <p:nvPr>
            <p:ph type="pic" idx="2"/>
          </p:nvPr>
        </p:nvSpPr>
        <p:spPr>
          <a:xfrm>
            <a:off x="4976975" y="1374425"/>
            <a:ext cx="3232800" cy="2913000"/>
          </a:xfrm>
          <a:prstGeom prst="roundRect">
            <a:avLst>
              <a:gd name="adj" fmla="val 16667"/>
            </a:avLst>
          </a:prstGeom>
          <a:noFill/>
          <a:ln>
            <a:noFill/>
          </a:ln>
        </p:spPr>
      </p:sp>
      <p:sp>
        <p:nvSpPr>
          <p:cNvPr id="643" name="Google Shape;643;p7"/>
          <p:cNvSpPr/>
          <p:nvPr/>
        </p:nvSpPr>
        <p:spPr>
          <a:xfrm>
            <a:off x="8421714" y="4402286"/>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44" name="Google Shape;644;p7"/>
          <p:cNvGrpSpPr/>
          <p:nvPr/>
        </p:nvGrpSpPr>
        <p:grpSpPr>
          <a:xfrm flipH="1">
            <a:off x="-132630" y="3762788"/>
            <a:ext cx="1507871" cy="1510263"/>
            <a:chOff x="39184" y="-151930"/>
            <a:chExt cx="1309825" cy="1311903"/>
          </a:xfrm>
        </p:grpSpPr>
        <p:sp>
          <p:nvSpPr>
            <p:cNvPr id="645" name="Google Shape;645;p7"/>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7"/>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7"/>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7"/>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7"/>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7"/>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7"/>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7"/>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7"/>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7"/>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7"/>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7"/>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7"/>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7"/>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7"/>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7"/>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7"/>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7"/>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7"/>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7"/>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7"/>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7"/>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7"/>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7"/>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7"/>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7"/>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7"/>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7"/>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7"/>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7"/>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7"/>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7"/>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7"/>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7"/>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7"/>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7"/>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7"/>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7"/>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7"/>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7"/>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7"/>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7"/>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7"/>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7"/>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7"/>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7"/>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7"/>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7"/>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7"/>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7"/>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7"/>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7"/>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7"/>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7"/>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7"/>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7"/>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7"/>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7"/>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7"/>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7"/>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7"/>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7"/>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7"/>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7"/>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7"/>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7"/>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7"/>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7"/>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7"/>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7"/>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7"/>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7"/>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7"/>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7"/>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7"/>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7"/>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7"/>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7"/>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7"/>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7"/>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7"/>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7"/>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7"/>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7"/>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7"/>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7"/>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7"/>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7"/>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7"/>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7"/>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7"/>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7"/>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7"/>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7"/>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7"/>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7"/>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7"/>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7"/>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7"/>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7"/>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7"/>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7"/>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7"/>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7"/>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7"/>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7"/>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7"/>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7"/>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7"/>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7"/>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7"/>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7"/>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7"/>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7"/>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7"/>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7"/>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7"/>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2"/>
        <p:cNvGrpSpPr/>
        <p:nvPr/>
      </p:nvGrpSpPr>
      <p:grpSpPr>
        <a:xfrm>
          <a:off x="0" y="0"/>
          <a:ext cx="0" cy="0"/>
          <a:chOff x="0" y="0"/>
          <a:chExt cx="0" cy="0"/>
        </a:xfrm>
      </p:grpSpPr>
      <p:sp>
        <p:nvSpPr>
          <p:cNvPr id="763" name="Google Shape;76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4"/>
        <p:cNvGrpSpPr/>
        <p:nvPr/>
      </p:nvGrpSpPr>
      <p:grpSpPr>
        <a:xfrm>
          <a:off x="0" y="0"/>
          <a:ext cx="0" cy="0"/>
          <a:chOff x="0" y="0"/>
          <a:chExt cx="0" cy="0"/>
        </a:xfrm>
      </p:grpSpPr>
      <p:sp>
        <p:nvSpPr>
          <p:cNvPr id="765" name="Google Shape;765;p9"/>
          <p:cNvSpPr txBox="1">
            <a:spLocks noGrp="1"/>
          </p:cNvSpPr>
          <p:nvPr>
            <p:ph type="subTitle" idx="1"/>
          </p:nvPr>
        </p:nvSpPr>
        <p:spPr>
          <a:xfrm>
            <a:off x="720068" y="2912750"/>
            <a:ext cx="3841500" cy="112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766" name="Google Shape;766;p9"/>
          <p:cNvSpPr txBox="1">
            <a:spLocks noGrp="1"/>
          </p:cNvSpPr>
          <p:nvPr>
            <p:ph type="title"/>
          </p:nvPr>
        </p:nvSpPr>
        <p:spPr>
          <a:xfrm>
            <a:off x="720000" y="880850"/>
            <a:ext cx="3841500" cy="2031900"/>
          </a:xfrm>
          <a:prstGeom prst="rect">
            <a:avLst/>
          </a:prstGeom>
          <a:ln>
            <a:noFill/>
          </a:ln>
        </p:spPr>
        <p:txBody>
          <a:bodyPr spcFirstLastPara="1" wrap="square" lIns="91425" tIns="91425" rIns="91425" bIns="91425" anchor="b" anchorCtr="0">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767" name="Google Shape;767;p9"/>
          <p:cNvGrpSpPr/>
          <p:nvPr/>
        </p:nvGrpSpPr>
        <p:grpSpPr>
          <a:xfrm>
            <a:off x="-684423" y="-1789571"/>
            <a:ext cx="10430491" cy="7512343"/>
            <a:chOff x="-684423" y="-1789571"/>
            <a:chExt cx="10430491" cy="7512343"/>
          </a:xfrm>
        </p:grpSpPr>
        <p:grpSp>
          <p:nvGrpSpPr>
            <p:cNvPr id="768" name="Google Shape;768;p9"/>
            <p:cNvGrpSpPr/>
            <p:nvPr/>
          </p:nvGrpSpPr>
          <p:grpSpPr>
            <a:xfrm>
              <a:off x="7144492" y="3147242"/>
              <a:ext cx="2300520" cy="2575530"/>
              <a:chOff x="3238240" y="323850"/>
              <a:chExt cx="1739919" cy="1947912"/>
            </a:xfrm>
          </p:grpSpPr>
          <p:sp>
            <p:nvSpPr>
              <p:cNvPr id="769" name="Google Shape;769;p9"/>
              <p:cNvSpPr/>
              <p:nvPr/>
            </p:nvSpPr>
            <p:spPr>
              <a:xfrm>
                <a:off x="3238240" y="323850"/>
                <a:ext cx="1654154" cy="1947912"/>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9"/>
              <p:cNvSpPr/>
              <p:nvPr/>
            </p:nvSpPr>
            <p:spPr>
              <a:xfrm>
                <a:off x="4036753" y="947738"/>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9"/>
              <p:cNvSpPr/>
              <p:nvPr/>
            </p:nvSpPr>
            <p:spPr>
              <a:xfrm>
                <a:off x="3724015" y="1260475"/>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9"/>
              <p:cNvSpPr/>
              <p:nvPr/>
            </p:nvSpPr>
            <p:spPr>
              <a:xfrm>
                <a:off x="4109778" y="1271588"/>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9"/>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4" name="Google Shape;774;p9"/>
            <p:cNvSpPr/>
            <p:nvPr/>
          </p:nvSpPr>
          <p:spPr>
            <a:xfrm>
              <a:off x="-684423" y="-1789571"/>
              <a:ext cx="2187200" cy="2575531"/>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75" name="Google Shape;775;p9"/>
            <p:cNvGrpSpPr/>
            <p:nvPr/>
          </p:nvGrpSpPr>
          <p:grpSpPr>
            <a:xfrm flipH="1">
              <a:off x="8238198" y="-570847"/>
              <a:ext cx="1507871" cy="1510263"/>
              <a:chOff x="39184" y="-151930"/>
              <a:chExt cx="1309825" cy="1311903"/>
            </a:xfrm>
          </p:grpSpPr>
          <p:sp>
            <p:nvSpPr>
              <p:cNvPr id="776" name="Google Shape;776;p9"/>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9"/>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9"/>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9"/>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9"/>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9"/>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9"/>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9"/>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9"/>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9"/>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9"/>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9"/>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9"/>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9"/>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9"/>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9"/>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9"/>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9"/>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9"/>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9"/>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9"/>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9"/>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9"/>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9"/>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9"/>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9"/>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9"/>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9"/>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9"/>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9"/>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9"/>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9"/>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9"/>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9"/>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9"/>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9"/>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9"/>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9"/>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9"/>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9"/>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9"/>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9"/>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9"/>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9"/>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9"/>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9"/>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9"/>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9"/>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9"/>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9"/>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9"/>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9"/>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9"/>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9"/>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9"/>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9"/>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9"/>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9"/>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9"/>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9"/>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9"/>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9"/>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9"/>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9"/>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9"/>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9"/>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9"/>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9"/>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9"/>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9"/>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9"/>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9"/>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9"/>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9"/>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9"/>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9"/>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9"/>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9"/>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9"/>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9"/>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9"/>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9"/>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9"/>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9"/>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9"/>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9"/>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9"/>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9"/>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9"/>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9"/>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9"/>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9"/>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9"/>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9"/>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9"/>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9"/>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9"/>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9"/>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9"/>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9"/>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9"/>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9"/>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9"/>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9"/>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9"/>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9"/>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9"/>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9"/>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9"/>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9"/>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9"/>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9"/>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9"/>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9"/>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9"/>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9"/>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9"/>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93"/>
        <p:cNvGrpSpPr/>
        <p:nvPr/>
      </p:nvGrpSpPr>
      <p:grpSpPr>
        <a:xfrm>
          <a:off x="0" y="0"/>
          <a:ext cx="0" cy="0"/>
          <a:chOff x="0" y="0"/>
          <a:chExt cx="0" cy="0"/>
        </a:xfrm>
      </p:grpSpPr>
      <p:sp>
        <p:nvSpPr>
          <p:cNvPr id="894" name="Google Shape;894;p10"/>
          <p:cNvSpPr>
            <a:spLocks noGrp="1"/>
          </p:cNvSpPr>
          <p:nvPr>
            <p:ph type="pic" idx="2"/>
          </p:nvPr>
        </p:nvSpPr>
        <p:spPr>
          <a:xfrm>
            <a:off x="0" y="0"/>
            <a:ext cx="9144000" cy="5143500"/>
          </a:xfrm>
          <a:prstGeom prst="rect">
            <a:avLst/>
          </a:prstGeom>
          <a:noFill/>
          <a:ln>
            <a:noFill/>
          </a:ln>
        </p:spPr>
      </p:sp>
      <p:sp>
        <p:nvSpPr>
          <p:cNvPr id="895" name="Google Shape;895;p10"/>
          <p:cNvSpPr txBox="1">
            <a:spLocks noGrp="1"/>
          </p:cNvSpPr>
          <p:nvPr>
            <p:ph type="title"/>
          </p:nvPr>
        </p:nvSpPr>
        <p:spPr>
          <a:xfrm>
            <a:off x="740550" y="3910025"/>
            <a:ext cx="7662900" cy="693900"/>
          </a:xfrm>
          <a:prstGeom prst="rect">
            <a:avLst/>
          </a:prstGeom>
          <a:solidFill>
            <a:schemeClr val="accent2"/>
          </a:solidFill>
          <a:ln>
            <a:noFill/>
          </a:ln>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6"/>
        <p:cNvGrpSpPr/>
        <p:nvPr/>
      </p:nvGrpSpPr>
      <p:grpSpPr>
        <a:xfrm>
          <a:off x="0" y="0"/>
          <a:ext cx="0" cy="0"/>
          <a:chOff x="0" y="0"/>
          <a:chExt cx="0" cy="0"/>
        </a:xfrm>
      </p:grpSpPr>
      <p:sp>
        <p:nvSpPr>
          <p:cNvPr id="897" name="Google Shape;897;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98" name="Google Shape;898;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9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900"/>
        <p:cNvGrpSpPr/>
        <p:nvPr/>
      </p:nvGrpSpPr>
      <p:grpSpPr>
        <a:xfrm>
          <a:off x="0" y="0"/>
          <a:ext cx="0" cy="0"/>
          <a:chOff x="0" y="0"/>
          <a:chExt cx="0" cy="0"/>
        </a:xfrm>
      </p:grpSpPr>
      <p:sp>
        <p:nvSpPr>
          <p:cNvPr id="901" name="Google Shape;901;p13"/>
          <p:cNvSpPr txBox="1">
            <a:spLocks noGrp="1"/>
          </p:cNvSpPr>
          <p:nvPr>
            <p:ph type="subTitle" idx="1"/>
          </p:nvPr>
        </p:nvSpPr>
        <p:spPr>
          <a:xfrm>
            <a:off x="1252225" y="2336850"/>
            <a:ext cx="2867700" cy="5259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2" name="Google Shape;902;p13"/>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03" name="Google Shape;903;p13"/>
          <p:cNvSpPr txBox="1">
            <a:spLocks noGrp="1"/>
          </p:cNvSpPr>
          <p:nvPr>
            <p:ph type="title" idx="2" hasCustomPrompt="1"/>
          </p:nvPr>
        </p:nvSpPr>
        <p:spPr>
          <a:xfrm>
            <a:off x="1282000" y="1967451"/>
            <a:ext cx="731400" cy="392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4" name="Google Shape;904;p13"/>
          <p:cNvSpPr txBox="1">
            <a:spLocks noGrp="1"/>
          </p:cNvSpPr>
          <p:nvPr>
            <p:ph type="subTitle" idx="3"/>
          </p:nvPr>
        </p:nvSpPr>
        <p:spPr>
          <a:xfrm>
            <a:off x="2036325" y="1960502"/>
            <a:ext cx="2083500" cy="3924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05" name="Google Shape;905;p13"/>
          <p:cNvSpPr txBox="1">
            <a:spLocks noGrp="1"/>
          </p:cNvSpPr>
          <p:nvPr>
            <p:ph type="subTitle" idx="4"/>
          </p:nvPr>
        </p:nvSpPr>
        <p:spPr>
          <a:xfrm>
            <a:off x="1252225" y="3826800"/>
            <a:ext cx="2867700" cy="5259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6" name="Google Shape;906;p13"/>
          <p:cNvSpPr txBox="1">
            <a:spLocks noGrp="1"/>
          </p:cNvSpPr>
          <p:nvPr>
            <p:ph type="title" idx="5" hasCustomPrompt="1"/>
          </p:nvPr>
        </p:nvSpPr>
        <p:spPr>
          <a:xfrm>
            <a:off x="1282000" y="3457401"/>
            <a:ext cx="731400" cy="392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7" name="Google Shape;907;p13"/>
          <p:cNvSpPr txBox="1">
            <a:spLocks noGrp="1"/>
          </p:cNvSpPr>
          <p:nvPr>
            <p:ph type="subTitle" idx="6"/>
          </p:nvPr>
        </p:nvSpPr>
        <p:spPr>
          <a:xfrm>
            <a:off x="2036325" y="3450452"/>
            <a:ext cx="2083500" cy="3924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08" name="Google Shape;908;p13"/>
          <p:cNvSpPr txBox="1">
            <a:spLocks noGrp="1"/>
          </p:cNvSpPr>
          <p:nvPr>
            <p:ph type="subTitle" idx="7"/>
          </p:nvPr>
        </p:nvSpPr>
        <p:spPr>
          <a:xfrm>
            <a:off x="5024125" y="2336850"/>
            <a:ext cx="2867700" cy="5259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9" name="Google Shape;909;p13"/>
          <p:cNvSpPr txBox="1">
            <a:spLocks noGrp="1"/>
          </p:cNvSpPr>
          <p:nvPr>
            <p:ph type="title" idx="8" hasCustomPrompt="1"/>
          </p:nvPr>
        </p:nvSpPr>
        <p:spPr>
          <a:xfrm>
            <a:off x="5053900" y="1967451"/>
            <a:ext cx="731400" cy="392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0" name="Google Shape;910;p13"/>
          <p:cNvSpPr txBox="1">
            <a:spLocks noGrp="1"/>
          </p:cNvSpPr>
          <p:nvPr>
            <p:ph type="subTitle" idx="9"/>
          </p:nvPr>
        </p:nvSpPr>
        <p:spPr>
          <a:xfrm>
            <a:off x="5808225" y="1960502"/>
            <a:ext cx="2083500" cy="3924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11" name="Google Shape;911;p13"/>
          <p:cNvSpPr txBox="1">
            <a:spLocks noGrp="1"/>
          </p:cNvSpPr>
          <p:nvPr>
            <p:ph type="subTitle" idx="13"/>
          </p:nvPr>
        </p:nvSpPr>
        <p:spPr>
          <a:xfrm>
            <a:off x="5024125" y="3826800"/>
            <a:ext cx="2867700" cy="5259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2" name="Google Shape;912;p13"/>
          <p:cNvSpPr txBox="1">
            <a:spLocks noGrp="1"/>
          </p:cNvSpPr>
          <p:nvPr>
            <p:ph type="title" idx="14" hasCustomPrompt="1"/>
          </p:nvPr>
        </p:nvSpPr>
        <p:spPr>
          <a:xfrm>
            <a:off x="5053900" y="3457401"/>
            <a:ext cx="731400" cy="392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3" name="Google Shape;913;p13"/>
          <p:cNvSpPr txBox="1">
            <a:spLocks noGrp="1"/>
          </p:cNvSpPr>
          <p:nvPr>
            <p:ph type="subTitle" idx="15"/>
          </p:nvPr>
        </p:nvSpPr>
        <p:spPr>
          <a:xfrm>
            <a:off x="5808225" y="3450452"/>
            <a:ext cx="2083500" cy="392400"/>
          </a:xfrm>
          <a:prstGeom prst="rect">
            <a:avLst/>
          </a:prstGeom>
        </p:spPr>
        <p:txBody>
          <a:bodyPr spcFirstLastPara="1" wrap="square" lIns="91425" tIns="91425" rIns="91425" bIns="91425" anchor="t" anchorCtr="0">
            <a:noAutofit/>
          </a:bodyPr>
          <a:lstStyle>
            <a:lvl1pPr lvl="0" rtl="0">
              <a:lnSpc>
                <a:spcPct val="90000"/>
              </a:lnSpc>
              <a:spcBef>
                <a:spcPts val="75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14" name="Google Shape;914;p13"/>
          <p:cNvSpPr/>
          <p:nvPr/>
        </p:nvSpPr>
        <p:spPr>
          <a:xfrm rot="10800000">
            <a:off x="-605110" y="4164122"/>
            <a:ext cx="2187200" cy="2575531"/>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4C6A7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5" name="Google Shape;915;p13"/>
          <p:cNvGrpSpPr/>
          <p:nvPr/>
        </p:nvGrpSpPr>
        <p:grpSpPr>
          <a:xfrm>
            <a:off x="7891595" y="-388147"/>
            <a:ext cx="1658229" cy="1282495"/>
            <a:chOff x="5136226" y="2246221"/>
            <a:chExt cx="1254144" cy="969970"/>
          </a:xfrm>
        </p:grpSpPr>
        <p:sp>
          <p:nvSpPr>
            <p:cNvPr id="916" name="Google Shape;916;p13"/>
            <p:cNvSpPr/>
            <p:nvPr/>
          </p:nvSpPr>
          <p:spPr>
            <a:xfrm>
              <a:off x="5448964" y="2246221"/>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13"/>
            <p:cNvSpPr/>
            <p:nvPr/>
          </p:nvSpPr>
          <p:spPr>
            <a:xfrm>
              <a:off x="5136226" y="2558958"/>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13"/>
            <p:cNvSpPr/>
            <p:nvPr/>
          </p:nvSpPr>
          <p:spPr>
            <a:xfrm>
              <a:off x="5521989" y="2570071"/>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13"/>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20" name="Google Shape;920;p13"/>
          <p:cNvGrpSpPr/>
          <p:nvPr/>
        </p:nvGrpSpPr>
        <p:grpSpPr>
          <a:xfrm>
            <a:off x="-883944" y="2944655"/>
            <a:ext cx="1507871" cy="1510263"/>
            <a:chOff x="39184" y="-151930"/>
            <a:chExt cx="1309825" cy="1311903"/>
          </a:xfrm>
        </p:grpSpPr>
        <p:sp>
          <p:nvSpPr>
            <p:cNvPr id="921" name="Google Shape;921;p13"/>
            <p:cNvSpPr/>
            <p:nvPr/>
          </p:nvSpPr>
          <p:spPr>
            <a:xfrm>
              <a:off x="1304909" y="544953"/>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13"/>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13"/>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13"/>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13"/>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13"/>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13"/>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13"/>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13"/>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13"/>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13"/>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13"/>
            <p:cNvSpPr/>
            <p:nvPr/>
          </p:nvSpPr>
          <p:spPr>
            <a:xfrm>
              <a:off x="1105499" y="628915"/>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13"/>
            <p:cNvSpPr/>
            <p:nvPr/>
          </p:nvSpPr>
          <p:spPr>
            <a:xfrm>
              <a:off x="1034132" y="700282"/>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13"/>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13"/>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13"/>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13"/>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13"/>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13"/>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13"/>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13"/>
            <p:cNvSpPr/>
            <p:nvPr/>
          </p:nvSpPr>
          <p:spPr>
            <a:xfrm>
              <a:off x="1046726" y="572240"/>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13"/>
            <p:cNvSpPr/>
            <p:nvPr/>
          </p:nvSpPr>
          <p:spPr>
            <a:xfrm>
              <a:off x="975359" y="643608"/>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13"/>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13"/>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13"/>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13"/>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13"/>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13"/>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13"/>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13"/>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13"/>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13"/>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13"/>
            <p:cNvSpPr/>
            <p:nvPr/>
          </p:nvSpPr>
          <p:spPr>
            <a:xfrm>
              <a:off x="775949" y="727570"/>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13"/>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13"/>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13"/>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13"/>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13"/>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13"/>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13"/>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13"/>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13"/>
            <p:cNvSpPr/>
            <p:nvPr/>
          </p:nvSpPr>
          <p:spPr>
            <a:xfrm>
              <a:off x="717176" y="668797"/>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13"/>
            <p:cNvSpPr/>
            <p:nvPr/>
          </p:nvSpPr>
          <p:spPr>
            <a:xfrm>
              <a:off x="647907" y="740164"/>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13"/>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13"/>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13"/>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13"/>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13"/>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13"/>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13"/>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13"/>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13"/>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13"/>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13"/>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13"/>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13"/>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13"/>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13"/>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13"/>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13"/>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13"/>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13"/>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13"/>
            <p:cNvSpPr/>
            <p:nvPr/>
          </p:nvSpPr>
          <p:spPr>
            <a:xfrm>
              <a:off x="389725" y="765353"/>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13"/>
            <p:cNvSpPr/>
            <p:nvPr/>
          </p:nvSpPr>
          <p:spPr>
            <a:xfrm>
              <a:off x="899793" y="139837"/>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13"/>
            <p:cNvSpPr/>
            <p:nvPr/>
          </p:nvSpPr>
          <p:spPr>
            <a:xfrm>
              <a:off x="828425" y="211205"/>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13"/>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13"/>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13"/>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13"/>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13"/>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13"/>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13"/>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13"/>
            <p:cNvSpPr/>
            <p:nvPr/>
          </p:nvSpPr>
          <p:spPr>
            <a:xfrm>
              <a:off x="841020" y="81064"/>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13"/>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13"/>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13"/>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13"/>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13"/>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13"/>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13"/>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13"/>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13"/>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3" name="Google Shape;1003;p13"/>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4" name="Google Shape;1004;p13"/>
            <p:cNvSpPr/>
            <p:nvPr/>
          </p:nvSpPr>
          <p:spPr>
            <a:xfrm>
              <a:off x="641610" y="167125"/>
              <a:ext cx="44100" cy="420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5" name="Google Shape;1005;p13"/>
            <p:cNvSpPr/>
            <p:nvPr/>
          </p:nvSpPr>
          <p:spPr>
            <a:xfrm>
              <a:off x="570243" y="236393"/>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6" name="Google Shape;1006;p13"/>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p13"/>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13"/>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9" name="Google Shape;1009;p13"/>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p13"/>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13"/>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2" name="Google Shape;1012;p13"/>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3" name="Google Shape;1013;p13"/>
            <p:cNvSpPr/>
            <p:nvPr/>
          </p:nvSpPr>
          <p:spPr>
            <a:xfrm>
              <a:off x="582837" y="108352"/>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13"/>
            <p:cNvSpPr/>
            <p:nvPr/>
          </p:nvSpPr>
          <p:spPr>
            <a:xfrm>
              <a:off x="511469" y="179719"/>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5" name="Google Shape;1015;p13"/>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13"/>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13"/>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13"/>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p13"/>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13"/>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13"/>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13"/>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13"/>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p13"/>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p13"/>
            <p:cNvSpPr/>
            <p:nvPr/>
          </p:nvSpPr>
          <p:spPr>
            <a:xfrm>
              <a:off x="312060" y="263681"/>
              <a:ext cx="441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p13"/>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p13"/>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8" name="Google Shape;1028;p13"/>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13"/>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13"/>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13"/>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13"/>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13"/>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13"/>
            <p:cNvSpPr/>
            <p:nvPr/>
          </p:nvSpPr>
          <p:spPr>
            <a:xfrm>
              <a:off x="255386" y="204908"/>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13"/>
            <p:cNvSpPr/>
            <p:nvPr/>
          </p:nvSpPr>
          <p:spPr>
            <a:xfrm>
              <a:off x="184018" y="276275"/>
              <a:ext cx="42000" cy="44100"/>
            </a:xfrm>
            <a:prstGeom prst="ellipse">
              <a:avLst/>
            </a:pr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13"/>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13"/>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160"/>
        <p:cNvGrpSpPr/>
        <p:nvPr/>
      </p:nvGrpSpPr>
      <p:grpSpPr>
        <a:xfrm>
          <a:off x="0" y="0"/>
          <a:ext cx="0" cy="0"/>
          <a:chOff x="0" y="0"/>
          <a:chExt cx="0" cy="0"/>
        </a:xfrm>
      </p:grpSpPr>
      <p:sp>
        <p:nvSpPr>
          <p:cNvPr id="1161" name="Google Shape;1161;p15"/>
          <p:cNvSpPr txBox="1">
            <a:spLocks noGrp="1"/>
          </p:cNvSpPr>
          <p:nvPr>
            <p:ph type="subTitle" idx="1"/>
          </p:nvPr>
        </p:nvSpPr>
        <p:spPr>
          <a:xfrm>
            <a:off x="817925" y="3098801"/>
            <a:ext cx="2279100" cy="75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2" name="Google Shape;1162;p15"/>
          <p:cNvSpPr txBox="1">
            <a:spLocks noGrp="1"/>
          </p:cNvSpPr>
          <p:nvPr>
            <p:ph type="subTitle" idx="2"/>
          </p:nvPr>
        </p:nvSpPr>
        <p:spPr>
          <a:xfrm>
            <a:off x="3432450" y="3079926"/>
            <a:ext cx="2279100" cy="77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3" name="Google Shape;1163;p15"/>
          <p:cNvSpPr txBox="1">
            <a:spLocks noGrp="1"/>
          </p:cNvSpPr>
          <p:nvPr>
            <p:ph type="subTitle" idx="3"/>
          </p:nvPr>
        </p:nvSpPr>
        <p:spPr>
          <a:xfrm>
            <a:off x="6067800" y="3080850"/>
            <a:ext cx="22791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4" name="Google Shape;1164;p1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1165" name="Google Shape;1165;p15"/>
          <p:cNvSpPr txBox="1">
            <a:spLocks noGrp="1"/>
          </p:cNvSpPr>
          <p:nvPr>
            <p:ph type="subTitle" idx="4"/>
          </p:nvPr>
        </p:nvSpPr>
        <p:spPr>
          <a:xfrm>
            <a:off x="817925" y="2709450"/>
            <a:ext cx="2279100" cy="392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66" name="Google Shape;1166;p15"/>
          <p:cNvSpPr txBox="1">
            <a:spLocks noGrp="1"/>
          </p:cNvSpPr>
          <p:nvPr>
            <p:ph type="subTitle" idx="5"/>
          </p:nvPr>
        </p:nvSpPr>
        <p:spPr>
          <a:xfrm>
            <a:off x="6067800" y="2709450"/>
            <a:ext cx="22791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67" name="Google Shape;1167;p15"/>
          <p:cNvSpPr txBox="1">
            <a:spLocks noGrp="1"/>
          </p:cNvSpPr>
          <p:nvPr>
            <p:ph type="subTitle" idx="6"/>
          </p:nvPr>
        </p:nvSpPr>
        <p:spPr>
          <a:xfrm>
            <a:off x="3432450" y="2709450"/>
            <a:ext cx="22791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68" name="Google Shape;1168;p15"/>
          <p:cNvSpPr/>
          <p:nvPr/>
        </p:nvSpPr>
        <p:spPr>
          <a:xfrm rot="10800000">
            <a:off x="-4699" y="3"/>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9" name="Google Shape;1169;p15"/>
          <p:cNvGrpSpPr/>
          <p:nvPr/>
        </p:nvGrpSpPr>
        <p:grpSpPr>
          <a:xfrm>
            <a:off x="8273608" y="4200586"/>
            <a:ext cx="1507871" cy="1510263"/>
            <a:chOff x="39184" y="-151930"/>
            <a:chExt cx="1309825" cy="1311903"/>
          </a:xfrm>
        </p:grpSpPr>
        <p:sp>
          <p:nvSpPr>
            <p:cNvPr id="1170" name="Google Shape;1170;p15"/>
            <p:cNvSpPr/>
            <p:nvPr/>
          </p:nvSpPr>
          <p:spPr>
            <a:xfrm>
              <a:off x="1304909" y="544953"/>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15"/>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15"/>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15"/>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15"/>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p15"/>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p15"/>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15"/>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15"/>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15"/>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15"/>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p15"/>
            <p:cNvSpPr/>
            <p:nvPr/>
          </p:nvSpPr>
          <p:spPr>
            <a:xfrm>
              <a:off x="1105499" y="628915"/>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15"/>
            <p:cNvSpPr/>
            <p:nvPr/>
          </p:nvSpPr>
          <p:spPr>
            <a:xfrm>
              <a:off x="1034132" y="700282"/>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15"/>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15"/>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15"/>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15"/>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15"/>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15"/>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15"/>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15"/>
            <p:cNvSpPr/>
            <p:nvPr/>
          </p:nvSpPr>
          <p:spPr>
            <a:xfrm>
              <a:off x="1046726" y="572240"/>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p15"/>
            <p:cNvSpPr/>
            <p:nvPr/>
          </p:nvSpPr>
          <p:spPr>
            <a:xfrm>
              <a:off x="975359" y="643608"/>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2" name="Google Shape;1192;p15"/>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15"/>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4" name="Google Shape;1194;p15"/>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15"/>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15"/>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15"/>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p15"/>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15"/>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15"/>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p15"/>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p15"/>
            <p:cNvSpPr/>
            <p:nvPr/>
          </p:nvSpPr>
          <p:spPr>
            <a:xfrm>
              <a:off x="775949" y="727570"/>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15"/>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15"/>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15"/>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15"/>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15"/>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15"/>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15"/>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15"/>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15"/>
            <p:cNvSpPr/>
            <p:nvPr/>
          </p:nvSpPr>
          <p:spPr>
            <a:xfrm>
              <a:off x="717176" y="668797"/>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15"/>
            <p:cNvSpPr/>
            <p:nvPr/>
          </p:nvSpPr>
          <p:spPr>
            <a:xfrm>
              <a:off x="647907" y="740164"/>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15"/>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15"/>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15"/>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15"/>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p15"/>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8" name="Google Shape;1218;p15"/>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15"/>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15"/>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p15"/>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15"/>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p15"/>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15"/>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p15"/>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15"/>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15"/>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15"/>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p15"/>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15"/>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p15"/>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p15"/>
            <p:cNvSpPr/>
            <p:nvPr/>
          </p:nvSpPr>
          <p:spPr>
            <a:xfrm>
              <a:off x="389725" y="765353"/>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p15"/>
            <p:cNvSpPr/>
            <p:nvPr/>
          </p:nvSpPr>
          <p:spPr>
            <a:xfrm>
              <a:off x="899793" y="139837"/>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p15"/>
            <p:cNvSpPr/>
            <p:nvPr/>
          </p:nvSpPr>
          <p:spPr>
            <a:xfrm>
              <a:off x="828425" y="211205"/>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p15"/>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15"/>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15"/>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15"/>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15"/>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15"/>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15"/>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15"/>
            <p:cNvSpPr/>
            <p:nvPr/>
          </p:nvSpPr>
          <p:spPr>
            <a:xfrm>
              <a:off x="841020" y="81064"/>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15"/>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15"/>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p15"/>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15"/>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p15"/>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p15"/>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15"/>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15"/>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15"/>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15"/>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15"/>
            <p:cNvSpPr/>
            <p:nvPr/>
          </p:nvSpPr>
          <p:spPr>
            <a:xfrm>
              <a:off x="641610" y="167125"/>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15"/>
            <p:cNvSpPr/>
            <p:nvPr/>
          </p:nvSpPr>
          <p:spPr>
            <a:xfrm>
              <a:off x="570243" y="236393"/>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p15"/>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p15"/>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15"/>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p15"/>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15"/>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15"/>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p15"/>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p15"/>
            <p:cNvSpPr/>
            <p:nvPr/>
          </p:nvSpPr>
          <p:spPr>
            <a:xfrm>
              <a:off x="582837" y="108352"/>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15"/>
            <p:cNvSpPr/>
            <p:nvPr/>
          </p:nvSpPr>
          <p:spPr>
            <a:xfrm>
              <a:off x="511469" y="179719"/>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4" name="Google Shape;1264;p15"/>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p15"/>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p15"/>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7" name="Google Shape;1267;p15"/>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15"/>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15"/>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15"/>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15"/>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p15"/>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p15"/>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4" name="Google Shape;1274;p15"/>
            <p:cNvSpPr/>
            <p:nvPr/>
          </p:nvSpPr>
          <p:spPr>
            <a:xfrm>
              <a:off x="312060" y="263681"/>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15"/>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15"/>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p15"/>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8" name="Google Shape;1278;p15"/>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9" name="Google Shape;1279;p15"/>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p15"/>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p15"/>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p15"/>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15"/>
            <p:cNvSpPr/>
            <p:nvPr/>
          </p:nvSpPr>
          <p:spPr>
            <a:xfrm>
              <a:off x="255386" y="204908"/>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p15"/>
            <p:cNvSpPr/>
            <p:nvPr/>
          </p:nvSpPr>
          <p:spPr>
            <a:xfrm>
              <a:off x="184018" y="276275"/>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15"/>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15"/>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7" name="Google Shape;1287;p15"/>
          <p:cNvGrpSpPr/>
          <p:nvPr/>
        </p:nvGrpSpPr>
        <p:grpSpPr>
          <a:xfrm flipH="1">
            <a:off x="8324346" y="-624146"/>
            <a:ext cx="1507871" cy="1510263"/>
            <a:chOff x="39184" y="-151930"/>
            <a:chExt cx="1309825" cy="1311903"/>
          </a:xfrm>
        </p:grpSpPr>
        <p:sp>
          <p:nvSpPr>
            <p:cNvPr id="1288" name="Google Shape;1288;p15"/>
            <p:cNvSpPr/>
            <p:nvPr/>
          </p:nvSpPr>
          <p:spPr>
            <a:xfrm>
              <a:off x="1304909" y="544953"/>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15"/>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p15"/>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15"/>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p15"/>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p15"/>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15"/>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p15"/>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15"/>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7" name="Google Shape;1297;p15"/>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15"/>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p15"/>
            <p:cNvSpPr/>
            <p:nvPr/>
          </p:nvSpPr>
          <p:spPr>
            <a:xfrm>
              <a:off x="1105499" y="628915"/>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15"/>
            <p:cNvSpPr/>
            <p:nvPr/>
          </p:nvSpPr>
          <p:spPr>
            <a:xfrm>
              <a:off x="1034132" y="700282"/>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15"/>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15"/>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15"/>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15"/>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15"/>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15"/>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p15"/>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15"/>
            <p:cNvSpPr/>
            <p:nvPr/>
          </p:nvSpPr>
          <p:spPr>
            <a:xfrm>
              <a:off x="1046726" y="572240"/>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9" name="Google Shape;1309;p15"/>
            <p:cNvSpPr/>
            <p:nvPr/>
          </p:nvSpPr>
          <p:spPr>
            <a:xfrm>
              <a:off x="975359" y="643608"/>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p15"/>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15"/>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15"/>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15"/>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15"/>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15"/>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15"/>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15"/>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15"/>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p15"/>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15"/>
            <p:cNvSpPr/>
            <p:nvPr/>
          </p:nvSpPr>
          <p:spPr>
            <a:xfrm>
              <a:off x="775949" y="727570"/>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15"/>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15"/>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p15"/>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p15"/>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p15"/>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15"/>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15"/>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15"/>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p15"/>
            <p:cNvSpPr/>
            <p:nvPr/>
          </p:nvSpPr>
          <p:spPr>
            <a:xfrm>
              <a:off x="717176" y="668797"/>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p15"/>
            <p:cNvSpPr/>
            <p:nvPr/>
          </p:nvSpPr>
          <p:spPr>
            <a:xfrm>
              <a:off x="647907" y="740164"/>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15"/>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p15"/>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15"/>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p15"/>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15"/>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15"/>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15"/>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15"/>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p15"/>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p15"/>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15"/>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15"/>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15"/>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15"/>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15"/>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6" name="Google Shape;1346;p15"/>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15"/>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15"/>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p15"/>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0" name="Google Shape;1350;p15"/>
            <p:cNvSpPr/>
            <p:nvPr/>
          </p:nvSpPr>
          <p:spPr>
            <a:xfrm>
              <a:off x="389725" y="765353"/>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1" name="Google Shape;1351;p15"/>
            <p:cNvSpPr/>
            <p:nvPr/>
          </p:nvSpPr>
          <p:spPr>
            <a:xfrm>
              <a:off x="899793" y="139837"/>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15"/>
            <p:cNvSpPr/>
            <p:nvPr/>
          </p:nvSpPr>
          <p:spPr>
            <a:xfrm>
              <a:off x="828425" y="211205"/>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15"/>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15"/>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15"/>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p15"/>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15"/>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15"/>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9" name="Google Shape;1359;p15"/>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15"/>
            <p:cNvSpPr/>
            <p:nvPr/>
          </p:nvSpPr>
          <p:spPr>
            <a:xfrm>
              <a:off x="841020" y="81064"/>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15"/>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15"/>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3" name="Google Shape;1363;p15"/>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15"/>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15"/>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15"/>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15"/>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8" name="Google Shape;1368;p15"/>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9" name="Google Shape;1369;p15"/>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0" name="Google Shape;1370;p15"/>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p15"/>
            <p:cNvSpPr/>
            <p:nvPr/>
          </p:nvSpPr>
          <p:spPr>
            <a:xfrm>
              <a:off x="641610" y="167125"/>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15"/>
            <p:cNvSpPr/>
            <p:nvPr/>
          </p:nvSpPr>
          <p:spPr>
            <a:xfrm>
              <a:off x="570243" y="236393"/>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p15"/>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15"/>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15"/>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p15"/>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15"/>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15"/>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15"/>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15"/>
            <p:cNvSpPr/>
            <p:nvPr/>
          </p:nvSpPr>
          <p:spPr>
            <a:xfrm>
              <a:off x="582837" y="108352"/>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1" name="Google Shape;1381;p15"/>
            <p:cNvSpPr/>
            <p:nvPr/>
          </p:nvSpPr>
          <p:spPr>
            <a:xfrm>
              <a:off x="511469" y="179719"/>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2" name="Google Shape;1382;p15"/>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3" name="Google Shape;1383;p15"/>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4" name="Google Shape;1384;p15"/>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15"/>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15"/>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7" name="Google Shape;1387;p15"/>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8" name="Google Shape;1388;p15"/>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p15"/>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p15"/>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p15"/>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15"/>
            <p:cNvSpPr/>
            <p:nvPr/>
          </p:nvSpPr>
          <p:spPr>
            <a:xfrm>
              <a:off x="312060" y="263681"/>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p15"/>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4" name="Google Shape;1394;p15"/>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5" name="Google Shape;1395;p15"/>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p15"/>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15"/>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15"/>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p15"/>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0" name="Google Shape;1400;p15"/>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1" name="Google Shape;1401;p15"/>
            <p:cNvSpPr/>
            <p:nvPr/>
          </p:nvSpPr>
          <p:spPr>
            <a:xfrm>
              <a:off x="255386" y="204908"/>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2" name="Google Shape;1402;p15"/>
            <p:cNvSpPr/>
            <p:nvPr/>
          </p:nvSpPr>
          <p:spPr>
            <a:xfrm>
              <a:off x="184018" y="276275"/>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15"/>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15"/>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SECTION_TITLE_AND_DESCRIPTION_1">
    <p:spTree>
      <p:nvGrpSpPr>
        <p:cNvPr id="1" name="Shape 1405"/>
        <p:cNvGrpSpPr/>
        <p:nvPr/>
      </p:nvGrpSpPr>
      <p:grpSpPr>
        <a:xfrm>
          <a:off x="0" y="0"/>
          <a:ext cx="0" cy="0"/>
          <a:chOff x="0" y="0"/>
          <a:chExt cx="0" cy="0"/>
        </a:xfrm>
      </p:grpSpPr>
      <p:sp>
        <p:nvSpPr>
          <p:cNvPr id="1406" name="Google Shape;1406;p16"/>
          <p:cNvSpPr txBox="1">
            <a:spLocks noGrp="1"/>
          </p:cNvSpPr>
          <p:nvPr>
            <p:ph type="subTitle" idx="1"/>
          </p:nvPr>
        </p:nvSpPr>
        <p:spPr>
          <a:xfrm>
            <a:off x="720100" y="2402075"/>
            <a:ext cx="6145800" cy="1546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2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a:endParaRPr/>
          </a:p>
        </p:txBody>
      </p:sp>
      <p:sp>
        <p:nvSpPr>
          <p:cNvPr id="1407" name="Google Shape;1407;p16"/>
          <p:cNvSpPr txBox="1">
            <a:spLocks noGrp="1"/>
          </p:cNvSpPr>
          <p:nvPr>
            <p:ph type="title"/>
          </p:nvPr>
        </p:nvSpPr>
        <p:spPr>
          <a:xfrm>
            <a:off x="720000" y="1051775"/>
            <a:ext cx="6145800" cy="1121700"/>
          </a:xfrm>
          <a:prstGeom prst="rect">
            <a:avLst/>
          </a:prstGeom>
          <a:ln>
            <a:noFill/>
          </a:ln>
        </p:spPr>
        <p:txBody>
          <a:bodyPr spcFirstLastPara="1" wrap="square" lIns="91425" tIns="91425" rIns="91425" bIns="91425" anchor="b" anchorCtr="0">
            <a:noAutofit/>
          </a:bodyPr>
          <a:lstStyle>
            <a:lvl1pPr lvl="0">
              <a:lnSpc>
                <a:spcPct val="90000"/>
              </a:lnSpc>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a:endParaRPr/>
          </a:p>
        </p:txBody>
      </p:sp>
      <p:grpSp>
        <p:nvGrpSpPr>
          <p:cNvPr id="1408" name="Google Shape;1408;p16"/>
          <p:cNvGrpSpPr/>
          <p:nvPr/>
        </p:nvGrpSpPr>
        <p:grpSpPr>
          <a:xfrm>
            <a:off x="-684423" y="-1789571"/>
            <a:ext cx="10430491" cy="7512343"/>
            <a:chOff x="-684423" y="-1789571"/>
            <a:chExt cx="10430491" cy="7512343"/>
          </a:xfrm>
        </p:grpSpPr>
        <p:grpSp>
          <p:nvGrpSpPr>
            <p:cNvPr id="1409" name="Google Shape;1409;p16"/>
            <p:cNvGrpSpPr/>
            <p:nvPr/>
          </p:nvGrpSpPr>
          <p:grpSpPr>
            <a:xfrm>
              <a:off x="7144492" y="3147242"/>
              <a:ext cx="2300520" cy="2575530"/>
              <a:chOff x="3238240" y="323850"/>
              <a:chExt cx="1739919" cy="1947912"/>
            </a:xfrm>
          </p:grpSpPr>
          <p:sp>
            <p:nvSpPr>
              <p:cNvPr id="1410" name="Google Shape;1410;p16"/>
              <p:cNvSpPr/>
              <p:nvPr/>
            </p:nvSpPr>
            <p:spPr>
              <a:xfrm>
                <a:off x="3238240" y="323850"/>
                <a:ext cx="1654154" cy="1947912"/>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1" name="Google Shape;1411;p16"/>
              <p:cNvSpPr/>
              <p:nvPr/>
            </p:nvSpPr>
            <p:spPr>
              <a:xfrm>
                <a:off x="4036753" y="947738"/>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2" name="Google Shape;1412;p16"/>
              <p:cNvSpPr/>
              <p:nvPr/>
            </p:nvSpPr>
            <p:spPr>
              <a:xfrm>
                <a:off x="3724015" y="1260475"/>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3" name="Google Shape;1413;p16"/>
              <p:cNvSpPr/>
              <p:nvPr/>
            </p:nvSpPr>
            <p:spPr>
              <a:xfrm>
                <a:off x="4109778" y="1271588"/>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4" name="Google Shape;1414;p16"/>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5" name="Google Shape;1415;p16"/>
            <p:cNvSpPr/>
            <p:nvPr/>
          </p:nvSpPr>
          <p:spPr>
            <a:xfrm>
              <a:off x="-684423" y="-1789571"/>
              <a:ext cx="2187200" cy="2575531"/>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16" name="Google Shape;1416;p16"/>
            <p:cNvGrpSpPr/>
            <p:nvPr/>
          </p:nvGrpSpPr>
          <p:grpSpPr>
            <a:xfrm flipH="1">
              <a:off x="8238198" y="-570847"/>
              <a:ext cx="1507871" cy="1510263"/>
              <a:chOff x="39184" y="-151930"/>
              <a:chExt cx="1309825" cy="1311903"/>
            </a:xfrm>
          </p:grpSpPr>
          <p:sp>
            <p:nvSpPr>
              <p:cNvPr id="1417" name="Google Shape;1417;p16"/>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p16"/>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p16"/>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0" name="Google Shape;1420;p16"/>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1" name="Google Shape;1421;p16"/>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2" name="Google Shape;1422;p16"/>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3" name="Google Shape;1423;p16"/>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p16"/>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p16"/>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6" name="Google Shape;1426;p16"/>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7" name="Google Shape;1427;p16"/>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8" name="Google Shape;1428;p16"/>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9" name="Google Shape;1429;p16"/>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p16"/>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1" name="Google Shape;1431;p16"/>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2" name="Google Shape;1432;p16"/>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p16"/>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p16"/>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5" name="Google Shape;1435;p16"/>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6" name="Google Shape;1436;p16"/>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7" name="Google Shape;1437;p16"/>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8" name="Google Shape;1438;p16"/>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p16"/>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0" name="Google Shape;1440;p16"/>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1" name="Google Shape;1441;p16"/>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2" name="Google Shape;1442;p16"/>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p16"/>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p16"/>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p16"/>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p16"/>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7" name="Google Shape;1447;p16"/>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8" name="Google Shape;1448;p16"/>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p16"/>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p16"/>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1" name="Google Shape;1451;p16"/>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2" name="Google Shape;1452;p16"/>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3" name="Google Shape;1453;p16"/>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p16"/>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5" name="Google Shape;1455;p16"/>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6" name="Google Shape;1456;p16"/>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p16"/>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p16"/>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p16"/>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0" name="Google Shape;1460;p16"/>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p16"/>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p16"/>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p16"/>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p16"/>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p16"/>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6" name="Google Shape;1466;p16"/>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7" name="Google Shape;1467;p16"/>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8" name="Google Shape;1468;p16"/>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p16"/>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0" name="Google Shape;1470;p16"/>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1" name="Google Shape;1471;p16"/>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2" name="Google Shape;1472;p16"/>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3" name="Google Shape;1473;p16"/>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4" name="Google Shape;1474;p16"/>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p16"/>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6" name="Google Shape;1476;p16"/>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7" name="Google Shape;1477;p16"/>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8" name="Google Shape;1478;p16"/>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p16"/>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0" name="Google Shape;1480;p16"/>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1" name="Google Shape;1481;p16"/>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p16"/>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p16"/>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4" name="Google Shape;1484;p16"/>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5" name="Google Shape;1485;p16"/>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6" name="Google Shape;1486;p16"/>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7" name="Google Shape;1487;p16"/>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8" name="Google Shape;1488;p16"/>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9" name="Google Shape;1489;p16"/>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0" name="Google Shape;1490;p16"/>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1" name="Google Shape;1491;p16"/>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2" name="Google Shape;1492;p16"/>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3" name="Google Shape;1493;p16"/>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4" name="Google Shape;1494;p16"/>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p16"/>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p16"/>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7" name="Google Shape;1497;p16"/>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8" name="Google Shape;1498;p16"/>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9" name="Google Shape;1499;p16"/>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16"/>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1" name="Google Shape;1501;p16"/>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2" name="Google Shape;1502;p16"/>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3" name="Google Shape;1503;p16"/>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4" name="Google Shape;1504;p16"/>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5" name="Google Shape;1505;p16"/>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6" name="Google Shape;1506;p16"/>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16"/>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8" name="Google Shape;1508;p16"/>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9" name="Google Shape;1509;p16"/>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0" name="Google Shape;1510;p16"/>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1" name="Google Shape;1511;p16"/>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2" name="Google Shape;1512;p16"/>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3" name="Google Shape;1513;p16"/>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4" name="Google Shape;1514;p16"/>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5" name="Google Shape;1515;p16"/>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6" name="Google Shape;1516;p16"/>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7" name="Google Shape;1517;p16"/>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8" name="Google Shape;1518;p16"/>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16"/>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0" name="Google Shape;1520;p16"/>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1" name="Google Shape;1521;p16"/>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2" name="Google Shape;1522;p16"/>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3" name="Google Shape;1523;p16"/>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4" name="Google Shape;1524;p16"/>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5" name="Google Shape;1525;p16"/>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6" name="Google Shape;1526;p16"/>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7" name="Google Shape;1527;p16"/>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16"/>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9" name="Google Shape;1529;p16"/>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0" name="Google Shape;1530;p16"/>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1" name="Google Shape;1531;p16"/>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2" name="Google Shape;1532;p16"/>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3" name="Google Shape;1533;p16"/>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1534"/>
        <p:cNvGrpSpPr/>
        <p:nvPr/>
      </p:nvGrpSpPr>
      <p:grpSpPr>
        <a:xfrm>
          <a:off x="0" y="0"/>
          <a:ext cx="0" cy="0"/>
          <a:chOff x="0" y="0"/>
          <a:chExt cx="0" cy="0"/>
        </a:xfrm>
      </p:grpSpPr>
      <p:sp>
        <p:nvSpPr>
          <p:cNvPr id="1535" name="Google Shape;1535;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a:endParaRPr/>
          </a:p>
        </p:txBody>
      </p:sp>
      <p:sp>
        <p:nvSpPr>
          <p:cNvPr id="1536" name="Google Shape;1536;p17"/>
          <p:cNvSpPr txBox="1">
            <a:spLocks noGrp="1"/>
          </p:cNvSpPr>
          <p:nvPr>
            <p:ph type="body" idx="1"/>
          </p:nvPr>
        </p:nvSpPr>
        <p:spPr>
          <a:xfrm>
            <a:off x="574125" y="1374625"/>
            <a:ext cx="3987300" cy="31161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200"/>
            </a:lvl1pPr>
            <a:lvl2pPr marL="914400" lvl="1" indent="-304800">
              <a:lnSpc>
                <a:spcPct val="115000"/>
              </a:lnSpc>
              <a:spcBef>
                <a:spcPts val="0"/>
              </a:spcBef>
              <a:spcAft>
                <a:spcPts val="0"/>
              </a:spcAft>
              <a:buSzPts val="1200"/>
              <a:buChar char="○"/>
              <a:defRPr/>
            </a:lvl2pPr>
            <a:lvl3pPr marL="1371600" lvl="2" indent="-304800">
              <a:lnSpc>
                <a:spcPct val="115000"/>
              </a:lnSpc>
              <a:spcBef>
                <a:spcPts val="0"/>
              </a:spcBef>
              <a:spcAft>
                <a:spcPts val="0"/>
              </a:spcAft>
              <a:buSzPts val="1200"/>
              <a:buChar char="■"/>
              <a:defRPr/>
            </a:lvl3pPr>
            <a:lvl4pPr marL="1828800" lvl="3" indent="-304800">
              <a:lnSpc>
                <a:spcPct val="115000"/>
              </a:lnSpc>
              <a:spcBef>
                <a:spcPts val="0"/>
              </a:spcBef>
              <a:spcAft>
                <a:spcPts val="0"/>
              </a:spcAft>
              <a:buSzPts val="1200"/>
              <a:buChar char="●"/>
              <a:defRPr/>
            </a:lvl4pPr>
            <a:lvl5pPr marL="2286000" lvl="4" indent="-304800">
              <a:lnSpc>
                <a:spcPct val="115000"/>
              </a:lnSpc>
              <a:spcBef>
                <a:spcPts val="0"/>
              </a:spcBef>
              <a:spcAft>
                <a:spcPts val="0"/>
              </a:spcAft>
              <a:buSzPts val="1200"/>
              <a:buChar char="○"/>
              <a:defRPr/>
            </a:lvl5pPr>
            <a:lvl6pPr marL="2743200" lvl="5" indent="-304800">
              <a:lnSpc>
                <a:spcPct val="115000"/>
              </a:lnSpc>
              <a:spcBef>
                <a:spcPts val="0"/>
              </a:spcBef>
              <a:spcAft>
                <a:spcPts val="0"/>
              </a:spcAft>
              <a:buSzPts val="1200"/>
              <a:buChar char="■"/>
              <a:defRPr/>
            </a:lvl6pPr>
            <a:lvl7pPr marL="3200400" lvl="6" indent="-304800">
              <a:lnSpc>
                <a:spcPct val="115000"/>
              </a:lnSpc>
              <a:spcBef>
                <a:spcPts val="0"/>
              </a:spcBef>
              <a:spcAft>
                <a:spcPts val="0"/>
              </a:spcAft>
              <a:buSzPts val="1200"/>
              <a:buChar char="●"/>
              <a:defRPr/>
            </a:lvl7pPr>
            <a:lvl8pPr marL="3657600" lvl="7" indent="-304800">
              <a:lnSpc>
                <a:spcPct val="115000"/>
              </a:lnSpc>
              <a:spcBef>
                <a:spcPts val="0"/>
              </a:spcBef>
              <a:spcAft>
                <a:spcPts val="0"/>
              </a:spcAft>
              <a:buSzPts val="1200"/>
              <a:buChar char="○"/>
              <a:defRPr/>
            </a:lvl8pPr>
            <a:lvl9pPr marL="4114800" lvl="8" indent="-304800">
              <a:lnSpc>
                <a:spcPct val="115000"/>
              </a:lnSpc>
              <a:spcBef>
                <a:spcPts val="0"/>
              </a:spcBef>
              <a:spcAft>
                <a:spcPts val="0"/>
              </a:spcAft>
              <a:buSzPts val="1200"/>
              <a:buChar char="■"/>
              <a:defRPr/>
            </a:lvl9pPr>
          </a:lstStyle>
          <a:p>
            <a:endParaRPr/>
          </a:p>
        </p:txBody>
      </p:sp>
      <p:sp>
        <p:nvSpPr>
          <p:cNvPr id="1537" name="Google Shape;1537;p17"/>
          <p:cNvSpPr>
            <a:spLocks noGrp="1"/>
          </p:cNvSpPr>
          <p:nvPr>
            <p:ph type="pic" idx="2"/>
          </p:nvPr>
        </p:nvSpPr>
        <p:spPr>
          <a:xfrm>
            <a:off x="4976975" y="1374425"/>
            <a:ext cx="3232800" cy="2913000"/>
          </a:xfrm>
          <a:prstGeom prst="roundRect">
            <a:avLst>
              <a:gd name="adj" fmla="val 16667"/>
            </a:avLst>
          </a:prstGeom>
          <a:noFill/>
          <a:ln>
            <a:noFill/>
          </a:ln>
        </p:spPr>
      </p:sp>
      <p:sp>
        <p:nvSpPr>
          <p:cNvPr id="1538" name="Google Shape;1538;p17"/>
          <p:cNvSpPr/>
          <p:nvPr/>
        </p:nvSpPr>
        <p:spPr>
          <a:xfrm>
            <a:off x="8421714" y="4402286"/>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39" name="Google Shape;1539;p17"/>
          <p:cNvGrpSpPr/>
          <p:nvPr/>
        </p:nvGrpSpPr>
        <p:grpSpPr>
          <a:xfrm flipH="1">
            <a:off x="-132630" y="3762788"/>
            <a:ext cx="1507871" cy="1510263"/>
            <a:chOff x="39184" y="-151930"/>
            <a:chExt cx="1309825" cy="1311903"/>
          </a:xfrm>
        </p:grpSpPr>
        <p:sp>
          <p:nvSpPr>
            <p:cNvPr id="1540" name="Google Shape;1540;p17"/>
            <p:cNvSpPr/>
            <p:nvPr/>
          </p:nvSpPr>
          <p:spPr>
            <a:xfrm>
              <a:off x="1304909" y="54495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1" name="Google Shape;1541;p17"/>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17"/>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3" name="Google Shape;1543;p17"/>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4" name="Google Shape;1544;p17"/>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p17"/>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6" name="Google Shape;1546;p17"/>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p17"/>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p17"/>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9" name="Google Shape;1549;p17"/>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0" name="Google Shape;1550;p17"/>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p17"/>
            <p:cNvSpPr/>
            <p:nvPr/>
          </p:nvSpPr>
          <p:spPr>
            <a:xfrm>
              <a:off x="1105499" y="62891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2" name="Google Shape;1552;p17"/>
            <p:cNvSpPr/>
            <p:nvPr/>
          </p:nvSpPr>
          <p:spPr>
            <a:xfrm>
              <a:off x="1034132" y="70028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3" name="Google Shape;1553;p17"/>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p17"/>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5" name="Google Shape;1555;p17"/>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6" name="Google Shape;1556;p17"/>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7" name="Google Shape;1557;p17"/>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17"/>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p17"/>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0" name="Google Shape;1560;p17"/>
            <p:cNvSpPr/>
            <p:nvPr/>
          </p:nvSpPr>
          <p:spPr>
            <a:xfrm>
              <a:off x="1046726" y="572240"/>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1" name="Google Shape;1561;p17"/>
            <p:cNvSpPr/>
            <p:nvPr/>
          </p:nvSpPr>
          <p:spPr>
            <a:xfrm>
              <a:off x="975359" y="643608"/>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p17"/>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3" name="Google Shape;1563;p17"/>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4" name="Google Shape;1564;p17"/>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17"/>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6" name="Google Shape;1566;p17"/>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7" name="Google Shape;1567;p17"/>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p17"/>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9" name="Google Shape;1569;p17"/>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0" name="Google Shape;1570;p17"/>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1" name="Google Shape;1571;p17"/>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2" name="Google Shape;1572;p17"/>
            <p:cNvSpPr/>
            <p:nvPr/>
          </p:nvSpPr>
          <p:spPr>
            <a:xfrm>
              <a:off x="775949" y="727570"/>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p17"/>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4" name="Google Shape;1574;p17"/>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5" name="Google Shape;1575;p17"/>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6" name="Google Shape;1576;p17"/>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7" name="Google Shape;1577;p17"/>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8" name="Google Shape;1578;p17"/>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9" name="Google Shape;1579;p17"/>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p17"/>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1" name="Google Shape;1581;p17"/>
            <p:cNvSpPr/>
            <p:nvPr/>
          </p:nvSpPr>
          <p:spPr>
            <a:xfrm>
              <a:off x="717176" y="66879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p17"/>
            <p:cNvSpPr/>
            <p:nvPr/>
          </p:nvSpPr>
          <p:spPr>
            <a:xfrm>
              <a:off x="647907" y="740164"/>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3" name="Google Shape;1583;p17"/>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4" name="Google Shape;1584;p17"/>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p17"/>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p17"/>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7" name="Google Shape;1587;p17"/>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8" name="Google Shape;1588;p17"/>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9" name="Google Shape;1589;p17"/>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0" name="Google Shape;1590;p17"/>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p17"/>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p17"/>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p17"/>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p17"/>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5" name="Google Shape;1595;p17"/>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p17"/>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7" name="Google Shape;1597;p17"/>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p17"/>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17"/>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0" name="Google Shape;1600;p17"/>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1" name="Google Shape;1601;p17"/>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p17"/>
            <p:cNvSpPr/>
            <p:nvPr/>
          </p:nvSpPr>
          <p:spPr>
            <a:xfrm>
              <a:off x="389725" y="765353"/>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3" name="Google Shape;1603;p17"/>
            <p:cNvSpPr/>
            <p:nvPr/>
          </p:nvSpPr>
          <p:spPr>
            <a:xfrm>
              <a:off x="899793" y="139837"/>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4" name="Google Shape;1604;p17"/>
            <p:cNvSpPr/>
            <p:nvPr/>
          </p:nvSpPr>
          <p:spPr>
            <a:xfrm>
              <a:off x="828425" y="211205"/>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5" name="Google Shape;1605;p17"/>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6" name="Google Shape;1606;p17"/>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7" name="Google Shape;1607;p17"/>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8" name="Google Shape;1608;p17"/>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9" name="Google Shape;1609;p17"/>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17"/>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1" name="Google Shape;1611;p17"/>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p17"/>
            <p:cNvSpPr/>
            <p:nvPr/>
          </p:nvSpPr>
          <p:spPr>
            <a:xfrm>
              <a:off x="841020" y="81064"/>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p17"/>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4" name="Google Shape;1614;p17"/>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5" name="Google Shape;1615;p17"/>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p17"/>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17"/>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8" name="Google Shape;1618;p17"/>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9" name="Google Shape;1619;p17"/>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0" name="Google Shape;1620;p17"/>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1" name="Google Shape;1621;p17"/>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p17"/>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3" name="Google Shape;1623;p17"/>
            <p:cNvSpPr/>
            <p:nvPr/>
          </p:nvSpPr>
          <p:spPr>
            <a:xfrm>
              <a:off x="641610" y="167125"/>
              <a:ext cx="44100" cy="420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4" name="Google Shape;1624;p17"/>
            <p:cNvSpPr/>
            <p:nvPr/>
          </p:nvSpPr>
          <p:spPr>
            <a:xfrm>
              <a:off x="570243" y="236393"/>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p17"/>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p17"/>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7" name="Google Shape;1627;p17"/>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8" name="Google Shape;1628;p17"/>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p17"/>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p17"/>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1" name="Google Shape;1631;p17"/>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p17"/>
            <p:cNvSpPr/>
            <p:nvPr/>
          </p:nvSpPr>
          <p:spPr>
            <a:xfrm>
              <a:off x="582837" y="108352"/>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3" name="Google Shape;1633;p17"/>
            <p:cNvSpPr/>
            <p:nvPr/>
          </p:nvSpPr>
          <p:spPr>
            <a:xfrm>
              <a:off x="511469" y="179719"/>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4" name="Google Shape;1634;p17"/>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p17"/>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p17"/>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17"/>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p17"/>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9" name="Google Shape;1639;p17"/>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0" name="Google Shape;1640;p17"/>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1" name="Google Shape;1641;p17"/>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2" name="Google Shape;1642;p17"/>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p17"/>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4" name="Google Shape;1644;p17"/>
            <p:cNvSpPr/>
            <p:nvPr/>
          </p:nvSpPr>
          <p:spPr>
            <a:xfrm>
              <a:off x="312060" y="263681"/>
              <a:ext cx="441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5" name="Google Shape;1645;p17"/>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6" name="Google Shape;1646;p17"/>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7" name="Google Shape;1647;p17"/>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8" name="Google Shape;1648;p17"/>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p17"/>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0" name="Google Shape;1650;p17"/>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1" name="Google Shape;1651;p17"/>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2" name="Google Shape;1652;p17"/>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3" name="Google Shape;1653;p17"/>
            <p:cNvSpPr/>
            <p:nvPr/>
          </p:nvSpPr>
          <p:spPr>
            <a:xfrm>
              <a:off x="255386" y="204908"/>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4" name="Google Shape;1654;p17"/>
            <p:cNvSpPr/>
            <p:nvPr/>
          </p:nvSpPr>
          <p:spPr>
            <a:xfrm>
              <a:off x="184018" y="276275"/>
              <a:ext cx="42000" cy="44100"/>
            </a:xfrm>
            <a:prstGeom prst="ellipse">
              <a:avLst/>
            </a:pr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5" name="Google Shape;1655;p17"/>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6" name="Google Shape;1656;p17"/>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657"/>
        <p:cNvGrpSpPr/>
        <p:nvPr/>
      </p:nvGrpSpPr>
      <p:grpSpPr>
        <a:xfrm>
          <a:off x="0" y="0"/>
          <a:ext cx="0" cy="0"/>
          <a:chOff x="0" y="0"/>
          <a:chExt cx="0" cy="0"/>
        </a:xfrm>
      </p:grpSpPr>
      <p:sp>
        <p:nvSpPr>
          <p:cNvPr id="1658" name="Google Shape;1658;p18"/>
          <p:cNvSpPr txBox="1">
            <a:spLocks noGrp="1"/>
          </p:cNvSpPr>
          <p:nvPr>
            <p:ph type="title"/>
          </p:nvPr>
        </p:nvSpPr>
        <p:spPr>
          <a:xfrm>
            <a:off x="1977920" y="552450"/>
            <a:ext cx="5188200" cy="10587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3400"/>
              <a:buNone/>
              <a:defRPr sz="8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659" name="Google Shape;1659;p18"/>
          <p:cNvSpPr txBox="1">
            <a:spLocks noGrp="1"/>
          </p:cNvSpPr>
          <p:nvPr>
            <p:ph type="subTitle" idx="1"/>
          </p:nvPr>
        </p:nvSpPr>
        <p:spPr>
          <a:xfrm>
            <a:off x="1977876" y="1479800"/>
            <a:ext cx="5188200" cy="1231800"/>
          </a:xfrm>
          <a:prstGeom prst="rect">
            <a:avLst/>
          </a:prstGeom>
        </p:spPr>
        <p:txBody>
          <a:bodyPr spcFirstLastPara="1" wrap="square" lIns="91425" tIns="91425" rIns="91425" bIns="91425" anchor="t" anchorCtr="0">
            <a:noAutofit/>
          </a:bodyPr>
          <a:lstStyle>
            <a:lvl1pPr lvl="0" algn="ctr" rtl="0">
              <a:lnSpc>
                <a:spcPct val="90000"/>
              </a:lnSpc>
              <a:spcBef>
                <a:spcPts val="750"/>
              </a:spcBef>
              <a:spcAft>
                <a:spcPts val="0"/>
              </a:spcAft>
              <a:buSzPts val="1200"/>
              <a:buNone/>
              <a:defRPr sz="1300">
                <a:latin typeface="Arial"/>
                <a:ea typeface="Arial"/>
                <a:cs typeface="Arial"/>
                <a:sym typeface="Aria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0" name="Google Shape;1660;p18"/>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
        <p:nvSpPr>
          <p:cNvPr id="1661" name="Google Shape;1661;p18"/>
          <p:cNvSpPr/>
          <p:nvPr/>
        </p:nvSpPr>
        <p:spPr>
          <a:xfrm rot="5400000">
            <a:off x="8403039" y="4402536"/>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62" name="Google Shape;1662;p18"/>
          <p:cNvGrpSpPr/>
          <p:nvPr/>
        </p:nvGrpSpPr>
        <p:grpSpPr>
          <a:xfrm>
            <a:off x="7650879" y="395671"/>
            <a:ext cx="1658229" cy="1282495"/>
            <a:chOff x="5136226" y="2246221"/>
            <a:chExt cx="1254144" cy="969970"/>
          </a:xfrm>
        </p:grpSpPr>
        <p:sp>
          <p:nvSpPr>
            <p:cNvPr id="1663" name="Google Shape;1663;p18"/>
            <p:cNvSpPr/>
            <p:nvPr/>
          </p:nvSpPr>
          <p:spPr>
            <a:xfrm>
              <a:off x="5448964" y="2246221"/>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4" name="Google Shape;1664;p18"/>
            <p:cNvSpPr/>
            <p:nvPr/>
          </p:nvSpPr>
          <p:spPr>
            <a:xfrm>
              <a:off x="5136226" y="2558958"/>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5" name="Google Shape;1665;p18"/>
            <p:cNvSpPr/>
            <p:nvPr/>
          </p:nvSpPr>
          <p:spPr>
            <a:xfrm>
              <a:off x="5521989" y="2570071"/>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6" name="Google Shape;1666;p18"/>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67" name="Google Shape;1667;p18"/>
          <p:cNvSpPr/>
          <p:nvPr/>
        </p:nvSpPr>
        <p:spPr>
          <a:xfrm>
            <a:off x="8403036" y="3661572"/>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68" name="Google Shape;1668;p18"/>
          <p:cNvGrpSpPr/>
          <p:nvPr/>
        </p:nvGrpSpPr>
        <p:grpSpPr>
          <a:xfrm>
            <a:off x="-333349" y="2817496"/>
            <a:ext cx="2187094" cy="2789634"/>
            <a:chOff x="3700202" y="2700338"/>
            <a:chExt cx="1654132" cy="2109842"/>
          </a:xfrm>
        </p:grpSpPr>
        <p:sp>
          <p:nvSpPr>
            <p:cNvPr id="1669" name="Google Shape;1669;p18"/>
            <p:cNvSpPr/>
            <p:nvPr/>
          </p:nvSpPr>
          <p:spPr>
            <a:xfrm>
              <a:off x="3700202" y="2700338"/>
              <a:ext cx="1654132" cy="2109842"/>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0" name="Google Shape;1670;p18"/>
            <p:cNvSpPr/>
            <p:nvPr/>
          </p:nvSpPr>
          <p:spPr>
            <a:xfrm>
              <a:off x="3703377" y="3690938"/>
              <a:ext cx="1117623" cy="1117589"/>
            </a:xfrm>
            <a:custGeom>
              <a:avLst/>
              <a:gdLst/>
              <a:ahLst/>
              <a:cxnLst/>
              <a:rect l="l" t="t" r="r" b="b"/>
              <a:pathLst>
                <a:path w="33788" h="33787" extrusionOk="0">
                  <a:moveTo>
                    <a:pt x="0" y="0"/>
                  </a:moveTo>
                  <a:lnTo>
                    <a:pt x="33788" y="33787"/>
                  </a:lnTo>
                  <a:lnTo>
                    <a:pt x="36" y="33751"/>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1" name="Google Shape;1671;p18"/>
            <p:cNvSpPr/>
            <p:nvPr/>
          </p:nvSpPr>
          <p:spPr>
            <a:xfrm>
              <a:off x="4057390" y="3656013"/>
              <a:ext cx="935041" cy="652454"/>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2" name="Google Shape;1672;p18"/>
            <p:cNvSpPr/>
            <p:nvPr/>
          </p:nvSpPr>
          <p:spPr>
            <a:xfrm>
              <a:off x="3746240" y="3967163"/>
              <a:ext cx="935041" cy="652471"/>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3" name="Google Shape;1673;p18"/>
            <p:cNvSpPr/>
            <p:nvPr/>
          </p:nvSpPr>
          <p:spPr>
            <a:xfrm>
              <a:off x="4128827" y="3976688"/>
              <a:ext cx="401633" cy="401633"/>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4" name="Google Shape;1674;p18"/>
            <p:cNvSpPr/>
            <p:nvPr/>
          </p:nvSpPr>
          <p:spPr>
            <a:xfrm>
              <a:off x="4211377" y="3895725"/>
              <a:ext cx="401633" cy="401633"/>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75" name="Google Shape;1675;p18"/>
          <p:cNvSpPr/>
          <p:nvPr/>
        </p:nvSpPr>
        <p:spPr>
          <a:xfrm>
            <a:off x="7659258" y="4402536"/>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6" name="Google Shape;1676;p18"/>
          <p:cNvGrpSpPr/>
          <p:nvPr/>
        </p:nvGrpSpPr>
        <p:grpSpPr>
          <a:xfrm>
            <a:off x="-520414" y="601975"/>
            <a:ext cx="1507871" cy="1510263"/>
            <a:chOff x="39184" y="-151930"/>
            <a:chExt cx="1309825" cy="1311903"/>
          </a:xfrm>
        </p:grpSpPr>
        <p:sp>
          <p:nvSpPr>
            <p:cNvPr id="1677" name="Google Shape;1677;p18"/>
            <p:cNvSpPr/>
            <p:nvPr/>
          </p:nvSpPr>
          <p:spPr>
            <a:xfrm>
              <a:off x="1304909" y="544953"/>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8" name="Google Shape;1678;p18"/>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9" name="Google Shape;1679;p18"/>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0" name="Google Shape;1680;p18"/>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1" name="Google Shape;1681;p18"/>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2" name="Google Shape;1682;p18"/>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3" name="Google Shape;1683;p18"/>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4" name="Google Shape;1684;p18"/>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5" name="Google Shape;1685;p18"/>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6" name="Google Shape;1686;p18"/>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7" name="Google Shape;1687;p18"/>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8" name="Google Shape;1688;p18"/>
            <p:cNvSpPr/>
            <p:nvPr/>
          </p:nvSpPr>
          <p:spPr>
            <a:xfrm>
              <a:off x="1105499" y="628915"/>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9" name="Google Shape;1689;p18"/>
            <p:cNvSpPr/>
            <p:nvPr/>
          </p:nvSpPr>
          <p:spPr>
            <a:xfrm>
              <a:off x="1034132" y="700282"/>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0" name="Google Shape;1690;p18"/>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1" name="Google Shape;1691;p18"/>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2" name="Google Shape;1692;p18"/>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3" name="Google Shape;1693;p18"/>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4" name="Google Shape;1694;p18"/>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5" name="Google Shape;1695;p18"/>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6" name="Google Shape;1696;p18"/>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7" name="Google Shape;1697;p18"/>
            <p:cNvSpPr/>
            <p:nvPr/>
          </p:nvSpPr>
          <p:spPr>
            <a:xfrm>
              <a:off x="1046726" y="572240"/>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8" name="Google Shape;1698;p18"/>
            <p:cNvSpPr/>
            <p:nvPr/>
          </p:nvSpPr>
          <p:spPr>
            <a:xfrm>
              <a:off x="975359" y="643608"/>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9" name="Google Shape;1699;p18"/>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0" name="Google Shape;1700;p18"/>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1" name="Google Shape;1701;p18"/>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2" name="Google Shape;1702;p18"/>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3" name="Google Shape;1703;p18"/>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4" name="Google Shape;1704;p18"/>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5" name="Google Shape;1705;p18"/>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6" name="Google Shape;1706;p18"/>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7" name="Google Shape;1707;p18"/>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8" name="Google Shape;1708;p18"/>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9" name="Google Shape;1709;p18"/>
            <p:cNvSpPr/>
            <p:nvPr/>
          </p:nvSpPr>
          <p:spPr>
            <a:xfrm>
              <a:off x="775949" y="727570"/>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0" name="Google Shape;1710;p18"/>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1" name="Google Shape;1711;p18"/>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2" name="Google Shape;1712;p18"/>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3" name="Google Shape;1713;p18"/>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4" name="Google Shape;1714;p18"/>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5" name="Google Shape;1715;p18"/>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6" name="Google Shape;1716;p18"/>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p18"/>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p18"/>
            <p:cNvSpPr/>
            <p:nvPr/>
          </p:nvSpPr>
          <p:spPr>
            <a:xfrm>
              <a:off x="717176" y="668797"/>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p18"/>
            <p:cNvSpPr/>
            <p:nvPr/>
          </p:nvSpPr>
          <p:spPr>
            <a:xfrm>
              <a:off x="647907" y="740164"/>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p18"/>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p18"/>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2" name="Google Shape;1722;p18"/>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3" name="Google Shape;1723;p18"/>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p18"/>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p18"/>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p18"/>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7" name="Google Shape;1727;p18"/>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8" name="Google Shape;1728;p18"/>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p18"/>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p18"/>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p18"/>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p18"/>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3" name="Google Shape;1733;p18"/>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4" name="Google Shape;1734;p18"/>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5" name="Google Shape;1735;p18"/>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6" name="Google Shape;1736;p18"/>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7" name="Google Shape;1737;p18"/>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8" name="Google Shape;1738;p18"/>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9" name="Google Shape;1739;p18"/>
            <p:cNvSpPr/>
            <p:nvPr/>
          </p:nvSpPr>
          <p:spPr>
            <a:xfrm>
              <a:off x="389725" y="765353"/>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0" name="Google Shape;1740;p18"/>
            <p:cNvSpPr/>
            <p:nvPr/>
          </p:nvSpPr>
          <p:spPr>
            <a:xfrm>
              <a:off x="899793" y="139837"/>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1" name="Google Shape;1741;p18"/>
            <p:cNvSpPr/>
            <p:nvPr/>
          </p:nvSpPr>
          <p:spPr>
            <a:xfrm>
              <a:off x="828425" y="211205"/>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2" name="Google Shape;1742;p18"/>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3" name="Google Shape;1743;p18"/>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p18"/>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5" name="Google Shape;1745;p18"/>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6" name="Google Shape;1746;p18"/>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7" name="Google Shape;1747;p18"/>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8" name="Google Shape;1748;p18"/>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9" name="Google Shape;1749;p18"/>
            <p:cNvSpPr/>
            <p:nvPr/>
          </p:nvSpPr>
          <p:spPr>
            <a:xfrm>
              <a:off x="841020" y="81064"/>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0" name="Google Shape;1750;p18"/>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1" name="Google Shape;1751;p18"/>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2" name="Google Shape;1752;p18"/>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p18"/>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4" name="Google Shape;1754;p18"/>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5" name="Google Shape;1755;p18"/>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p18"/>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p18"/>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8" name="Google Shape;1758;p18"/>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p18"/>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p18"/>
            <p:cNvSpPr/>
            <p:nvPr/>
          </p:nvSpPr>
          <p:spPr>
            <a:xfrm>
              <a:off x="641610" y="167125"/>
              <a:ext cx="44100" cy="42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p18"/>
            <p:cNvSpPr/>
            <p:nvPr/>
          </p:nvSpPr>
          <p:spPr>
            <a:xfrm>
              <a:off x="570243" y="236393"/>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p18"/>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3" name="Google Shape;1763;p18"/>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4" name="Google Shape;1764;p18"/>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p18"/>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6" name="Google Shape;1766;p18"/>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7" name="Google Shape;1767;p18"/>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8" name="Google Shape;1768;p18"/>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9" name="Google Shape;1769;p18"/>
            <p:cNvSpPr/>
            <p:nvPr/>
          </p:nvSpPr>
          <p:spPr>
            <a:xfrm>
              <a:off x="582837" y="108352"/>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p18"/>
            <p:cNvSpPr/>
            <p:nvPr/>
          </p:nvSpPr>
          <p:spPr>
            <a:xfrm>
              <a:off x="511469" y="179719"/>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8"/>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2" name="Google Shape;1772;p18"/>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3" name="Google Shape;1773;p18"/>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4" name="Google Shape;1774;p18"/>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5" name="Google Shape;1775;p18"/>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6" name="Google Shape;1776;p18"/>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7" name="Google Shape;1777;p18"/>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8" name="Google Shape;1778;p18"/>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9" name="Google Shape;1779;p18"/>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0" name="Google Shape;1780;p18"/>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1" name="Google Shape;1781;p18"/>
            <p:cNvSpPr/>
            <p:nvPr/>
          </p:nvSpPr>
          <p:spPr>
            <a:xfrm>
              <a:off x="312060" y="263681"/>
              <a:ext cx="441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p18"/>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3" name="Google Shape;1783;p18"/>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4" name="Google Shape;1784;p18"/>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p18"/>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6" name="Google Shape;1786;p18"/>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7" name="Google Shape;1787;p18"/>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8" name="Google Shape;1788;p18"/>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9" name="Google Shape;1789;p18"/>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0" name="Google Shape;1790;p18"/>
            <p:cNvSpPr/>
            <p:nvPr/>
          </p:nvSpPr>
          <p:spPr>
            <a:xfrm>
              <a:off x="255386" y="204908"/>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p18"/>
            <p:cNvSpPr/>
            <p:nvPr/>
          </p:nvSpPr>
          <p:spPr>
            <a:xfrm>
              <a:off x="184018" y="276275"/>
              <a:ext cx="42000" cy="441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2" name="Google Shape;1792;p18"/>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p18"/>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9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95"/>
        <p:cNvGrpSpPr/>
        <p:nvPr/>
      </p:nvGrpSpPr>
      <p:grpSpPr>
        <a:xfrm>
          <a:off x="0" y="0"/>
          <a:ext cx="0" cy="0"/>
          <a:chOff x="0" y="0"/>
          <a:chExt cx="0" cy="0"/>
        </a:xfrm>
      </p:grpSpPr>
      <p:sp>
        <p:nvSpPr>
          <p:cNvPr id="1796" name="Google Shape;1796;p20"/>
          <p:cNvSpPr txBox="1">
            <a:spLocks noGrp="1"/>
          </p:cNvSpPr>
          <p:nvPr>
            <p:ph type="title"/>
          </p:nvPr>
        </p:nvSpPr>
        <p:spPr>
          <a:xfrm>
            <a:off x="723900" y="552449"/>
            <a:ext cx="7696200" cy="6393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7" name="Google Shape;1797;p20"/>
          <p:cNvSpPr/>
          <p:nvPr/>
        </p:nvSpPr>
        <p:spPr>
          <a:xfrm>
            <a:off x="8420420" y="4398962"/>
            <a:ext cx="740961" cy="740961"/>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98" name="Google Shape;1798;p20"/>
          <p:cNvGrpSpPr/>
          <p:nvPr/>
        </p:nvGrpSpPr>
        <p:grpSpPr>
          <a:xfrm>
            <a:off x="-481750" y="4102340"/>
            <a:ext cx="1507871" cy="1510263"/>
            <a:chOff x="39184" y="-151930"/>
            <a:chExt cx="1309825" cy="1311903"/>
          </a:xfrm>
        </p:grpSpPr>
        <p:sp>
          <p:nvSpPr>
            <p:cNvPr id="1799" name="Google Shape;1799;p20"/>
            <p:cNvSpPr/>
            <p:nvPr/>
          </p:nvSpPr>
          <p:spPr>
            <a:xfrm>
              <a:off x="1304909" y="544953"/>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0" name="Google Shape;1800;p20"/>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1" name="Google Shape;1801;p20"/>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2" name="Google Shape;1802;p20"/>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3" name="Google Shape;1803;p20"/>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4" name="Google Shape;1804;p20"/>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5" name="Google Shape;1805;p20"/>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6" name="Google Shape;1806;p20"/>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7" name="Google Shape;1807;p20"/>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8" name="Google Shape;1808;p20"/>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9" name="Google Shape;1809;p20"/>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0" name="Google Shape;1810;p20"/>
            <p:cNvSpPr/>
            <p:nvPr/>
          </p:nvSpPr>
          <p:spPr>
            <a:xfrm>
              <a:off x="1105499" y="628915"/>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1" name="Google Shape;1811;p20"/>
            <p:cNvSpPr/>
            <p:nvPr/>
          </p:nvSpPr>
          <p:spPr>
            <a:xfrm>
              <a:off x="1034132" y="700282"/>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2" name="Google Shape;1812;p20"/>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3" name="Google Shape;1813;p20"/>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4" name="Google Shape;1814;p20"/>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p20"/>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6" name="Google Shape;1816;p20"/>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p20"/>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8" name="Google Shape;1818;p20"/>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9" name="Google Shape;1819;p20"/>
            <p:cNvSpPr/>
            <p:nvPr/>
          </p:nvSpPr>
          <p:spPr>
            <a:xfrm>
              <a:off x="1046726" y="572240"/>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0" name="Google Shape;1820;p20"/>
            <p:cNvSpPr/>
            <p:nvPr/>
          </p:nvSpPr>
          <p:spPr>
            <a:xfrm>
              <a:off x="975359" y="643608"/>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1" name="Google Shape;1821;p20"/>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p20"/>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3" name="Google Shape;1823;p20"/>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4" name="Google Shape;1824;p20"/>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p20"/>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6" name="Google Shape;1826;p20"/>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7" name="Google Shape;1827;p20"/>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8" name="Google Shape;1828;p20"/>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9" name="Google Shape;1829;p20"/>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0" name="Google Shape;1830;p20"/>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1" name="Google Shape;1831;p20"/>
            <p:cNvSpPr/>
            <p:nvPr/>
          </p:nvSpPr>
          <p:spPr>
            <a:xfrm>
              <a:off x="775949" y="727570"/>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2" name="Google Shape;1832;p20"/>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3" name="Google Shape;1833;p20"/>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4" name="Google Shape;1834;p20"/>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5" name="Google Shape;1835;p20"/>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6" name="Google Shape;1836;p20"/>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7" name="Google Shape;1837;p20"/>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8" name="Google Shape;1838;p20"/>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9" name="Google Shape;1839;p20"/>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0" name="Google Shape;1840;p20"/>
            <p:cNvSpPr/>
            <p:nvPr/>
          </p:nvSpPr>
          <p:spPr>
            <a:xfrm>
              <a:off x="717176" y="668797"/>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1" name="Google Shape;1841;p20"/>
            <p:cNvSpPr/>
            <p:nvPr/>
          </p:nvSpPr>
          <p:spPr>
            <a:xfrm>
              <a:off x="647907" y="740164"/>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2" name="Google Shape;1842;p20"/>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3" name="Google Shape;1843;p20"/>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4" name="Google Shape;1844;p20"/>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5" name="Google Shape;1845;p20"/>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6" name="Google Shape;1846;p20"/>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7" name="Google Shape;1847;p20"/>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8" name="Google Shape;1848;p20"/>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9" name="Google Shape;1849;p20"/>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0" name="Google Shape;1850;p20"/>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p20"/>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2" name="Google Shape;1852;p20"/>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3" name="Google Shape;1853;p20"/>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4" name="Google Shape;1854;p20"/>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5" name="Google Shape;1855;p20"/>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6" name="Google Shape;1856;p20"/>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7" name="Google Shape;1857;p20"/>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8" name="Google Shape;1858;p20"/>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9" name="Google Shape;1859;p20"/>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0" name="Google Shape;1860;p20"/>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1" name="Google Shape;1861;p20"/>
            <p:cNvSpPr/>
            <p:nvPr/>
          </p:nvSpPr>
          <p:spPr>
            <a:xfrm>
              <a:off x="389725" y="765353"/>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2" name="Google Shape;1862;p20"/>
            <p:cNvSpPr/>
            <p:nvPr/>
          </p:nvSpPr>
          <p:spPr>
            <a:xfrm>
              <a:off x="899793" y="139837"/>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3" name="Google Shape;1863;p20"/>
            <p:cNvSpPr/>
            <p:nvPr/>
          </p:nvSpPr>
          <p:spPr>
            <a:xfrm>
              <a:off x="828425" y="211205"/>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4" name="Google Shape;1864;p20"/>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5" name="Google Shape;1865;p20"/>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6" name="Google Shape;1866;p20"/>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7" name="Google Shape;1867;p20"/>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8" name="Google Shape;1868;p20"/>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9" name="Google Shape;1869;p20"/>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0" name="Google Shape;1870;p20"/>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1" name="Google Shape;1871;p20"/>
            <p:cNvSpPr/>
            <p:nvPr/>
          </p:nvSpPr>
          <p:spPr>
            <a:xfrm>
              <a:off x="841020" y="81064"/>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2" name="Google Shape;1872;p20"/>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3" name="Google Shape;1873;p20"/>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4" name="Google Shape;1874;p20"/>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5" name="Google Shape;1875;p20"/>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6" name="Google Shape;1876;p20"/>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7" name="Google Shape;1877;p20"/>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8" name="Google Shape;1878;p20"/>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9" name="Google Shape;1879;p20"/>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0" name="Google Shape;1880;p20"/>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1" name="Google Shape;1881;p20"/>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2" name="Google Shape;1882;p20"/>
            <p:cNvSpPr/>
            <p:nvPr/>
          </p:nvSpPr>
          <p:spPr>
            <a:xfrm>
              <a:off x="641610" y="167125"/>
              <a:ext cx="44100" cy="420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3" name="Google Shape;1883;p20"/>
            <p:cNvSpPr/>
            <p:nvPr/>
          </p:nvSpPr>
          <p:spPr>
            <a:xfrm>
              <a:off x="570243" y="236393"/>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4" name="Google Shape;1884;p20"/>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5" name="Google Shape;1885;p20"/>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6" name="Google Shape;1886;p20"/>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7" name="Google Shape;1887;p20"/>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8" name="Google Shape;1888;p20"/>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9" name="Google Shape;1889;p20"/>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0" name="Google Shape;1890;p20"/>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1" name="Google Shape;1891;p20"/>
            <p:cNvSpPr/>
            <p:nvPr/>
          </p:nvSpPr>
          <p:spPr>
            <a:xfrm>
              <a:off x="582837" y="108352"/>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2" name="Google Shape;1892;p20"/>
            <p:cNvSpPr/>
            <p:nvPr/>
          </p:nvSpPr>
          <p:spPr>
            <a:xfrm>
              <a:off x="511469" y="179719"/>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3" name="Google Shape;1893;p20"/>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4" name="Google Shape;1894;p20"/>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5" name="Google Shape;1895;p20"/>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6" name="Google Shape;1896;p20"/>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7" name="Google Shape;1897;p20"/>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8" name="Google Shape;1898;p20"/>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9" name="Google Shape;1899;p20"/>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0" name="Google Shape;1900;p20"/>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1" name="Google Shape;1901;p20"/>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2" name="Google Shape;1902;p20"/>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3" name="Google Shape;1903;p20"/>
            <p:cNvSpPr/>
            <p:nvPr/>
          </p:nvSpPr>
          <p:spPr>
            <a:xfrm>
              <a:off x="312060" y="263681"/>
              <a:ext cx="441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4" name="Google Shape;1904;p20"/>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5" name="Google Shape;1905;p20"/>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6" name="Google Shape;1906;p20"/>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7" name="Google Shape;1907;p20"/>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8" name="Google Shape;1908;p20"/>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9" name="Google Shape;1909;p20"/>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0" name="Google Shape;1910;p20"/>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p20"/>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2" name="Google Shape;1912;p20"/>
            <p:cNvSpPr/>
            <p:nvPr/>
          </p:nvSpPr>
          <p:spPr>
            <a:xfrm>
              <a:off x="255386" y="204908"/>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3" name="Google Shape;1913;p20"/>
            <p:cNvSpPr/>
            <p:nvPr/>
          </p:nvSpPr>
          <p:spPr>
            <a:xfrm>
              <a:off x="184018" y="276275"/>
              <a:ext cx="42000" cy="44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4" name="Google Shape;1914;p20"/>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5" name="Google Shape;1915;p20"/>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16" name="Google Shape;1916;p20"/>
          <p:cNvGrpSpPr/>
          <p:nvPr/>
        </p:nvGrpSpPr>
        <p:grpSpPr>
          <a:xfrm flipH="1">
            <a:off x="8632879" y="-120500"/>
            <a:ext cx="1507871" cy="1510263"/>
            <a:chOff x="39184" y="-151930"/>
            <a:chExt cx="1309825" cy="1311903"/>
          </a:xfrm>
        </p:grpSpPr>
        <p:sp>
          <p:nvSpPr>
            <p:cNvPr id="1917" name="Google Shape;1917;p20"/>
            <p:cNvSpPr/>
            <p:nvPr/>
          </p:nvSpPr>
          <p:spPr>
            <a:xfrm>
              <a:off x="1304909" y="54495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8" name="Google Shape;1918;p20"/>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9" name="Google Shape;1919;p20"/>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0" name="Google Shape;1920;p20"/>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1" name="Google Shape;1921;p20"/>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2" name="Google Shape;1922;p20"/>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3" name="Google Shape;1923;p20"/>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4" name="Google Shape;1924;p20"/>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p20"/>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p20"/>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p20"/>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8" name="Google Shape;1928;p20"/>
            <p:cNvSpPr/>
            <p:nvPr/>
          </p:nvSpPr>
          <p:spPr>
            <a:xfrm>
              <a:off x="1105499" y="62891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9" name="Google Shape;1929;p20"/>
            <p:cNvSpPr/>
            <p:nvPr/>
          </p:nvSpPr>
          <p:spPr>
            <a:xfrm>
              <a:off x="1034132" y="70028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0" name="Google Shape;1930;p20"/>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1" name="Google Shape;1931;p20"/>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2" name="Google Shape;1932;p20"/>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3" name="Google Shape;1933;p20"/>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4" name="Google Shape;1934;p20"/>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5" name="Google Shape;1935;p20"/>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6" name="Google Shape;1936;p20"/>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7" name="Google Shape;1937;p20"/>
            <p:cNvSpPr/>
            <p:nvPr/>
          </p:nvSpPr>
          <p:spPr>
            <a:xfrm>
              <a:off x="1046726" y="572240"/>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8" name="Google Shape;1938;p20"/>
            <p:cNvSpPr/>
            <p:nvPr/>
          </p:nvSpPr>
          <p:spPr>
            <a:xfrm>
              <a:off x="975359" y="643608"/>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9" name="Google Shape;1939;p20"/>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0" name="Google Shape;1940;p20"/>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p20"/>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2" name="Google Shape;1942;p20"/>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3" name="Google Shape;1943;p20"/>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4" name="Google Shape;1944;p20"/>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5" name="Google Shape;1945;p20"/>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20"/>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p20"/>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8" name="Google Shape;1948;p20"/>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9" name="Google Shape;1949;p20"/>
            <p:cNvSpPr/>
            <p:nvPr/>
          </p:nvSpPr>
          <p:spPr>
            <a:xfrm>
              <a:off x="775949" y="727570"/>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0" name="Google Shape;1950;p20"/>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1" name="Google Shape;1951;p20"/>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2" name="Google Shape;1952;p20"/>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p20"/>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p20"/>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5" name="Google Shape;1955;p20"/>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6" name="Google Shape;1956;p20"/>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7" name="Google Shape;1957;p20"/>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8" name="Google Shape;1958;p20"/>
            <p:cNvSpPr/>
            <p:nvPr/>
          </p:nvSpPr>
          <p:spPr>
            <a:xfrm>
              <a:off x="717176" y="66879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9" name="Google Shape;1959;p20"/>
            <p:cNvSpPr/>
            <p:nvPr/>
          </p:nvSpPr>
          <p:spPr>
            <a:xfrm>
              <a:off x="647907" y="740164"/>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0" name="Google Shape;1960;p20"/>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1" name="Google Shape;1961;p20"/>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p20"/>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3" name="Google Shape;1963;p20"/>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p20"/>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p20"/>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6" name="Google Shape;1966;p20"/>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p20"/>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8" name="Google Shape;1968;p20"/>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p20"/>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p20"/>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1" name="Google Shape;1971;p20"/>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2" name="Google Shape;1972;p20"/>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p20"/>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4" name="Google Shape;1974;p20"/>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5" name="Google Shape;1975;p20"/>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6" name="Google Shape;1976;p20"/>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7" name="Google Shape;1977;p20"/>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p20"/>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p20"/>
            <p:cNvSpPr/>
            <p:nvPr/>
          </p:nvSpPr>
          <p:spPr>
            <a:xfrm>
              <a:off x="389725" y="765353"/>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p20"/>
            <p:cNvSpPr/>
            <p:nvPr/>
          </p:nvSpPr>
          <p:spPr>
            <a:xfrm>
              <a:off x="899793" y="13983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p20"/>
            <p:cNvSpPr/>
            <p:nvPr/>
          </p:nvSpPr>
          <p:spPr>
            <a:xfrm>
              <a:off x="828425" y="21120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p20"/>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p20"/>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p20"/>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p20"/>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p20"/>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7" name="Google Shape;1987;p20"/>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8" name="Google Shape;1988;p20"/>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p20"/>
            <p:cNvSpPr/>
            <p:nvPr/>
          </p:nvSpPr>
          <p:spPr>
            <a:xfrm>
              <a:off x="841020" y="81064"/>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p20"/>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p20"/>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p20"/>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p20"/>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4" name="Google Shape;1994;p20"/>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p20"/>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6" name="Google Shape;1996;p20"/>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p20"/>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8" name="Google Shape;1998;p20"/>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9" name="Google Shape;1999;p20"/>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p20"/>
            <p:cNvSpPr/>
            <p:nvPr/>
          </p:nvSpPr>
          <p:spPr>
            <a:xfrm>
              <a:off x="641610" y="167125"/>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1" name="Google Shape;2001;p20"/>
            <p:cNvSpPr/>
            <p:nvPr/>
          </p:nvSpPr>
          <p:spPr>
            <a:xfrm>
              <a:off x="570243" y="23639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p20"/>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p20"/>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20"/>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p20"/>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p20"/>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p20"/>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p20"/>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p20"/>
            <p:cNvSpPr/>
            <p:nvPr/>
          </p:nvSpPr>
          <p:spPr>
            <a:xfrm>
              <a:off x="582837" y="10835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p20"/>
            <p:cNvSpPr/>
            <p:nvPr/>
          </p:nvSpPr>
          <p:spPr>
            <a:xfrm>
              <a:off x="511469" y="179719"/>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1" name="Google Shape;2011;p20"/>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2" name="Google Shape;2012;p20"/>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p20"/>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p20"/>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p20"/>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p20"/>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p20"/>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p20"/>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9" name="Google Shape;2019;p20"/>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0" name="Google Shape;2020;p20"/>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p20"/>
            <p:cNvSpPr/>
            <p:nvPr/>
          </p:nvSpPr>
          <p:spPr>
            <a:xfrm>
              <a:off x="312060" y="263681"/>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p20"/>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3" name="Google Shape;2023;p20"/>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4" name="Google Shape;2024;p20"/>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p20"/>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p20"/>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7" name="Google Shape;2027;p20"/>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8" name="Google Shape;2028;p20"/>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9" name="Google Shape;2029;p20"/>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p20"/>
            <p:cNvSpPr/>
            <p:nvPr/>
          </p:nvSpPr>
          <p:spPr>
            <a:xfrm>
              <a:off x="255386" y="204908"/>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p20"/>
            <p:cNvSpPr/>
            <p:nvPr/>
          </p:nvSpPr>
          <p:spPr>
            <a:xfrm>
              <a:off x="184018" y="276275"/>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2" name="Google Shape;2032;p20"/>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3" name="Google Shape;2033;p20"/>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797"/>
                                        </p:tgtEl>
                                        <p:attrNameLst>
                                          <p:attrName>style.visibility</p:attrName>
                                        </p:attrNameLst>
                                      </p:cBhvr>
                                      <p:to>
                                        <p:strVal val="visible"/>
                                      </p:to>
                                    </p:set>
                                    <p:anim calcmode="lin" valueType="num">
                                      <p:cBhvr additive="base">
                                        <p:cTn id="7" dur="500"/>
                                        <p:tgtEl>
                                          <p:spTgt spid="1797"/>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0"/>
                                  </p:stCondLst>
                                  <p:childTnLst>
                                    <p:set>
                                      <p:cBhvr>
                                        <p:cTn id="9" dur="1" fill="hold">
                                          <p:stCondLst>
                                            <p:cond delay="0"/>
                                          </p:stCondLst>
                                        </p:cTn>
                                        <p:tgtEl>
                                          <p:spTgt spid="1798"/>
                                        </p:tgtEl>
                                        <p:attrNameLst>
                                          <p:attrName>style.visibility</p:attrName>
                                        </p:attrNameLst>
                                      </p:cBhvr>
                                      <p:to>
                                        <p:strVal val="visible"/>
                                      </p:to>
                                    </p:set>
                                    <p:anim calcmode="lin" valueType="num">
                                      <p:cBhvr additive="base">
                                        <p:cTn id="10" dur="500"/>
                                        <p:tgtEl>
                                          <p:spTgt spid="1798"/>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1916"/>
                                        </p:tgtEl>
                                        <p:attrNameLst>
                                          <p:attrName>style.visibility</p:attrName>
                                        </p:attrNameLst>
                                      </p:cBhvr>
                                      <p:to>
                                        <p:strVal val="visible"/>
                                      </p:to>
                                    </p:set>
                                    <p:anim calcmode="lin" valueType="num">
                                      <p:cBhvr additive="base">
                                        <p:cTn id="13" dur="500"/>
                                        <p:tgtEl>
                                          <p:spTgt spid="191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CUSTOM_2_1">
    <p:spTree>
      <p:nvGrpSpPr>
        <p:cNvPr id="1" name="Shape 2034"/>
        <p:cNvGrpSpPr/>
        <p:nvPr/>
      </p:nvGrpSpPr>
      <p:grpSpPr>
        <a:xfrm>
          <a:off x="0" y="0"/>
          <a:ext cx="0" cy="0"/>
          <a:chOff x="0" y="0"/>
          <a:chExt cx="0" cy="0"/>
        </a:xfrm>
      </p:grpSpPr>
      <p:sp>
        <p:nvSpPr>
          <p:cNvPr id="2035" name="Google Shape;2035;p21"/>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2036" name="Google Shape;2036;p21"/>
          <p:cNvSpPr txBox="1">
            <a:spLocks noGrp="1"/>
          </p:cNvSpPr>
          <p:nvPr>
            <p:ph type="title"/>
          </p:nvPr>
        </p:nvSpPr>
        <p:spPr>
          <a:xfrm>
            <a:off x="713225" y="539500"/>
            <a:ext cx="7717500" cy="4824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200" b="1"/>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CUSTOM_2_1_1">
    <p:spTree>
      <p:nvGrpSpPr>
        <p:cNvPr id="1" name="Shape 2037"/>
        <p:cNvGrpSpPr/>
        <p:nvPr/>
      </p:nvGrpSpPr>
      <p:grpSpPr>
        <a:xfrm>
          <a:off x="0" y="0"/>
          <a:ext cx="0" cy="0"/>
          <a:chOff x="0" y="0"/>
          <a:chExt cx="0" cy="0"/>
        </a:xfrm>
      </p:grpSpPr>
      <p:sp>
        <p:nvSpPr>
          <p:cNvPr id="2038" name="Google Shape;2038;p22"/>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2039" name="Google Shape;2039;p22"/>
          <p:cNvSpPr txBox="1">
            <a:spLocks noGrp="1"/>
          </p:cNvSpPr>
          <p:nvPr>
            <p:ph type="title"/>
          </p:nvPr>
        </p:nvSpPr>
        <p:spPr>
          <a:xfrm>
            <a:off x="728527" y="539500"/>
            <a:ext cx="3347700" cy="4824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200" b="1">
                <a:latin typeface="Inter"/>
                <a:ea typeface="Inter"/>
                <a:cs typeface="Inter"/>
                <a:sym typeface="Inter"/>
              </a:defRPr>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a:endParaRPr/>
          </a:p>
        </p:txBody>
      </p:sp>
      <p:sp>
        <p:nvSpPr>
          <p:cNvPr id="2040" name="Google Shape;2040;p22"/>
          <p:cNvSpPr txBox="1">
            <a:spLocks noGrp="1"/>
          </p:cNvSpPr>
          <p:nvPr>
            <p:ph type="title" idx="2"/>
          </p:nvPr>
        </p:nvSpPr>
        <p:spPr>
          <a:xfrm>
            <a:off x="4977550" y="539500"/>
            <a:ext cx="3458400" cy="4824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200" b="1">
                <a:latin typeface="Inter"/>
                <a:ea typeface="Inter"/>
                <a:cs typeface="Inter"/>
                <a:sym typeface="Inter"/>
              </a:defRPr>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1pPr>
            <a:lvl2pPr lvl="1"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2pPr>
            <a:lvl3pPr lvl="2"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3pPr>
            <a:lvl4pPr lvl="3"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4pPr>
            <a:lvl5pPr lvl="4"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5pPr>
            <a:lvl6pPr lvl="5"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6pPr>
            <a:lvl7pPr lvl="6"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7pPr>
            <a:lvl8pPr lvl="7"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8pPr>
            <a:lvl9pPr lvl="8" rtl="0">
              <a:spcBef>
                <a:spcPts val="0"/>
              </a:spcBef>
              <a:spcAft>
                <a:spcPts val="0"/>
              </a:spcAft>
              <a:buClr>
                <a:schemeClr val="dk1"/>
              </a:buClr>
              <a:buSzPts val="3400"/>
              <a:buFont typeface="Poppins"/>
              <a:buNone/>
              <a:defRPr sz="34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marL="914400" lvl="1"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marL="1371600" lvl="2"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marL="1828800" lvl="3"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marL="2286000" lvl="4"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marL="2743200" lvl="5"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marL="3200400" lvl="6"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marL="3657600" lvl="7"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marL="4114800" lvl="8"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0.png"/><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2.png"/><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5"/>
        <p:cNvGrpSpPr/>
        <p:nvPr/>
      </p:nvGrpSpPr>
      <p:grpSpPr>
        <a:xfrm>
          <a:off x="0" y="0"/>
          <a:ext cx="0" cy="0"/>
          <a:chOff x="0" y="0"/>
          <a:chExt cx="0" cy="0"/>
        </a:xfrm>
      </p:grpSpPr>
      <p:sp>
        <p:nvSpPr>
          <p:cNvPr id="2056" name="Google Shape;2056;p27"/>
          <p:cNvSpPr txBox="1">
            <a:spLocks noGrp="1"/>
          </p:cNvSpPr>
          <p:nvPr>
            <p:ph type="ctrTitle"/>
          </p:nvPr>
        </p:nvSpPr>
        <p:spPr>
          <a:xfrm>
            <a:off x="2178515" y="1163837"/>
            <a:ext cx="4915209" cy="6690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SzPts val="9000"/>
              <a:buNone/>
            </a:pPr>
            <a:r>
              <a:rPr lang="en-US" sz="1400" dirty="0"/>
              <a:t>THE UNIVERSITY OF ZAMBIA</a:t>
            </a:r>
            <a:br>
              <a:rPr lang="en-US" sz="1400" dirty="0"/>
            </a:br>
            <a:r>
              <a:rPr lang="en-US" sz="1400" dirty="0"/>
              <a:t>SCHOOL OF NATURAL AND APPLIED SCIENCES</a:t>
            </a:r>
            <a:br>
              <a:rPr lang="en-US" sz="1400" dirty="0"/>
            </a:br>
            <a:r>
              <a:rPr lang="en-US" sz="1400" dirty="0"/>
              <a:t>DEPARTMENT OF COMPUTING AND INFORMATICS</a:t>
            </a:r>
            <a:endParaRPr sz="1400" dirty="0"/>
          </a:p>
        </p:txBody>
      </p:sp>
      <p:sp>
        <p:nvSpPr>
          <p:cNvPr id="2057" name="Google Shape;2057;p27"/>
          <p:cNvSpPr txBox="1">
            <a:spLocks noGrp="1"/>
          </p:cNvSpPr>
          <p:nvPr>
            <p:ph type="subTitle" idx="1"/>
          </p:nvPr>
        </p:nvSpPr>
        <p:spPr>
          <a:xfrm>
            <a:off x="0" y="1924810"/>
            <a:ext cx="8355413" cy="2022864"/>
          </a:xfrm>
          <a:prstGeom prst="rect">
            <a:avLst/>
          </a:prstGeom>
        </p:spPr>
        <p:txBody>
          <a:bodyPr spcFirstLastPara="1" wrap="square" lIns="91425" tIns="45700" rIns="91425" bIns="45700" anchor="t" anchorCtr="0">
            <a:noAutofit/>
          </a:bodyPr>
          <a:lstStyle/>
          <a:p>
            <a:pPr marL="457200" lvl="0" indent="-361950" algn="ctr" rtl="0">
              <a:spcBef>
                <a:spcPts val="750"/>
              </a:spcBef>
              <a:spcAft>
                <a:spcPts val="0"/>
              </a:spcAft>
              <a:buSzPts val="1600"/>
              <a:buNone/>
            </a:pPr>
            <a:r>
              <a:rPr lang="en" sz="3200" dirty="0"/>
              <a:t>VERISCREEN: A WEB-BASED SYSTEM FOR ACADEMIC DOCUMENT VERIFICATION AND HELSB LOAN SCREENING</a:t>
            </a:r>
            <a:endParaRPr sz="3200" dirty="0"/>
          </a:p>
        </p:txBody>
      </p:sp>
      <p:grpSp>
        <p:nvGrpSpPr>
          <p:cNvPr id="2058" name="Google Shape;2058;p27"/>
          <p:cNvGrpSpPr/>
          <p:nvPr/>
        </p:nvGrpSpPr>
        <p:grpSpPr>
          <a:xfrm>
            <a:off x="7299621" y="-188885"/>
            <a:ext cx="2300520" cy="2575530"/>
            <a:chOff x="3238240" y="323850"/>
            <a:chExt cx="1739919" cy="1947912"/>
          </a:xfrm>
        </p:grpSpPr>
        <p:sp>
          <p:nvSpPr>
            <p:cNvPr id="2059" name="Google Shape;2059;p27"/>
            <p:cNvSpPr/>
            <p:nvPr/>
          </p:nvSpPr>
          <p:spPr>
            <a:xfrm>
              <a:off x="3238240" y="323850"/>
              <a:ext cx="1654154" cy="1947912"/>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0" name="Google Shape;2060;p27"/>
            <p:cNvSpPr/>
            <p:nvPr/>
          </p:nvSpPr>
          <p:spPr>
            <a:xfrm>
              <a:off x="4036753" y="947738"/>
              <a:ext cx="941406" cy="657233"/>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1" name="Google Shape;2061;p27"/>
            <p:cNvSpPr/>
            <p:nvPr/>
          </p:nvSpPr>
          <p:spPr>
            <a:xfrm>
              <a:off x="3724015" y="1260475"/>
              <a:ext cx="941406" cy="657233"/>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2" name="Google Shape;2062;p27"/>
            <p:cNvSpPr/>
            <p:nvPr/>
          </p:nvSpPr>
          <p:spPr>
            <a:xfrm>
              <a:off x="4109778" y="1271588"/>
              <a:ext cx="403228" cy="403228"/>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3" name="Google Shape;2063;p27"/>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64" name="Google Shape;2064;p27"/>
          <p:cNvGrpSpPr/>
          <p:nvPr/>
        </p:nvGrpSpPr>
        <p:grpSpPr>
          <a:xfrm>
            <a:off x="-8578" y="2367133"/>
            <a:ext cx="2187094" cy="2789634"/>
            <a:chOff x="3700202" y="2700338"/>
            <a:chExt cx="1654132" cy="2109842"/>
          </a:xfrm>
        </p:grpSpPr>
        <p:sp>
          <p:nvSpPr>
            <p:cNvPr id="2065" name="Google Shape;2065;p27"/>
            <p:cNvSpPr/>
            <p:nvPr/>
          </p:nvSpPr>
          <p:spPr>
            <a:xfrm>
              <a:off x="3700202" y="2700338"/>
              <a:ext cx="1654132" cy="2109842"/>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6" name="Google Shape;2066;p27"/>
            <p:cNvSpPr/>
            <p:nvPr/>
          </p:nvSpPr>
          <p:spPr>
            <a:xfrm>
              <a:off x="3703377" y="3690938"/>
              <a:ext cx="1117623" cy="1117589"/>
            </a:xfrm>
            <a:custGeom>
              <a:avLst/>
              <a:gdLst/>
              <a:ahLst/>
              <a:cxnLst/>
              <a:rect l="l" t="t" r="r" b="b"/>
              <a:pathLst>
                <a:path w="33788" h="33787" extrusionOk="0">
                  <a:moveTo>
                    <a:pt x="0" y="0"/>
                  </a:moveTo>
                  <a:lnTo>
                    <a:pt x="33788" y="33787"/>
                  </a:lnTo>
                  <a:lnTo>
                    <a:pt x="36" y="33751"/>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7" name="Google Shape;2067;p27"/>
            <p:cNvSpPr/>
            <p:nvPr/>
          </p:nvSpPr>
          <p:spPr>
            <a:xfrm>
              <a:off x="4057390" y="3656013"/>
              <a:ext cx="935041" cy="652454"/>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8" name="Google Shape;2068;p27"/>
            <p:cNvSpPr/>
            <p:nvPr/>
          </p:nvSpPr>
          <p:spPr>
            <a:xfrm>
              <a:off x="3746240" y="3967163"/>
              <a:ext cx="935041" cy="652471"/>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9" name="Google Shape;2069;p27"/>
            <p:cNvSpPr/>
            <p:nvPr/>
          </p:nvSpPr>
          <p:spPr>
            <a:xfrm>
              <a:off x="4128827" y="3976688"/>
              <a:ext cx="401633" cy="401633"/>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0" name="Google Shape;2070;p27"/>
            <p:cNvSpPr/>
            <p:nvPr/>
          </p:nvSpPr>
          <p:spPr>
            <a:xfrm>
              <a:off x="4211377" y="3895725"/>
              <a:ext cx="401633" cy="401633"/>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71" name="Google Shape;2071;p27"/>
          <p:cNvSpPr/>
          <p:nvPr/>
        </p:nvSpPr>
        <p:spPr>
          <a:xfrm>
            <a:off x="7505439" y="-2014745"/>
            <a:ext cx="2187200" cy="2575531"/>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Freeform 8">
            <a:extLst>
              <a:ext uri="{FF2B5EF4-FFF2-40B4-BE49-F238E27FC236}">
                <a16:creationId xmlns:a16="http://schemas.microsoft.com/office/drawing/2014/main" id="{B1664C16-92CC-494B-8AE7-74EB995082E8}"/>
              </a:ext>
            </a:extLst>
          </p:cNvPr>
          <p:cNvSpPr/>
          <p:nvPr/>
        </p:nvSpPr>
        <p:spPr>
          <a:xfrm>
            <a:off x="3878317" y="-31776"/>
            <a:ext cx="1174532" cy="1195613"/>
          </a:xfrm>
          <a:custGeom>
            <a:avLst/>
            <a:gdLst/>
            <a:ahLst/>
            <a:cxnLst/>
            <a:rect l="l" t="t" r="r" b="b"/>
            <a:pathLst>
              <a:path w="1977420" h="1854667">
                <a:moveTo>
                  <a:pt x="0" y="0"/>
                </a:moveTo>
                <a:lnTo>
                  <a:pt x="1977420" y="0"/>
                </a:lnTo>
                <a:lnTo>
                  <a:pt x="1977420" y="1854667"/>
                </a:lnTo>
                <a:lnTo>
                  <a:pt x="0" y="1854667"/>
                </a:lnTo>
                <a:lnTo>
                  <a:pt x="0" y="0"/>
                </a:lnTo>
                <a:close/>
              </a:path>
            </a:pathLst>
          </a:custGeom>
          <a:blipFill>
            <a:blip r:embed="rId3"/>
            <a:stretch>
              <a:fillRect t="-1322" b="-5295"/>
            </a:stretch>
          </a:blipFill>
        </p:spPr>
        <p:txBody>
          <a:bodyPr/>
          <a:p/>
        </p:txBody>
      </p:sp>
      <p:sp>
        <p:nvSpPr>
          <p:cNvPr id="3" name="TextBox 2">
            <a:extLst>
              <a:ext uri="{FF2B5EF4-FFF2-40B4-BE49-F238E27FC236}">
                <a16:creationId xmlns:a16="http://schemas.microsoft.com/office/drawing/2014/main" id="{CB93D4F2-7983-4AE0-A010-10425551DF9F}"/>
              </a:ext>
            </a:extLst>
          </p:cNvPr>
          <p:cNvSpPr txBox="1"/>
          <p:nvPr/>
        </p:nvSpPr>
        <p:spPr>
          <a:xfrm>
            <a:off x="2640724" y="3676905"/>
            <a:ext cx="4974021" cy="954107"/>
          </a:xfrm>
          <a:prstGeom prst="rect">
            <a:avLst/>
          </a:prstGeom>
          <a:noFill/>
        </p:spPr>
        <p:txBody>
          <a:bodyPr wrap="square" rtlCol="0">
            <a:spAutoFit/>
          </a:bodyPr>
          <a:lstStyle/>
          <a:p>
            <a:r>
              <a:rPr lang="en-US" dirty="0"/>
              <a:t>SAMUEL CHIBINJI MWANZA: 2021465934</a:t>
            </a:r>
          </a:p>
          <a:p>
            <a:r>
              <a:rPr lang="en-US" dirty="0"/>
              <a:t>NOSIKU MUKUKA: 2022030346</a:t>
            </a:r>
          </a:p>
          <a:p>
            <a:r>
              <a:rPr lang="en-US" dirty="0"/>
              <a:t>   </a:t>
            </a:r>
          </a:p>
          <a:p>
            <a:pPr marL="285750" indent="-285750">
              <a:buFont typeface="Arial" panose="020B0604020202020204" pitchFamily="34" charset="0"/>
              <a:buChar char="•"/>
            </a:pPr>
            <a:r>
              <a:rPr lang="en-US" dirty="0"/>
              <a:t>Supervisor: Mrs. Monde Monica Kalumbilo Kabemba</a:t>
            </a:r>
            <a:r>
              <a:rPr lang="en-US" dirty="0" err="1"/>
              <a:t/>
            </a:r>
            <a:r>
              <a:rPr lang="en-US" dirty="0"/>
              <a:t/>
            </a:r>
            <a:r>
              <a:rPr lang="en-US" dirty="0" err="1"/>
              <a:t/>
            </a:r>
            <a:endParaRPr lang="en-GB" dirty="0"/>
          </a:p>
        </p:txBody>
      </p:sp>
      <p:sp>
        <p:nvSpPr>
          <p:cNvPr id="5" name="TextBox 4">
            <a:extLst>
              <a:ext uri="{FF2B5EF4-FFF2-40B4-BE49-F238E27FC236}">
                <a16:creationId xmlns:a16="http://schemas.microsoft.com/office/drawing/2014/main" id="{B35F6D79-FAEF-47B1-84F4-6F7E3A13FAE1}"/>
              </a:ext>
            </a:extLst>
          </p:cNvPr>
          <p:cNvSpPr txBox="1"/>
          <p:nvPr/>
        </p:nvSpPr>
        <p:spPr>
          <a:xfrm>
            <a:off x="3970037" y="4835723"/>
            <a:ext cx="2060274" cy="261610"/>
          </a:xfrm>
          <a:prstGeom prst="rect">
            <a:avLst/>
          </a:prstGeom>
          <a:noFill/>
        </p:spPr>
        <p:txBody>
          <a:bodyPr wrap="square" rtlCol="0">
            <a:spAutoFit/>
          </a:bodyPr>
          <a:lstStyle/>
          <a:p>
            <a:r>
              <a:rPr lang="en-US" sz="1100" dirty="0"/>
              <a:t>Date: 23rd October 2026</a:t>
            </a:r>
            <a:endParaRPr lang="en-GB"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4"/>
        <p:cNvGrpSpPr/>
        <p:nvPr/>
      </p:nvGrpSpPr>
      <p:grpSpPr>
        <a:xfrm>
          <a:off x="0" y="0"/>
          <a:ext cx="0" cy="0"/>
          <a:chOff x="0" y="0"/>
          <a:chExt cx="0" cy="0"/>
        </a:xfrm>
      </p:grpSpPr>
      <p:sp>
        <p:nvSpPr>
          <p:cNvPr id="2085" name="Google Shape;2085;p29"/>
          <p:cNvSpPr/>
          <p:nvPr/>
        </p:nvSpPr>
        <p:spPr>
          <a:xfrm>
            <a:off x="4858075" y="1915935"/>
            <a:ext cx="641400" cy="4707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86" name="Google Shape;2086;p29"/>
          <p:cNvSpPr/>
          <p:nvPr/>
        </p:nvSpPr>
        <p:spPr>
          <a:xfrm>
            <a:off x="894259" y="2765223"/>
            <a:ext cx="641400" cy="4707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87" name="Google Shape;2087;p29"/>
          <p:cNvSpPr/>
          <p:nvPr/>
        </p:nvSpPr>
        <p:spPr>
          <a:xfrm>
            <a:off x="4829248" y="1216171"/>
            <a:ext cx="641400" cy="4707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88" name="Google Shape;2088;p29"/>
          <p:cNvSpPr/>
          <p:nvPr/>
        </p:nvSpPr>
        <p:spPr>
          <a:xfrm>
            <a:off x="868995" y="1213918"/>
            <a:ext cx="641400" cy="4707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89" name="Google Shape;2089;p29"/>
          <p:cNvSpPr txBox="1">
            <a:spLocks noGrp="1"/>
          </p:cNvSpPr>
          <p:nvPr>
            <p:ph type="subTitle" idx="3"/>
          </p:nvPr>
        </p:nvSpPr>
        <p:spPr>
          <a:xfrm>
            <a:off x="1453152" y="1263965"/>
            <a:ext cx="2083500" cy="392400"/>
          </a:xfrm>
          <a:prstGeom prst="rect">
            <a:avLst/>
          </a:prstGeom>
        </p:spPr>
        <p:txBody>
          <a:bodyPr spcFirstLastPara="1" wrap="square" lIns="91425" tIns="45700" rIns="91425" bIns="45700" anchor="t" anchorCtr="0">
            <a:normAutofit fontScale="70000" lnSpcReduction="20000"/>
          </a:bodyPr>
          <a:lstStyle/>
          <a:p>
            <a:pPr marL="0" lvl="0" indent="0" algn="l" rtl="0">
              <a:spcBef>
                <a:spcPts val="750"/>
              </a:spcBef>
              <a:spcAft>
                <a:spcPts val="0"/>
              </a:spcAft>
              <a:buSzPts val="1400"/>
              <a:buNone/>
            </a:pPr>
            <a:r>
              <a:rPr lang="en" dirty="0"/>
              <a:t>Introduction</a:t>
            </a:r>
            <a:endParaRPr dirty="0"/>
          </a:p>
        </p:txBody>
      </p:sp>
      <p:sp>
        <p:nvSpPr>
          <p:cNvPr id="2090" name="Google Shape;2090;p29"/>
          <p:cNvSpPr txBox="1">
            <a:spLocks noGrp="1"/>
          </p:cNvSpPr>
          <p:nvPr>
            <p:ph type="subTitle" idx="4"/>
          </p:nvPr>
        </p:nvSpPr>
        <p:spPr>
          <a:xfrm>
            <a:off x="1482616" y="3112875"/>
            <a:ext cx="2867700" cy="5259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None/>
            </a:pPr>
            <a:r>
              <a:rPr lang="en" dirty="0"/>
              <a:t>1.1 Development Approach</a:t>
            </a:r>
          </a:p>
          <a:p>
            <a:pPr marL="0" lvl="0" indent="0" algn="l" rtl="0">
              <a:spcBef>
                <a:spcPts val="750"/>
              </a:spcBef>
              <a:spcAft>
                <a:spcPts val="0"/>
              </a:spcAft>
              <a:buNone/>
            </a:pPr>
            <a:r>
              <a:rPr lang="en" dirty="0"/>
              <a:t>1.2 System Architecture</a:t>
            </a:r>
          </a:p>
          <a:p>
            <a:pPr marL="0" lvl="0" indent="0" algn="l" rtl="0">
              <a:spcBef>
                <a:spcPts val="750"/>
              </a:spcBef>
              <a:spcAft>
                <a:spcPts val="0"/>
              </a:spcAft>
              <a:buNone/>
            </a:pPr>
            <a:r>
              <a:rPr lang="en" dirty="0"/>
              <a:t>1.3 Complete workflow description</a:t>
            </a:r>
          </a:p>
          <a:p>
            <a:pPr marL="0" lvl="0" indent="0" algn="l" rtl="0">
              <a:spcBef>
                <a:spcPts val="750"/>
              </a:spcBef>
              <a:spcAft>
                <a:spcPts val="0"/>
              </a:spcAft>
              <a:buNone/>
            </a:pPr>
            <a:r>
              <a:rPr lang="en" dirty="0"/>
              <a:t>1.4 Data collection</a:t>
            </a:r>
          </a:p>
          <a:p>
            <a:pPr marL="0" lvl="0" indent="0" algn="l" rtl="0">
              <a:spcBef>
                <a:spcPts val="750"/>
              </a:spcBef>
              <a:spcAft>
                <a:spcPts val="0"/>
              </a:spcAft>
              <a:buNone/>
            </a:pPr>
            <a:r>
              <a:rPr lang="en" dirty="0"/>
              <a:t>1.5 Tools and Technologies</a:t>
            </a:r>
          </a:p>
          <a:p>
            <a:pPr marL="0" lvl="0" indent="0" algn="l" rtl="0">
              <a:spcBef>
                <a:spcPts val="750"/>
              </a:spcBef>
              <a:spcAft>
                <a:spcPts val="0"/>
              </a:spcAft>
              <a:buNone/>
            </a:pPr>
            <a:r>
              <a:rPr lang="en" dirty="0"/>
              <a:t>1.6 Ethical and legal considerations</a:t>
            </a:r>
            <a:endParaRPr dirty="0"/>
          </a:p>
        </p:txBody>
      </p:sp>
      <p:sp>
        <p:nvSpPr>
          <p:cNvPr id="2091" name="Google Shape;2091;p29"/>
          <p:cNvSpPr txBox="1">
            <a:spLocks noGrp="1"/>
          </p:cNvSpPr>
          <p:nvPr>
            <p:ph type="subTitle" idx="7"/>
          </p:nvPr>
        </p:nvSpPr>
        <p:spPr>
          <a:xfrm>
            <a:off x="5483696" y="2161084"/>
            <a:ext cx="2867700" cy="5259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2500"/>
              <a:buNone/>
            </a:pPr>
            <a:r>
              <a:rPr lang="en" dirty="0"/>
              <a:t>1.1 Software systems/ Prototypes</a:t>
            </a:r>
          </a:p>
          <a:p>
            <a:pPr marL="0" lvl="0" indent="0" algn="l" rtl="0">
              <a:spcBef>
                <a:spcPts val="750"/>
              </a:spcBef>
              <a:spcAft>
                <a:spcPts val="0"/>
              </a:spcAft>
              <a:buSzPts val="2500"/>
              <a:buNone/>
            </a:pPr>
            <a:r>
              <a:rPr lang="en" dirty="0"/>
              <a:t>1.2 Document generation engine</a:t>
            </a:r>
          </a:p>
          <a:p>
            <a:pPr marL="0" lvl="0" indent="0" algn="l" rtl="0">
              <a:spcBef>
                <a:spcPts val="750"/>
              </a:spcBef>
              <a:spcAft>
                <a:spcPts val="0"/>
              </a:spcAft>
              <a:buSzPts val="2500"/>
              <a:buNone/>
            </a:pPr>
            <a:r>
              <a:rPr lang="en" dirty="0"/>
              <a:t>1.3 Documentation</a:t>
            </a:r>
          </a:p>
          <a:p>
            <a:pPr marL="0" lvl="0" indent="0" algn="l" rtl="0">
              <a:spcBef>
                <a:spcPts val="750"/>
              </a:spcBef>
              <a:spcAft>
                <a:spcPts val="0"/>
              </a:spcAft>
              <a:buSzPts val="2500"/>
              <a:buNone/>
            </a:pPr>
            <a:r>
              <a:rPr lang="en" dirty="0"/>
              <a:t>1.4 Demonstration materials</a:t>
            </a:r>
          </a:p>
          <a:p>
            <a:pPr marL="0" lvl="0" indent="0" algn="l" rtl="0">
              <a:spcBef>
                <a:spcPts val="750"/>
              </a:spcBef>
              <a:spcAft>
                <a:spcPts val="0"/>
              </a:spcAft>
              <a:buSzPts val="2500"/>
              <a:buNone/>
            </a:pPr>
            <a:r>
              <a:rPr lang="en" dirty="0"/>
              <a:t>1.5 Research contributions</a:t>
            </a:r>
            <a:endParaRPr dirty="0"/>
          </a:p>
        </p:txBody>
      </p:sp>
      <p:sp>
        <p:nvSpPr>
          <p:cNvPr id="2092" name="Google Shape;2092;p29"/>
          <p:cNvSpPr txBox="1">
            <a:spLocks noGrp="1"/>
          </p:cNvSpPr>
          <p:nvPr>
            <p:ph type="subTitle" idx="6"/>
          </p:nvPr>
        </p:nvSpPr>
        <p:spPr>
          <a:xfrm>
            <a:off x="1497742" y="2703634"/>
            <a:ext cx="2083500" cy="3924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1400"/>
              <a:buNone/>
            </a:pPr>
            <a:r>
              <a:rPr lang="en" sz="1400" dirty="0"/>
              <a:t>Proposed Methodology</a:t>
            </a:r>
            <a:endParaRPr sz="1400" dirty="0"/>
          </a:p>
        </p:txBody>
      </p:sp>
      <p:sp>
        <p:nvSpPr>
          <p:cNvPr id="2093" name="Google Shape;2093;p29"/>
          <p:cNvSpPr txBox="1">
            <a:spLocks noGrp="1"/>
          </p:cNvSpPr>
          <p:nvPr>
            <p:ph type="subTitle" idx="9"/>
          </p:nvPr>
        </p:nvSpPr>
        <p:spPr>
          <a:xfrm>
            <a:off x="5416225" y="1262075"/>
            <a:ext cx="2083500" cy="3924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1400"/>
              <a:buNone/>
            </a:pPr>
            <a:r>
              <a:rPr lang="en" sz="1400" dirty="0"/>
              <a:t>Literature overview</a:t>
            </a:r>
            <a:endParaRPr sz="1400" dirty="0"/>
          </a:p>
        </p:txBody>
      </p:sp>
      <p:sp>
        <p:nvSpPr>
          <p:cNvPr id="2095" name="Google Shape;2095;p29"/>
          <p:cNvSpPr txBox="1">
            <a:spLocks noGrp="1"/>
          </p:cNvSpPr>
          <p:nvPr>
            <p:ph type="subTitle" idx="15"/>
          </p:nvPr>
        </p:nvSpPr>
        <p:spPr>
          <a:xfrm>
            <a:off x="5470648" y="1914969"/>
            <a:ext cx="2083500" cy="3924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1400"/>
              <a:buNone/>
            </a:pPr>
            <a:r>
              <a:rPr lang="en" sz="1400" dirty="0"/>
              <a:t>Delivered system</a:t>
            </a:r>
            <a:endParaRPr sz="1400" dirty="0"/>
          </a:p>
        </p:txBody>
      </p:sp>
      <p:sp>
        <p:nvSpPr>
          <p:cNvPr id="2096" name="Google Shape;2096;p29"/>
          <p:cNvSpPr txBox="1">
            <a:spLocks noGrp="1"/>
          </p:cNvSpPr>
          <p:nvPr>
            <p:ph type="subTitle" idx="1"/>
          </p:nvPr>
        </p:nvSpPr>
        <p:spPr>
          <a:xfrm>
            <a:off x="1483750" y="1467839"/>
            <a:ext cx="2867700" cy="5259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None/>
            </a:pPr>
            <a:r>
              <a:rPr lang="en-US" dirty="0"/>
              <a:t>1.1 Problem Statement</a:t>
            </a:r>
          </a:p>
          <a:p>
            <a:pPr marL="0" lvl="0" indent="0" algn="l" rtl="0">
              <a:spcBef>
                <a:spcPts val="750"/>
              </a:spcBef>
              <a:spcAft>
                <a:spcPts val="0"/>
              </a:spcAft>
              <a:buNone/>
            </a:pPr>
            <a:r>
              <a:rPr lang="en-US" dirty="0"/>
              <a:t>1.2 Project Aim</a:t>
            </a:r>
          </a:p>
          <a:p>
            <a:pPr marL="0" lvl="0" indent="0" algn="l" rtl="0">
              <a:spcBef>
                <a:spcPts val="750"/>
              </a:spcBef>
              <a:spcAft>
                <a:spcPts val="0"/>
              </a:spcAft>
              <a:buNone/>
            </a:pPr>
            <a:r>
              <a:rPr lang="en-US" dirty="0"/>
              <a:t>1.3 Objectives</a:t>
            </a:r>
          </a:p>
          <a:p>
            <a:pPr marL="0" lvl="0" indent="0" algn="l" rtl="0">
              <a:spcBef>
                <a:spcPts val="750"/>
              </a:spcBef>
              <a:spcAft>
                <a:spcPts val="0"/>
              </a:spcAft>
              <a:buNone/>
            </a:pPr>
            <a:r>
              <a:rPr lang="en-US" dirty="0"/>
              <a:t>1.4 Scope of Project</a:t>
            </a:r>
            <a:endParaRPr dirty="0"/>
          </a:p>
        </p:txBody>
      </p:sp>
      <p:sp>
        <p:nvSpPr>
          <p:cNvPr id="2097" name="Google Shape;2097;p29"/>
          <p:cNvSpPr txBox="1">
            <a:spLocks noGrp="1"/>
          </p:cNvSpPr>
          <p:nvPr>
            <p:ph type="title"/>
          </p:nvPr>
        </p:nvSpPr>
        <p:spPr>
          <a:xfrm>
            <a:off x="720000" y="445025"/>
            <a:ext cx="7704000" cy="572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
              <a:t>Table of contents</a:t>
            </a:r>
            <a:endParaRPr/>
          </a:p>
        </p:txBody>
      </p:sp>
      <p:sp>
        <p:nvSpPr>
          <p:cNvPr id="2098" name="Google Shape;2098;p29"/>
          <p:cNvSpPr txBox="1">
            <a:spLocks noGrp="1"/>
          </p:cNvSpPr>
          <p:nvPr>
            <p:ph type="title" idx="2"/>
          </p:nvPr>
        </p:nvSpPr>
        <p:spPr>
          <a:xfrm>
            <a:off x="778995" y="1351943"/>
            <a:ext cx="731400" cy="39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2099" name="Google Shape;2099;p29"/>
          <p:cNvSpPr txBox="1">
            <a:spLocks noGrp="1"/>
          </p:cNvSpPr>
          <p:nvPr>
            <p:ph type="title" idx="5"/>
          </p:nvPr>
        </p:nvSpPr>
        <p:spPr>
          <a:xfrm>
            <a:off x="803391" y="2931501"/>
            <a:ext cx="731400" cy="39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2100" name="Google Shape;2100;p29"/>
          <p:cNvSpPr txBox="1">
            <a:spLocks noGrp="1"/>
          </p:cNvSpPr>
          <p:nvPr>
            <p:ph type="title" idx="8"/>
          </p:nvPr>
        </p:nvSpPr>
        <p:spPr>
          <a:xfrm>
            <a:off x="4752296" y="1372800"/>
            <a:ext cx="731400" cy="39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2101" name="Google Shape;2101;p29"/>
          <p:cNvSpPr txBox="1">
            <a:spLocks noGrp="1"/>
          </p:cNvSpPr>
          <p:nvPr>
            <p:ph type="title" idx="14"/>
          </p:nvPr>
        </p:nvSpPr>
        <p:spPr>
          <a:xfrm>
            <a:off x="4768075" y="2060124"/>
            <a:ext cx="731400" cy="39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pic>
        <p:nvPicPr>
          <p:cNvPr id="2" name="Picture 1">
            <a:extLst>
              <a:ext uri="{FF2B5EF4-FFF2-40B4-BE49-F238E27FC236}">
                <a16:creationId xmlns:a16="http://schemas.microsoft.com/office/drawing/2014/main" id="{690707A2-25A3-4FA0-8F82-B521C6AE4E20}"/>
              </a:ext>
            </a:extLst>
          </p:cNvPr>
          <p:cNvPicPr>
            <a:picLocks noChangeAspect="1"/>
          </p:cNvPicPr>
          <p:nvPr/>
        </p:nvPicPr>
        <p:blipFill>
          <a:blip r:embed="rId3"/>
          <a:stretch>
            <a:fillRect/>
          </a:stretch>
        </p:blipFill>
        <p:spPr>
          <a:xfrm>
            <a:off x="4859340" y="4117727"/>
            <a:ext cx="640135" cy="469433"/>
          </a:xfrm>
          <a:prstGeom prst="rect">
            <a:avLst/>
          </a:prstGeom>
        </p:spPr>
      </p:pic>
      <p:pic>
        <p:nvPicPr>
          <p:cNvPr id="3" name="Picture 2">
            <a:extLst>
              <a:ext uri="{FF2B5EF4-FFF2-40B4-BE49-F238E27FC236}">
                <a16:creationId xmlns:a16="http://schemas.microsoft.com/office/drawing/2014/main" id="{37779FE4-F137-4C14-871B-70110E75C26C}"/>
              </a:ext>
            </a:extLst>
          </p:cNvPr>
          <p:cNvPicPr>
            <a:picLocks noChangeAspect="1"/>
          </p:cNvPicPr>
          <p:nvPr/>
        </p:nvPicPr>
        <p:blipFill>
          <a:blip r:embed="rId3"/>
          <a:stretch>
            <a:fillRect/>
          </a:stretch>
        </p:blipFill>
        <p:spPr>
          <a:xfrm>
            <a:off x="4859340" y="3591827"/>
            <a:ext cx="640135" cy="469433"/>
          </a:xfrm>
          <a:prstGeom prst="rect">
            <a:avLst/>
          </a:prstGeom>
        </p:spPr>
      </p:pic>
      <p:sp>
        <p:nvSpPr>
          <p:cNvPr id="5" name="Subtitle 4">
            <a:extLst>
              <a:ext uri="{FF2B5EF4-FFF2-40B4-BE49-F238E27FC236}">
                <a16:creationId xmlns:a16="http://schemas.microsoft.com/office/drawing/2014/main" id="{CB4AF704-1E79-41CE-ADF5-F9D5DDC700B0}"/>
              </a:ext>
            </a:extLst>
          </p:cNvPr>
          <p:cNvSpPr>
            <a:spLocks noGrp="1"/>
          </p:cNvSpPr>
          <p:nvPr>
            <p:ph type="subTitle" idx="13"/>
          </p:nvPr>
        </p:nvSpPr>
        <p:spPr>
          <a:xfrm>
            <a:off x="5319817" y="3591827"/>
            <a:ext cx="2867700" cy="525900"/>
          </a:xfrm>
        </p:spPr>
        <p:txBody>
          <a:bodyPr/>
          <a:lstStyle/>
          <a:p>
            <a:r>
              <a:rPr lang="en-US" sz="1400" b="1" dirty="0">
                <a:latin typeface="Poppins" panose="00000500000000000000" pitchFamily="2" charset="0"/>
                <a:cs typeface="Poppins" panose="00000500000000000000" pitchFamily="2" charset="0"/>
              </a:rPr>
              <a:t>Project Timeline</a:t>
            </a:r>
            <a:endParaRPr lang="en-GB" sz="1400" b="1" dirty="0">
              <a:latin typeface="Poppins" panose="00000500000000000000" pitchFamily="2" charset="0"/>
              <a:cs typeface="Poppins" panose="00000500000000000000" pitchFamily="2" charset="0"/>
            </a:endParaRPr>
          </a:p>
        </p:txBody>
      </p:sp>
      <p:pic>
        <p:nvPicPr>
          <p:cNvPr id="6" name="Picture 5">
            <a:extLst>
              <a:ext uri="{FF2B5EF4-FFF2-40B4-BE49-F238E27FC236}">
                <a16:creationId xmlns:a16="http://schemas.microsoft.com/office/drawing/2014/main" id="{BED4B215-4E2F-4695-8727-6D5C67F5C9E0}"/>
              </a:ext>
            </a:extLst>
          </p:cNvPr>
          <p:cNvPicPr>
            <a:picLocks noChangeAspect="1"/>
          </p:cNvPicPr>
          <p:nvPr/>
        </p:nvPicPr>
        <p:blipFill>
          <a:blip r:embed="rId3"/>
          <a:stretch>
            <a:fillRect/>
          </a:stretch>
        </p:blipFill>
        <p:spPr>
          <a:xfrm>
            <a:off x="4859340" y="4643627"/>
            <a:ext cx="640135" cy="469433"/>
          </a:xfrm>
          <a:prstGeom prst="rect">
            <a:avLst/>
          </a:prstGeom>
        </p:spPr>
      </p:pic>
      <p:sp>
        <p:nvSpPr>
          <p:cNvPr id="7" name="TextBox 6">
            <a:extLst>
              <a:ext uri="{FF2B5EF4-FFF2-40B4-BE49-F238E27FC236}">
                <a16:creationId xmlns:a16="http://schemas.microsoft.com/office/drawing/2014/main" id="{2F3E0C9F-D5D9-4321-B39F-0057A9BA287C}"/>
              </a:ext>
            </a:extLst>
          </p:cNvPr>
          <p:cNvSpPr txBox="1"/>
          <p:nvPr/>
        </p:nvSpPr>
        <p:spPr>
          <a:xfrm>
            <a:off x="4829248" y="3638775"/>
            <a:ext cx="727271" cy="461665"/>
          </a:xfrm>
          <a:prstGeom prst="rect">
            <a:avLst/>
          </a:prstGeom>
          <a:noFill/>
        </p:spPr>
        <p:txBody>
          <a:bodyPr wrap="square" rtlCol="0">
            <a:spAutoFit/>
          </a:bodyPr>
          <a:lstStyle/>
          <a:p>
            <a:r>
              <a:rPr lang="en-US" sz="2400" b="1" dirty="0">
                <a:latin typeface="Poppins" panose="00000500000000000000" pitchFamily="2" charset="0"/>
                <a:cs typeface="Poppins" panose="00000500000000000000" pitchFamily="2" charset="0"/>
              </a:rPr>
              <a:t>05</a:t>
            </a:r>
            <a:endParaRPr lang="en-GB" sz="2400" b="1" dirty="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3C110E0F-C356-4146-BCF4-BF90AD6AFE4F}"/>
              </a:ext>
            </a:extLst>
          </p:cNvPr>
          <p:cNvSpPr txBox="1"/>
          <p:nvPr/>
        </p:nvSpPr>
        <p:spPr>
          <a:xfrm>
            <a:off x="4848734" y="4135014"/>
            <a:ext cx="602428" cy="461665"/>
          </a:xfrm>
          <a:prstGeom prst="rect">
            <a:avLst/>
          </a:prstGeom>
          <a:noFill/>
        </p:spPr>
        <p:txBody>
          <a:bodyPr wrap="square" rtlCol="0">
            <a:spAutoFit/>
          </a:bodyPr>
          <a:lstStyle/>
          <a:p>
            <a:r>
              <a:rPr lang="en-US" sz="2400" b="1" dirty="0">
                <a:latin typeface="Poppins" panose="00000500000000000000" pitchFamily="2" charset="0"/>
                <a:cs typeface="Poppins" panose="00000500000000000000" pitchFamily="2" charset="0"/>
              </a:rPr>
              <a:t>06</a:t>
            </a:r>
            <a:endParaRPr lang="en-GB" sz="2400" b="1" dirty="0">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32388080-7EF3-48A2-8E43-52FA2AFBCCE5}"/>
              </a:ext>
            </a:extLst>
          </p:cNvPr>
          <p:cNvSpPr txBox="1"/>
          <p:nvPr/>
        </p:nvSpPr>
        <p:spPr>
          <a:xfrm>
            <a:off x="4858075" y="4681835"/>
            <a:ext cx="593087" cy="461665"/>
          </a:xfrm>
          <a:prstGeom prst="rect">
            <a:avLst/>
          </a:prstGeom>
          <a:noFill/>
        </p:spPr>
        <p:txBody>
          <a:bodyPr wrap="square" rtlCol="0">
            <a:spAutoFit/>
          </a:bodyPr>
          <a:lstStyle/>
          <a:p>
            <a:r>
              <a:rPr lang="en-US" sz="2400" b="1" dirty="0">
                <a:latin typeface="Poppins" panose="00000500000000000000" pitchFamily="2" charset="0"/>
                <a:cs typeface="Poppins" panose="00000500000000000000" pitchFamily="2" charset="0"/>
              </a:rPr>
              <a:t>08</a:t>
            </a:r>
            <a:endParaRPr lang="en-GB" sz="2400" b="1" dirty="0">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1F80CB9C-7B99-4095-BD2D-D5732787FD24}"/>
              </a:ext>
            </a:extLst>
          </p:cNvPr>
          <p:cNvSpPr txBox="1"/>
          <p:nvPr/>
        </p:nvSpPr>
        <p:spPr>
          <a:xfrm>
            <a:off x="5470648" y="4761005"/>
            <a:ext cx="2301766"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References</a:t>
            </a:r>
            <a:endParaRPr lang="en-GB" b="1"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B51C6AE6-ED85-49D4-8FDB-6F7009238BE2}"/>
              </a:ext>
            </a:extLst>
          </p:cNvPr>
          <p:cNvSpPr txBox="1"/>
          <p:nvPr/>
        </p:nvSpPr>
        <p:spPr>
          <a:xfrm>
            <a:off x="5461768" y="4211957"/>
            <a:ext cx="2526680"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Risk Analysis</a:t>
            </a:r>
            <a:endParaRPr lang="en-GB" b="1" dirty="0">
              <a:latin typeface="Poppins" panose="00000500000000000000" pitchFamily="2" charset="0"/>
              <a:cs typeface="Poppins"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2134914" y="494459"/>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 dirty="0"/>
              <a:t>Introduction</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4" name="TextBox 3">
            <a:extLst>
              <a:ext uri="{FF2B5EF4-FFF2-40B4-BE49-F238E27FC236}">
                <a16:creationId xmlns:a16="http://schemas.microsoft.com/office/drawing/2014/main" id="{667B78E5-8445-4A52-95AA-3AE6026625E9}"/>
              </a:ext>
            </a:extLst>
          </p:cNvPr>
          <p:cNvSpPr txBox="1"/>
          <p:nvPr/>
        </p:nvSpPr>
        <p:spPr>
          <a:xfrm>
            <a:off x="1166649" y="1891862"/>
            <a:ext cx="5565227" cy="400110"/>
          </a:xfrm>
          <a:prstGeom prst="rect">
            <a:avLst/>
          </a:prstGeom>
          <a:noFill/>
        </p:spPr>
        <p:txBody>
          <a:bodyPr wrap="square" rtlCol="0">
            <a:spAutoFit/>
          </a:bodyPr>
          <a:lstStyle/>
          <a:p>
            <a:r>
              <a:rPr lang="en-US" sz="2000" dirty="0">
                <a:latin typeface="Arial Black" panose="020B0A04020102020204" pitchFamily="34" charset="0"/>
              </a:rPr>
              <a:t>Project Background and Description</a:t>
            </a:r>
            <a:endParaRPr lang="en-GB" sz="2000" dirty="0">
              <a:latin typeface="Arial Black" panose="020B0A04020102020204" pitchFamily="34" charset="0"/>
            </a:endParaRPr>
          </a:p>
        </p:txBody>
      </p:sp>
      <p:sp>
        <p:nvSpPr>
          <p:cNvPr id="6" name="TextBox 5">
            <a:extLst>
              <a:ext uri="{FF2B5EF4-FFF2-40B4-BE49-F238E27FC236}">
                <a16:creationId xmlns:a16="http://schemas.microsoft.com/office/drawing/2014/main" id="{B2003873-B356-44A9-88B6-D17BB7CC4C38}"/>
              </a:ext>
            </a:extLst>
          </p:cNvPr>
          <p:cNvSpPr txBox="1"/>
          <p:nvPr/>
        </p:nvSpPr>
        <p:spPr>
          <a:xfrm>
            <a:off x="5407572" y="2417861"/>
            <a:ext cx="3468413" cy="2462213"/>
          </a:xfrm>
          <a:prstGeom prst="rect">
            <a:avLst/>
          </a:prstGeom>
          <a:noFill/>
        </p:spPr>
        <p:txBody>
          <a:bodyPr wrap="square" rtlCol="0">
            <a:spAutoFit/>
          </a:bodyPr>
          <a:lstStyle/>
          <a:p>
            <a:r>
              <a:rPr lang="en-US" dirty="0" err="1"/>
              <a:t>What VeriScreen does</a:t>
            </a:r>
            <a:r>
              <a:rPr lang="en-US" dirty="0"/>
              <a:t/>
            </a:r>
          </a:p>
          <a:p>
            <a:endParaRPr lang="en-US" dirty="0"/>
          </a:p>
          <a:p>
            <a:pPr marL="285750" indent="-285750">
              <a:buFont typeface="Arial" panose="020B0604020202020204" pitchFamily="34" charset="0"/>
              <a:buChar char="•"/>
            </a:pPr>
            <a:r>
              <a:rPr lang="en-US" dirty="0"/>
              <a:t>Student portal for verified academic documents</a:t>
            </a:r>
          </a:p>
          <a:p>
            <a:pPr marL="285750" indent="-285750">
              <a:buFont typeface="Arial" panose="020B0604020202020204" pitchFamily="34" charset="0"/>
              <a:buChar char="•"/>
            </a:pPr>
            <a:r>
              <a:rPr lang="en-US" dirty="0"/>
              <a:t>PDFs sealed with a QR code and an issued time</a:t>
            </a:r>
          </a:p>
          <a:p>
            <a:pPr marL="285750" indent="-285750">
              <a:buFont typeface="Arial" panose="020B0604020202020204" pitchFamily="34" charset="0"/>
              <a:buChar char="•"/>
            </a:pPr>
            <a:r>
              <a:rPr lang="en-US" dirty="0"/>
              <a:t>Phone page that says whether the document was issued</a:t>
            </a:r>
          </a:p>
          <a:p>
            <a:pPr marL="285750" indent="-285750">
              <a:buFont typeface="Arial" panose="020B0604020202020204" pitchFamily="34" charset="0"/>
              <a:buChar char="•"/>
            </a:pPr>
            <a:r>
              <a:rPr lang="en-US" dirty="0"/>
              <a:t>HELSB tracker from Submitted to Disbursement</a:t>
            </a:r>
          </a:p>
          <a:p>
            <a:pPr marL="285750" indent="-285750">
              <a:buFont typeface="Arial" panose="020B0604020202020204" pitchFamily="34" charset="0"/>
              <a:buChar char="•"/>
            </a:pPr>
            <a:r>
              <a:rPr lang="en-US" dirty="0"/>
              <a:t>Plain-language screening sentence</a:t>
            </a:r>
          </a:p>
          <a:p>
            <a:pPr marL="285750" indent="-285750">
              <a:buFont typeface="Arial" panose="020B0604020202020204" pitchFamily="34" charset="0"/>
              <a:buChar char="•"/>
            </a:pPr>
            <a:r>
              <a:rPr lang="en-US" dirty="0"/>
              <a:t>Same stage on the student dashboard and the officer portal</a:t>
            </a:r>
            <a:endParaRPr lang="en-GB" dirty="0"/>
          </a:p>
        </p:txBody>
      </p:sp>
      <p:sp>
        <p:nvSpPr>
          <p:cNvPr id="7" name="TextBox 6">
            <a:extLst>
              <a:ext uri="{FF2B5EF4-FFF2-40B4-BE49-F238E27FC236}">
                <a16:creationId xmlns:a16="http://schemas.microsoft.com/office/drawing/2014/main" id="{52806E12-A225-4A44-B40B-9E9561D7B671}"/>
              </a:ext>
            </a:extLst>
          </p:cNvPr>
          <p:cNvSpPr txBox="1"/>
          <p:nvPr/>
        </p:nvSpPr>
        <p:spPr>
          <a:xfrm>
            <a:off x="1166649" y="2464775"/>
            <a:ext cx="3405351" cy="2677656"/>
          </a:xfrm>
          <a:prstGeom prst="rect">
            <a:avLst/>
          </a:prstGeom>
          <a:noFill/>
        </p:spPr>
        <p:txBody>
          <a:bodyPr wrap="square" rtlCol="0">
            <a:spAutoFit/>
          </a:bodyPr>
          <a:lstStyle/>
          <a:p>
            <a:r>
              <a:rPr lang="en-US" b="1" dirty="0"/>
              <a:t>The current difficulty</a:t>
            </a:r>
          </a:p>
          <a:p>
            <a:endParaRPr lang="en-US" dirty="0"/>
          </a:p>
          <a:p>
            <a:pPr marL="285750" indent="-285750">
              <a:buFont typeface="Arial" panose="020B0604020202020204" pitchFamily="34" charset="0"/>
              <a:buChar char="•"/>
            </a:pPr>
            <a:r>
              <a:rPr lang="en-US" dirty="0"/>
              <a:t>Students still depend on a visit for a stamped document</a:t>
            </a:r>
          </a:p>
          <a:p>
            <a:pPr marL="285750" indent="-285750">
              <a:buFont typeface="Arial" panose="020B0604020202020204" pitchFamily="34" charset="0"/>
              <a:buChar char="•"/>
            </a:pPr>
            <a:r>
              <a:rPr lang="en-US" dirty="0"/>
              <a:t>A screenshot is easy to alter and hard to check</a:t>
            </a:r>
          </a:p>
          <a:p>
            <a:pPr marL="285750" indent="-285750">
              <a:buFont typeface="Arial" panose="020B0604020202020204" pitchFamily="34" charset="0"/>
              <a:buChar char="•"/>
            </a:pPr>
            <a:r>
              <a:rPr lang="en-US" dirty="0"/>
              <a:t>A loan status such as Approved does not explain the record</a:t>
            </a:r>
          </a:p>
          <a:p>
            <a:pPr marL="285750" indent="-285750">
              <a:buFont typeface="Arial" panose="020B0604020202020204" pitchFamily="34" charset="0"/>
              <a:buChar char="•"/>
            </a:pPr>
            <a:r>
              <a:rPr lang="en-US" dirty="0"/>
              <a:t>Distance from campus makes collection slow</a:t>
            </a:r>
          </a:p>
          <a:p>
            <a:pPr marL="285750" indent="-285750">
              <a:buFont typeface="Arial" panose="020B0604020202020204" pitchFamily="34" charset="0"/>
              <a:buChar char="•"/>
            </a:pPr>
            <a:r>
              <a:rPr lang="en-US" dirty="0"/>
              <a:t>The university record and the loan office are separate</a:t>
            </a:r>
          </a:p>
          <a:p>
            <a:pPr marL="285750" indent="-285750">
              <a:buFont typeface="Arial" panose="020B0604020202020204" pitchFamily="34" charset="0"/>
              <a:buChar char="•"/>
            </a:pPr>
            <a:r>
              <a:rPr lang="en-US" dirty="0"/>
              <a:t>There is no shared sentence the student and the officer both see</a:t>
            </a:r>
            <a:endParaRPr lang="en-GB" dirty="0"/>
          </a:p>
        </p:txBody>
      </p:sp>
      <p:pic>
        <p:nvPicPr>
          <p:cNvPr id="8" name="Picture 7">
            <a:extLst>
              <a:ext uri="{FF2B5EF4-FFF2-40B4-BE49-F238E27FC236}">
                <a16:creationId xmlns:a16="http://schemas.microsoft.com/office/drawing/2014/main" id="{C6998D07-9F91-4AEA-8BA7-04C06FDC794D}"/>
              </a:ext>
            </a:extLst>
          </p:cNvPr>
          <p:cNvPicPr>
            <a:picLocks noChangeAspect="1"/>
          </p:cNvPicPr>
          <p:nvPr/>
        </p:nvPicPr>
        <p:blipFill>
          <a:blip r:embed="rId3"/>
          <a:stretch>
            <a:fillRect/>
          </a:stretch>
        </p:blipFill>
        <p:spPr>
          <a:xfrm>
            <a:off x="5117195" y="2353009"/>
            <a:ext cx="311881" cy="539794"/>
          </a:xfrm>
          <a:prstGeom prst="rect">
            <a:avLst/>
          </a:prstGeom>
        </p:spPr>
      </p:pic>
      <p:pic>
        <p:nvPicPr>
          <p:cNvPr id="9" name="Picture 8">
            <a:extLst>
              <a:ext uri="{FF2B5EF4-FFF2-40B4-BE49-F238E27FC236}">
                <a16:creationId xmlns:a16="http://schemas.microsoft.com/office/drawing/2014/main" id="{302CEB8B-4DF7-4B59-8108-0DE894FC3028}"/>
              </a:ext>
            </a:extLst>
          </p:cNvPr>
          <p:cNvPicPr>
            <a:picLocks noChangeAspect="1"/>
          </p:cNvPicPr>
          <p:nvPr/>
        </p:nvPicPr>
        <p:blipFill>
          <a:blip r:embed="rId4"/>
          <a:stretch>
            <a:fillRect/>
          </a:stretch>
        </p:blipFill>
        <p:spPr>
          <a:xfrm>
            <a:off x="810754" y="2311735"/>
            <a:ext cx="421414" cy="5397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32"/>
          <p:cNvSpPr txBox="1">
            <a:spLocks noGrp="1"/>
          </p:cNvSpPr>
          <p:nvPr>
            <p:ph type="subTitle" idx="1"/>
          </p:nvPr>
        </p:nvSpPr>
        <p:spPr>
          <a:xfrm>
            <a:off x="1310450" y="1108552"/>
            <a:ext cx="2907600" cy="4257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1600"/>
              <a:buNone/>
            </a:pPr>
            <a:r>
              <a:rPr lang="en" sz="1800" dirty="0"/>
              <a:t>Challenge 1: Document Accessibility</a:t>
            </a:r>
            <a:endParaRPr sz="1800" dirty="0"/>
          </a:p>
        </p:txBody>
      </p:sp>
      <p:sp>
        <p:nvSpPr>
          <p:cNvPr id="2239" name="Google Shape;2239;p32"/>
          <p:cNvSpPr txBox="1">
            <a:spLocks noGrp="1"/>
          </p:cNvSpPr>
          <p:nvPr>
            <p:ph type="subTitle" idx="2"/>
          </p:nvPr>
        </p:nvSpPr>
        <p:spPr>
          <a:xfrm>
            <a:off x="5360279" y="995062"/>
            <a:ext cx="2907600" cy="425700"/>
          </a:xfrm>
          <a:prstGeom prst="rect">
            <a:avLst/>
          </a:prstGeom>
        </p:spPr>
        <p:txBody>
          <a:bodyPr spcFirstLastPara="1" wrap="square" lIns="91425" tIns="45700" rIns="91425" bIns="45700" anchor="t" anchorCtr="0">
            <a:noAutofit/>
          </a:bodyPr>
          <a:lstStyle/>
          <a:p>
            <a:pPr marL="0" lvl="0" indent="0" algn="l" rtl="0">
              <a:spcBef>
                <a:spcPts val="750"/>
              </a:spcBef>
              <a:spcAft>
                <a:spcPts val="0"/>
              </a:spcAft>
              <a:buSzPts val="1600"/>
              <a:buNone/>
            </a:pPr>
            <a:r>
              <a:rPr lang="en" sz="1800" dirty="0"/>
              <a:t>Challenge 2: Loan Application verification</a:t>
            </a:r>
            <a:endParaRPr sz="1800" dirty="0"/>
          </a:p>
        </p:txBody>
      </p:sp>
      <p:sp>
        <p:nvSpPr>
          <p:cNvPr id="2240" name="Google Shape;2240;p32"/>
          <p:cNvSpPr txBox="1">
            <a:spLocks noGrp="1"/>
          </p:cNvSpPr>
          <p:nvPr>
            <p:ph type="subTitle" idx="3"/>
          </p:nvPr>
        </p:nvSpPr>
        <p:spPr>
          <a:xfrm>
            <a:off x="720000" y="1770145"/>
            <a:ext cx="3852000" cy="1989868"/>
          </a:xfrm>
          <a:prstGeom prst="rect">
            <a:avLst/>
          </a:prstGeom>
        </p:spPr>
        <p:txBody>
          <a:bodyPr spcFirstLastPara="1" wrap="square" lIns="91425" tIns="45700" rIns="91425" bIns="45700" anchor="t" anchorCtr="0">
            <a:noAutofit/>
          </a:bodyPr>
          <a:lstStyle/>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A document has to be collected in person</a:t>
            </a: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Queues and repeat visits take study time</a:t>
            </a:r>
            <a:endParaRPr lang="en-US" dirty="0">
              <a:solidFill>
                <a:schemeClr val="bg1">
                  <a:lumMod val="10000"/>
                </a:schemeClr>
              </a:solidFill>
              <a:latin typeface="Libre Baskerville"/>
              <a:ea typeface="Libre Baskerville"/>
              <a:cs typeface="Libre Baskerville"/>
              <a:sym typeface="Libre Baskerville"/>
            </a:endParaRP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Each new copy needs another stamp</a:t>
            </a: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Distance learners are the most affected</a:t>
            </a:r>
            <a:endParaRPr lang="en-US" dirty="0">
              <a:solidFill>
                <a:schemeClr val="bg1">
                  <a:lumMod val="10000"/>
                </a:schemeClr>
              </a:solidFill>
              <a:latin typeface="Libre Baskerville"/>
              <a:ea typeface="Libre Baskerville"/>
              <a:cs typeface="Libre Baskerville"/>
              <a:sym typeface="Libre Baskerville"/>
            </a:endParaRP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There is no self-service verified copy</a:t>
            </a: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The record is digital, but the proof is still paper</a:t>
            </a:r>
            <a:endParaRPr lang="en-GB" dirty="0">
              <a:solidFill>
                <a:schemeClr val="bg1">
                  <a:lumMod val="10000"/>
                </a:schemeClr>
              </a:solidFill>
            </a:endParaRPr>
          </a:p>
        </p:txBody>
      </p:sp>
      <p:sp>
        <p:nvSpPr>
          <p:cNvPr id="2241" name="Google Shape;2241;p32"/>
          <p:cNvSpPr txBox="1">
            <a:spLocks noGrp="1"/>
          </p:cNvSpPr>
          <p:nvPr>
            <p:ph type="subTitle" idx="4"/>
          </p:nvPr>
        </p:nvSpPr>
        <p:spPr>
          <a:xfrm>
            <a:off x="4782212" y="1737734"/>
            <a:ext cx="3747311" cy="1167000"/>
          </a:xfrm>
          <a:prstGeom prst="rect">
            <a:avLst/>
          </a:prstGeom>
        </p:spPr>
        <p:txBody>
          <a:bodyPr spcFirstLastPara="1" wrap="square" lIns="91425" tIns="45700" rIns="91425" bIns="45700" anchor="t" anchorCtr="0">
            <a:noAutofit/>
          </a:bodyPr>
          <a:lstStyle/>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Students re-download and re-upload the same files</a:t>
            </a: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Checking a file by hand delays a loan decision</a:t>
            </a:r>
            <a:endParaRPr lang="en-US" dirty="0">
              <a:solidFill>
                <a:schemeClr val="bg1">
                  <a:lumMod val="10000"/>
                </a:schemeClr>
              </a:solidFill>
              <a:latin typeface="Libre Baskerville"/>
              <a:ea typeface="Libre Baskerville"/>
              <a:cs typeface="Libre Baskerville"/>
              <a:sym typeface="Libre Baskerville"/>
            </a:endParaRP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A copied PDF can be changed before it is sent</a:t>
            </a: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Officers repeat work the university record already holds</a:t>
            </a:r>
            <a:endParaRPr lang="en-US" dirty="0">
              <a:solidFill>
                <a:schemeClr val="bg1">
                  <a:lumMod val="10000"/>
                </a:schemeClr>
              </a:solidFill>
              <a:latin typeface="Libre Baskerville"/>
              <a:ea typeface="Libre Baskerville"/>
              <a:cs typeface="Libre Baskerville"/>
              <a:sym typeface="Libre Baskerville"/>
            </a:endParaRPr>
          </a:p>
          <a:p>
            <a:pPr marL="171450" lvl="0" indent="-171450" algn="l" rtl="0">
              <a:spcBef>
                <a:spcPts val="750"/>
              </a:spcBef>
              <a:spcAft>
                <a:spcPts val="0"/>
              </a:spcAft>
              <a:buFont typeface="Arial" panose="020B0604020202020204" pitchFamily="34" charset="0"/>
              <a:buChar char="•"/>
            </a:pPr>
            <a:r>
              <a:rPr lang="en-US" sz="1200" dirty="0">
                <a:solidFill>
                  <a:schemeClr val="bg1">
                    <a:lumMod val="10000"/>
                  </a:schemeClr>
                </a:solidFill>
                <a:latin typeface="Libre Baskerville"/>
                <a:ea typeface="Libre Baskerville"/>
                <a:cs typeface="Libre Baskerville"/>
                <a:sym typeface="Libre Baskerville"/>
              </a:rPr>
              <a:t>Students cannot see why a decision was reached</a:t>
            </a:r>
            <a:endParaRPr dirty="0">
              <a:solidFill>
                <a:schemeClr val="bg1">
                  <a:lumMod val="10000"/>
                </a:schemeClr>
              </a:solidFill>
            </a:endParaRPr>
          </a:p>
        </p:txBody>
      </p:sp>
      <p:sp>
        <p:nvSpPr>
          <p:cNvPr id="2242" name="Google Shape;2242;p32"/>
          <p:cNvSpPr txBox="1">
            <a:spLocks noGrp="1"/>
          </p:cNvSpPr>
          <p:nvPr>
            <p:ph type="title"/>
          </p:nvPr>
        </p:nvSpPr>
        <p:spPr>
          <a:xfrm>
            <a:off x="720000" y="445025"/>
            <a:ext cx="7704000" cy="572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dirty="0"/>
              <a:t>Problem Statement</a:t>
            </a:r>
            <a:endParaRPr dirty="0"/>
          </a:p>
        </p:txBody>
      </p:sp>
      <p:sp>
        <p:nvSpPr>
          <p:cNvPr id="2243" name="Google Shape;2243;p32"/>
          <p:cNvSpPr/>
          <p:nvPr/>
        </p:nvSpPr>
        <p:spPr>
          <a:xfrm>
            <a:off x="720000" y="1106024"/>
            <a:ext cx="634500" cy="634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44" name="Google Shape;2244;p32"/>
          <p:cNvSpPr/>
          <p:nvPr/>
        </p:nvSpPr>
        <p:spPr>
          <a:xfrm>
            <a:off x="4782212" y="1034972"/>
            <a:ext cx="634500" cy="634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2245" name="Google Shape;2245;p32"/>
          <p:cNvGrpSpPr/>
          <p:nvPr/>
        </p:nvGrpSpPr>
        <p:grpSpPr>
          <a:xfrm>
            <a:off x="4917798" y="1138954"/>
            <a:ext cx="393701" cy="395298"/>
            <a:chOff x="1622425" y="1658938"/>
            <a:chExt cx="393701" cy="395298"/>
          </a:xfrm>
        </p:grpSpPr>
        <p:sp>
          <p:nvSpPr>
            <p:cNvPr id="2246" name="Google Shape;2246;p32"/>
            <p:cNvSpPr/>
            <p:nvPr/>
          </p:nvSpPr>
          <p:spPr>
            <a:xfrm>
              <a:off x="1689100" y="1727200"/>
              <a:ext cx="258768" cy="258768"/>
            </a:xfrm>
            <a:custGeom>
              <a:avLst/>
              <a:gdLst/>
              <a:ahLst/>
              <a:cxnLst/>
              <a:rect l="l" t="t" r="r" b="b"/>
              <a:pathLst>
                <a:path w="6650" h="6650" extrusionOk="0">
                  <a:moveTo>
                    <a:pt x="6281" y="1802"/>
                  </a:moveTo>
                  <a:cubicBezTo>
                    <a:pt x="6048" y="1350"/>
                    <a:pt x="5708" y="951"/>
                    <a:pt x="5297" y="648"/>
                  </a:cubicBezTo>
                  <a:cubicBezTo>
                    <a:pt x="5231" y="600"/>
                    <a:pt x="5138" y="614"/>
                    <a:pt x="5089" y="680"/>
                  </a:cubicBezTo>
                  <a:cubicBezTo>
                    <a:pt x="5040" y="746"/>
                    <a:pt x="5054" y="839"/>
                    <a:pt x="5121" y="888"/>
                  </a:cubicBezTo>
                  <a:cubicBezTo>
                    <a:pt x="5892" y="1457"/>
                    <a:pt x="6352" y="2368"/>
                    <a:pt x="6352" y="3325"/>
                  </a:cubicBezTo>
                  <a:cubicBezTo>
                    <a:pt x="6352" y="4994"/>
                    <a:pt x="4994" y="6352"/>
                    <a:pt x="3325" y="6352"/>
                  </a:cubicBezTo>
                  <a:cubicBezTo>
                    <a:pt x="1656" y="6352"/>
                    <a:pt x="298" y="4994"/>
                    <a:pt x="298" y="3325"/>
                  </a:cubicBezTo>
                  <a:cubicBezTo>
                    <a:pt x="298" y="1656"/>
                    <a:pt x="1656" y="298"/>
                    <a:pt x="3325" y="298"/>
                  </a:cubicBezTo>
                  <a:cubicBezTo>
                    <a:pt x="3757" y="298"/>
                    <a:pt x="4174" y="387"/>
                    <a:pt x="4564" y="563"/>
                  </a:cubicBezTo>
                  <a:cubicBezTo>
                    <a:pt x="4638" y="596"/>
                    <a:pt x="4728" y="562"/>
                    <a:pt x="4761" y="488"/>
                  </a:cubicBezTo>
                  <a:cubicBezTo>
                    <a:pt x="4794" y="414"/>
                    <a:pt x="4760" y="324"/>
                    <a:pt x="4686" y="291"/>
                  </a:cubicBezTo>
                  <a:cubicBezTo>
                    <a:pt x="4257" y="98"/>
                    <a:pt x="3799" y="0"/>
                    <a:pt x="3325" y="0"/>
                  </a:cubicBezTo>
                  <a:cubicBezTo>
                    <a:pt x="1491" y="0"/>
                    <a:pt x="0" y="1492"/>
                    <a:pt x="0" y="3325"/>
                  </a:cubicBezTo>
                  <a:cubicBezTo>
                    <a:pt x="0" y="5158"/>
                    <a:pt x="1491" y="6650"/>
                    <a:pt x="3325" y="6650"/>
                  </a:cubicBezTo>
                  <a:cubicBezTo>
                    <a:pt x="5158" y="6650"/>
                    <a:pt x="6650" y="5158"/>
                    <a:pt x="6650" y="3325"/>
                  </a:cubicBezTo>
                  <a:cubicBezTo>
                    <a:pt x="6650" y="2796"/>
                    <a:pt x="6522" y="2269"/>
                    <a:pt x="6281" y="1802"/>
                  </a:cubicBezTo>
                  <a:close/>
                  <a:moveTo>
                    <a:pt x="6281" y="1802"/>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7" name="Google Shape;2247;p32"/>
            <p:cNvSpPr/>
            <p:nvPr/>
          </p:nvSpPr>
          <p:spPr>
            <a:xfrm>
              <a:off x="1727200" y="1763713"/>
              <a:ext cx="184150" cy="185739"/>
            </a:xfrm>
            <a:custGeom>
              <a:avLst/>
              <a:gdLst/>
              <a:ahLst/>
              <a:cxnLst/>
              <a:rect l="l" t="t" r="r" b="b"/>
              <a:pathLst>
                <a:path w="4744" h="4744" extrusionOk="0">
                  <a:moveTo>
                    <a:pt x="2372" y="0"/>
                  </a:moveTo>
                  <a:cubicBezTo>
                    <a:pt x="1064" y="0"/>
                    <a:pt x="0" y="1064"/>
                    <a:pt x="0" y="2372"/>
                  </a:cubicBezTo>
                  <a:cubicBezTo>
                    <a:pt x="0" y="3680"/>
                    <a:pt x="1064" y="4744"/>
                    <a:pt x="2372" y="4744"/>
                  </a:cubicBezTo>
                  <a:cubicBezTo>
                    <a:pt x="3680" y="4744"/>
                    <a:pt x="4744" y="3680"/>
                    <a:pt x="4744" y="2372"/>
                  </a:cubicBezTo>
                  <a:cubicBezTo>
                    <a:pt x="4744" y="1064"/>
                    <a:pt x="3680" y="0"/>
                    <a:pt x="2372" y="0"/>
                  </a:cubicBezTo>
                  <a:close/>
                  <a:moveTo>
                    <a:pt x="2372" y="4446"/>
                  </a:moveTo>
                  <a:cubicBezTo>
                    <a:pt x="1228" y="4446"/>
                    <a:pt x="298" y="3516"/>
                    <a:pt x="298" y="2372"/>
                  </a:cubicBezTo>
                  <a:cubicBezTo>
                    <a:pt x="298" y="1228"/>
                    <a:pt x="1228" y="298"/>
                    <a:pt x="2372" y="298"/>
                  </a:cubicBezTo>
                  <a:cubicBezTo>
                    <a:pt x="3516" y="298"/>
                    <a:pt x="4446" y="1228"/>
                    <a:pt x="4446" y="2372"/>
                  </a:cubicBezTo>
                  <a:cubicBezTo>
                    <a:pt x="4446" y="3516"/>
                    <a:pt x="3516" y="4446"/>
                    <a:pt x="2372" y="4446"/>
                  </a:cubicBezTo>
                  <a:close/>
                  <a:moveTo>
                    <a:pt x="2372" y="4446"/>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8" name="Google Shape;2248;p32"/>
            <p:cNvSpPr/>
            <p:nvPr/>
          </p:nvSpPr>
          <p:spPr>
            <a:xfrm>
              <a:off x="1789113" y="1789113"/>
              <a:ext cx="60325" cy="134939"/>
            </a:xfrm>
            <a:custGeom>
              <a:avLst/>
              <a:gdLst/>
              <a:ahLst/>
              <a:cxnLst/>
              <a:rect l="l" t="t" r="r" b="b"/>
              <a:pathLst>
                <a:path w="1568" h="3474" extrusionOk="0">
                  <a:moveTo>
                    <a:pt x="1419" y="1410"/>
                  </a:moveTo>
                  <a:cubicBezTo>
                    <a:pt x="1501" y="1410"/>
                    <a:pt x="1568" y="1343"/>
                    <a:pt x="1568" y="1261"/>
                  </a:cubicBezTo>
                  <a:lnTo>
                    <a:pt x="1568" y="1102"/>
                  </a:lnTo>
                  <a:cubicBezTo>
                    <a:pt x="1568" y="757"/>
                    <a:pt x="1287" y="477"/>
                    <a:pt x="943" y="477"/>
                  </a:cubicBezTo>
                  <a:lnTo>
                    <a:pt x="933" y="477"/>
                  </a:lnTo>
                  <a:lnTo>
                    <a:pt x="933" y="149"/>
                  </a:lnTo>
                  <a:cubicBezTo>
                    <a:pt x="933" y="67"/>
                    <a:pt x="866" y="0"/>
                    <a:pt x="784" y="0"/>
                  </a:cubicBezTo>
                  <a:cubicBezTo>
                    <a:pt x="702" y="0"/>
                    <a:pt x="635" y="67"/>
                    <a:pt x="635" y="149"/>
                  </a:cubicBezTo>
                  <a:lnTo>
                    <a:pt x="635" y="480"/>
                  </a:lnTo>
                  <a:cubicBezTo>
                    <a:pt x="279" y="515"/>
                    <a:pt x="0" y="816"/>
                    <a:pt x="0" y="1181"/>
                  </a:cubicBezTo>
                  <a:cubicBezTo>
                    <a:pt x="0" y="1570"/>
                    <a:pt x="316" y="1886"/>
                    <a:pt x="704" y="1886"/>
                  </a:cubicBezTo>
                  <a:lnTo>
                    <a:pt x="863" y="1886"/>
                  </a:lnTo>
                  <a:cubicBezTo>
                    <a:pt x="1088" y="1886"/>
                    <a:pt x="1270" y="2069"/>
                    <a:pt x="1270" y="2293"/>
                  </a:cubicBezTo>
                  <a:cubicBezTo>
                    <a:pt x="1270" y="2517"/>
                    <a:pt x="1088" y="2700"/>
                    <a:pt x="863" y="2700"/>
                  </a:cubicBezTo>
                  <a:lnTo>
                    <a:pt x="625" y="2700"/>
                  </a:lnTo>
                  <a:cubicBezTo>
                    <a:pt x="444" y="2700"/>
                    <a:pt x="297" y="2553"/>
                    <a:pt x="297" y="2372"/>
                  </a:cubicBezTo>
                  <a:cubicBezTo>
                    <a:pt x="297" y="2290"/>
                    <a:pt x="231" y="2223"/>
                    <a:pt x="149" y="2223"/>
                  </a:cubicBezTo>
                  <a:cubicBezTo>
                    <a:pt x="66" y="2223"/>
                    <a:pt x="0" y="2290"/>
                    <a:pt x="0" y="2372"/>
                  </a:cubicBezTo>
                  <a:cubicBezTo>
                    <a:pt x="0" y="2717"/>
                    <a:pt x="280" y="2998"/>
                    <a:pt x="625" y="2998"/>
                  </a:cubicBezTo>
                  <a:lnTo>
                    <a:pt x="635" y="2998"/>
                  </a:lnTo>
                  <a:lnTo>
                    <a:pt x="635" y="3325"/>
                  </a:lnTo>
                  <a:cubicBezTo>
                    <a:pt x="635" y="3407"/>
                    <a:pt x="702" y="3474"/>
                    <a:pt x="784" y="3474"/>
                  </a:cubicBezTo>
                  <a:cubicBezTo>
                    <a:pt x="866" y="3474"/>
                    <a:pt x="933" y="3407"/>
                    <a:pt x="933" y="3325"/>
                  </a:cubicBezTo>
                  <a:lnTo>
                    <a:pt x="933" y="2994"/>
                  </a:lnTo>
                  <a:cubicBezTo>
                    <a:pt x="1289" y="2959"/>
                    <a:pt x="1568" y="2658"/>
                    <a:pt x="1568" y="2293"/>
                  </a:cubicBezTo>
                  <a:cubicBezTo>
                    <a:pt x="1568" y="1904"/>
                    <a:pt x="1252" y="1588"/>
                    <a:pt x="863" y="1588"/>
                  </a:cubicBezTo>
                  <a:lnTo>
                    <a:pt x="704" y="1588"/>
                  </a:lnTo>
                  <a:cubicBezTo>
                    <a:pt x="480" y="1588"/>
                    <a:pt x="298" y="1406"/>
                    <a:pt x="298" y="1181"/>
                  </a:cubicBezTo>
                  <a:cubicBezTo>
                    <a:pt x="298" y="957"/>
                    <a:pt x="480" y="774"/>
                    <a:pt x="704" y="774"/>
                  </a:cubicBezTo>
                  <a:lnTo>
                    <a:pt x="943" y="774"/>
                  </a:lnTo>
                  <a:cubicBezTo>
                    <a:pt x="1123" y="774"/>
                    <a:pt x="1270" y="921"/>
                    <a:pt x="1270" y="1102"/>
                  </a:cubicBezTo>
                  <a:lnTo>
                    <a:pt x="1270" y="1261"/>
                  </a:lnTo>
                  <a:cubicBezTo>
                    <a:pt x="1270" y="1343"/>
                    <a:pt x="1337" y="1410"/>
                    <a:pt x="1419" y="1410"/>
                  </a:cubicBezTo>
                  <a:close/>
                  <a:moveTo>
                    <a:pt x="1419" y="1410"/>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9" name="Google Shape;2249;p32"/>
            <p:cNvSpPr/>
            <p:nvPr/>
          </p:nvSpPr>
          <p:spPr>
            <a:xfrm>
              <a:off x="1622425" y="1658938"/>
              <a:ext cx="393701" cy="395298"/>
            </a:xfrm>
            <a:custGeom>
              <a:avLst/>
              <a:gdLst/>
              <a:ahLst/>
              <a:cxnLst/>
              <a:rect l="l" t="t" r="r" b="b"/>
              <a:pathLst>
                <a:path w="10143" h="10143" extrusionOk="0">
                  <a:moveTo>
                    <a:pt x="9995" y="4922"/>
                  </a:moveTo>
                  <a:lnTo>
                    <a:pt x="9347" y="4922"/>
                  </a:lnTo>
                  <a:cubicBezTo>
                    <a:pt x="9310" y="3835"/>
                    <a:pt x="8869" y="2819"/>
                    <a:pt x="8096" y="2046"/>
                  </a:cubicBezTo>
                  <a:cubicBezTo>
                    <a:pt x="7324" y="1274"/>
                    <a:pt x="6307" y="833"/>
                    <a:pt x="5221" y="796"/>
                  </a:cubicBezTo>
                  <a:lnTo>
                    <a:pt x="5221" y="148"/>
                  </a:lnTo>
                  <a:cubicBezTo>
                    <a:pt x="5221" y="66"/>
                    <a:pt x="5154" y="0"/>
                    <a:pt x="5072" y="0"/>
                  </a:cubicBezTo>
                  <a:cubicBezTo>
                    <a:pt x="4990" y="0"/>
                    <a:pt x="4923" y="66"/>
                    <a:pt x="4923" y="148"/>
                  </a:cubicBezTo>
                  <a:lnTo>
                    <a:pt x="4923" y="796"/>
                  </a:lnTo>
                  <a:cubicBezTo>
                    <a:pt x="3836" y="833"/>
                    <a:pt x="2820" y="1274"/>
                    <a:pt x="2047" y="2046"/>
                  </a:cubicBezTo>
                  <a:cubicBezTo>
                    <a:pt x="1274" y="2819"/>
                    <a:pt x="834" y="3835"/>
                    <a:pt x="797" y="4922"/>
                  </a:cubicBezTo>
                  <a:lnTo>
                    <a:pt x="149" y="4922"/>
                  </a:lnTo>
                  <a:cubicBezTo>
                    <a:pt x="67" y="4922"/>
                    <a:pt x="0" y="4989"/>
                    <a:pt x="0" y="5071"/>
                  </a:cubicBezTo>
                  <a:cubicBezTo>
                    <a:pt x="0" y="5153"/>
                    <a:pt x="67" y="5220"/>
                    <a:pt x="149" y="5220"/>
                  </a:cubicBezTo>
                  <a:lnTo>
                    <a:pt x="797" y="5220"/>
                  </a:lnTo>
                  <a:cubicBezTo>
                    <a:pt x="834" y="6307"/>
                    <a:pt x="1274" y="7323"/>
                    <a:pt x="2047" y="8096"/>
                  </a:cubicBezTo>
                  <a:cubicBezTo>
                    <a:pt x="2820" y="8869"/>
                    <a:pt x="3836" y="9309"/>
                    <a:pt x="4923" y="9346"/>
                  </a:cubicBezTo>
                  <a:lnTo>
                    <a:pt x="4923" y="9994"/>
                  </a:lnTo>
                  <a:cubicBezTo>
                    <a:pt x="4923" y="10076"/>
                    <a:pt x="4990" y="10143"/>
                    <a:pt x="5072" y="10143"/>
                  </a:cubicBezTo>
                  <a:cubicBezTo>
                    <a:pt x="5154" y="10143"/>
                    <a:pt x="5221" y="10076"/>
                    <a:pt x="5221" y="9994"/>
                  </a:cubicBezTo>
                  <a:lnTo>
                    <a:pt x="5221" y="9346"/>
                  </a:lnTo>
                  <a:cubicBezTo>
                    <a:pt x="6307" y="9309"/>
                    <a:pt x="7324" y="8869"/>
                    <a:pt x="8097" y="8096"/>
                  </a:cubicBezTo>
                  <a:cubicBezTo>
                    <a:pt x="8869" y="7323"/>
                    <a:pt x="9310" y="6307"/>
                    <a:pt x="9347" y="5220"/>
                  </a:cubicBezTo>
                  <a:lnTo>
                    <a:pt x="9995" y="5220"/>
                  </a:lnTo>
                  <a:cubicBezTo>
                    <a:pt x="10077" y="5220"/>
                    <a:pt x="10143" y="5153"/>
                    <a:pt x="10143" y="5071"/>
                  </a:cubicBezTo>
                  <a:cubicBezTo>
                    <a:pt x="10143" y="4989"/>
                    <a:pt x="10077" y="4922"/>
                    <a:pt x="9995" y="4922"/>
                  </a:cubicBezTo>
                  <a:close/>
                  <a:moveTo>
                    <a:pt x="8883" y="5220"/>
                  </a:moveTo>
                  <a:lnTo>
                    <a:pt x="9049" y="5220"/>
                  </a:lnTo>
                  <a:cubicBezTo>
                    <a:pt x="8972" y="7296"/>
                    <a:pt x="7297" y="8971"/>
                    <a:pt x="5221" y="9048"/>
                  </a:cubicBezTo>
                  <a:lnTo>
                    <a:pt x="5221" y="8882"/>
                  </a:lnTo>
                  <a:cubicBezTo>
                    <a:pt x="5221" y="8800"/>
                    <a:pt x="5154" y="8733"/>
                    <a:pt x="5072" y="8733"/>
                  </a:cubicBezTo>
                  <a:cubicBezTo>
                    <a:pt x="4990" y="8733"/>
                    <a:pt x="4923" y="8800"/>
                    <a:pt x="4923" y="8882"/>
                  </a:cubicBezTo>
                  <a:lnTo>
                    <a:pt x="4923" y="9048"/>
                  </a:lnTo>
                  <a:cubicBezTo>
                    <a:pt x="2847" y="8971"/>
                    <a:pt x="1172" y="7296"/>
                    <a:pt x="1095" y="5220"/>
                  </a:cubicBezTo>
                  <a:lnTo>
                    <a:pt x="1261" y="5220"/>
                  </a:lnTo>
                  <a:cubicBezTo>
                    <a:pt x="1343" y="5220"/>
                    <a:pt x="1410" y="5153"/>
                    <a:pt x="1410" y="5071"/>
                  </a:cubicBezTo>
                  <a:cubicBezTo>
                    <a:pt x="1410" y="4989"/>
                    <a:pt x="1343" y="4922"/>
                    <a:pt x="1261" y="4922"/>
                  </a:cubicBezTo>
                  <a:lnTo>
                    <a:pt x="1095" y="4922"/>
                  </a:lnTo>
                  <a:cubicBezTo>
                    <a:pt x="1172" y="2846"/>
                    <a:pt x="2847" y="1171"/>
                    <a:pt x="4923" y="1094"/>
                  </a:cubicBezTo>
                  <a:lnTo>
                    <a:pt x="4923" y="1260"/>
                  </a:lnTo>
                  <a:cubicBezTo>
                    <a:pt x="4923" y="1342"/>
                    <a:pt x="4990" y="1409"/>
                    <a:pt x="5072" y="1409"/>
                  </a:cubicBezTo>
                  <a:cubicBezTo>
                    <a:pt x="5154" y="1409"/>
                    <a:pt x="5221" y="1342"/>
                    <a:pt x="5221" y="1260"/>
                  </a:cubicBezTo>
                  <a:lnTo>
                    <a:pt x="5221" y="1094"/>
                  </a:lnTo>
                  <a:cubicBezTo>
                    <a:pt x="7297" y="1171"/>
                    <a:pt x="8972" y="2846"/>
                    <a:pt x="9049" y="4922"/>
                  </a:cubicBezTo>
                  <a:lnTo>
                    <a:pt x="8883" y="4922"/>
                  </a:lnTo>
                  <a:cubicBezTo>
                    <a:pt x="8801" y="4922"/>
                    <a:pt x="8734" y="4989"/>
                    <a:pt x="8734" y="5071"/>
                  </a:cubicBezTo>
                  <a:cubicBezTo>
                    <a:pt x="8734" y="5153"/>
                    <a:pt x="8801" y="5220"/>
                    <a:pt x="8883" y="5220"/>
                  </a:cubicBezTo>
                  <a:close/>
                  <a:moveTo>
                    <a:pt x="8883" y="5220"/>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55" name="Google Shape;2255;p32"/>
          <p:cNvSpPr/>
          <p:nvPr/>
        </p:nvSpPr>
        <p:spPr>
          <a:xfrm>
            <a:off x="7326497" y="-644372"/>
            <a:ext cx="2187200" cy="2575531"/>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6628DDFF-60C6-43A1-8DDC-8A968B2700C7}"/>
              </a:ext>
            </a:extLst>
          </p:cNvPr>
          <p:cNvSpPr txBox="1"/>
          <p:nvPr/>
        </p:nvSpPr>
        <p:spPr>
          <a:xfrm>
            <a:off x="2128725" y="3842017"/>
            <a:ext cx="2368196" cy="307777"/>
          </a:xfrm>
          <a:prstGeom prst="rect">
            <a:avLst/>
          </a:prstGeom>
          <a:noFill/>
        </p:spPr>
        <p:txBody>
          <a:bodyPr wrap="square" rtlCol="0">
            <a:spAutoFit/>
          </a:bodyPr>
          <a:lstStyle/>
          <a:p>
            <a:r>
              <a:rPr lang="en-US" dirty="0">
                <a:latin typeface="Arial Black" panose="020B0A04020102020204" pitchFamily="34" charset="0"/>
              </a:rPr>
              <a:t>THE CORE PROBLEM</a:t>
            </a:r>
            <a:endParaRPr lang="en-GB" dirty="0">
              <a:latin typeface="Arial Black" panose="020B0A04020102020204" pitchFamily="34" charset="0"/>
            </a:endParaRPr>
          </a:p>
        </p:txBody>
      </p:sp>
      <p:pic>
        <p:nvPicPr>
          <p:cNvPr id="3" name="Picture 2">
            <a:extLst>
              <a:ext uri="{FF2B5EF4-FFF2-40B4-BE49-F238E27FC236}">
                <a16:creationId xmlns:a16="http://schemas.microsoft.com/office/drawing/2014/main" id="{A83B0EE5-2B19-46DE-A681-FAC18C43BCAE}"/>
              </a:ext>
            </a:extLst>
          </p:cNvPr>
          <p:cNvPicPr>
            <a:picLocks noChangeAspect="1"/>
          </p:cNvPicPr>
          <p:nvPr/>
        </p:nvPicPr>
        <p:blipFill>
          <a:blip r:embed="rId3"/>
          <a:stretch>
            <a:fillRect/>
          </a:stretch>
        </p:blipFill>
        <p:spPr>
          <a:xfrm>
            <a:off x="2232937" y="4195413"/>
            <a:ext cx="640135" cy="634039"/>
          </a:xfrm>
          <a:prstGeom prst="rect">
            <a:avLst/>
          </a:prstGeom>
        </p:spPr>
      </p:pic>
      <p:sp>
        <p:nvSpPr>
          <p:cNvPr id="4" name="TextBox 3">
            <a:extLst>
              <a:ext uri="{FF2B5EF4-FFF2-40B4-BE49-F238E27FC236}">
                <a16:creationId xmlns:a16="http://schemas.microsoft.com/office/drawing/2014/main" id="{F60777E4-1A8F-4892-B47D-AAE6890A9A90}"/>
              </a:ext>
            </a:extLst>
          </p:cNvPr>
          <p:cNvSpPr txBox="1"/>
          <p:nvPr/>
        </p:nvSpPr>
        <p:spPr>
          <a:xfrm>
            <a:off x="2946225" y="4272077"/>
            <a:ext cx="5896052" cy="738664"/>
          </a:xfrm>
          <a:prstGeom prst="rect">
            <a:avLst/>
          </a:prstGeom>
          <a:noFill/>
        </p:spPr>
        <p:txBody>
          <a:bodyPr wrap="square" rtlCol="0">
            <a:spAutoFit/>
          </a:bodyPr>
          <a:lstStyle/>
          <a:p>
            <a:r>
              <a:rPr lang="en-US" sz="1400" dirty="0">
                <a:solidFill>
                  <a:schemeClr val="bg1">
                    <a:lumMod val="10000"/>
                  </a:schemeClr>
                </a:solidFill>
                <a:latin typeface="Libre Baskerville"/>
                <a:ea typeface="Libre Baskerville"/>
                <a:cs typeface="Libre Baskerville"/>
                <a:sym typeface="Libre Baskerville"/>
              </a:rPr>
              <a:t>No shared channel lets a student issue a checkable document and lets HELSB explain the decision from that record.</a:t>
            </a:r>
          </a:p>
          <a:p>
            <a:endParaRPr lang="en-GB" dirty="0"/>
          </a:p>
        </p:txBody>
      </p:sp>
      <p:pic>
        <p:nvPicPr>
          <p:cNvPr id="5" name="Picture 4">
            <a:extLst>
              <a:ext uri="{FF2B5EF4-FFF2-40B4-BE49-F238E27FC236}">
                <a16:creationId xmlns:a16="http://schemas.microsoft.com/office/drawing/2014/main" id="{60EFC402-52C9-48BF-BBCD-94FD483996A0}"/>
              </a:ext>
            </a:extLst>
          </p:cNvPr>
          <p:cNvPicPr>
            <a:picLocks noChangeAspect="1"/>
          </p:cNvPicPr>
          <p:nvPr/>
        </p:nvPicPr>
        <p:blipFill>
          <a:blip r:embed="rId4"/>
          <a:stretch>
            <a:fillRect/>
          </a:stretch>
        </p:blipFill>
        <p:spPr>
          <a:xfrm>
            <a:off x="2370125" y="4272077"/>
            <a:ext cx="438912" cy="426397"/>
          </a:xfrm>
          <a:prstGeom prst="rect">
            <a:avLst/>
          </a:prstGeom>
        </p:spPr>
      </p:pic>
      <p:pic>
        <p:nvPicPr>
          <p:cNvPr id="6" name="Picture 5">
            <a:extLst>
              <a:ext uri="{FF2B5EF4-FFF2-40B4-BE49-F238E27FC236}">
                <a16:creationId xmlns:a16="http://schemas.microsoft.com/office/drawing/2014/main" id="{6773E284-449D-4282-B43F-BF0769D2BAE7}"/>
              </a:ext>
            </a:extLst>
          </p:cNvPr>
          <p:cNvPicPr>
            <a:picLocks noChangeAspect="1"/>
          </p:cNvPicPr>
          <p:nvPr/>
        </p:nvPicPr>
        <p:blipFill>
          <a:blip r:embed="rId5"/>
          <a:stretch>
            <a:fillRect/>
          </a:stretch>
        </p:blipFill>
        <p:spPr>
          <a:xfrm>
            <a:off x="796465" y="1230351"/>
            <a:ext cx="437520" cy="367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2"/>
        <p:cNvGrpSpPr/>
        <p:nvPr/>
      </p:nvGrpSpPr>
      <p:grpSpPr>
        <a:xfrm>
          <a:off x="0" y="0"/>
          <a:ext cx="0" cy="0"/>
          <a:chOff x="0" y="0"/>
          <a:chExt cx="0" cy="0"/>
        </a:xfrm>
      </p:grpSpPr>
      <p:sp>
        <p:nvSpPr>
          <p:cNvPr id="2113" name="Google Shape;2113;p31"/>
          <p:cNvSpPr txBox="1">
            <a:spLocks noGrp="1"/>
          </p:cNvSpPr>
          <p:nvPr>
            <p:ph type="body" idx="1"/>
          </p:nvPr>
        </p:nvSpPr>
        <p:spPr>
          <a:xfrm>
            <a:off x="574125" y="1374625"/>
            <a:ext cx="7758190" cy="3116100"/>
          </a:xfrm>
          <a:prstGeom prst="rect">
            <a:avLst/>
          </a:prstGeom>
        </p:spPr>
        <p:txBody>
          <a:bodyPr spcFirstLastPara="1" wrap="square" lIns="91425" tIns="45700" rIns="91425" bIns="45700" anchor="t" anchorCtr="0">
            <a:normAutofit/>
          </a:bodyPr>
          <a:lstStyle/>
          <a:p>
            <a:pPr marL="0" indent="0">
              <a:buSzPts val="1600"/>
              <a:buNone/>
            </a:pPr>
            <a:r>
              <a:rPr lang="en-US" sz="1800" dirty="0">
                <a:solidFill>
                  <a:schemeClr val="bg1">
                    <a:lumMod val="10000"/>
                  </a:schemeClr>
                </a:solidFill>
                <a:latin typeface="Libre Baskerville"/>
                <a:ea typeface="Libre Baskerville"/>
                <a:cs typeface="Libre Baskerville"/>
                <a:sym typeface="Libre Baskerville"/>
              </a:rPr>
              <a:t>To build VeriScreen so a student can obtain a verified academic document, a phone can check its QR code, and a HELSB officer can move the loan application while both sides see the same screening sentence.</a:t>
            </a:r>
          </a:p>
          <a:p>
            <a:pPr marL="0" lvl="0" indent="0" algn="l" rtl="0">
              <a:spcBef>
                <a:spcPts val="0"/>
              </a:spcBef>
              <a:spcAft>
                <a:spcPts val="0"/>
              </a:spcAft>
              <a:buSzPts val="1600"/>
              <a:buNone/>
            </a:pPr>
            <a:endParaRPr dirty="0"/>
          </a:p>
        </p:txBody>
      </p:sp>
      <p:sp>
        <p:nvSpPr>
          <p:cNvPr id="2114" name="Google Shape;2114;p31"/>
          <p:cNvSpPr txBox="1">
            <a:spLocks noGrp="1"/>
          </p:cNvSpPr>
          <p:nvPr>
            <p:ph type="title"/>
          </p:nvPr>
        </p:nvSpPr>
        <p:spPr>
          <a:xfrm>
            <a:off x="720000" y="445025"/>
            <a:ext cx="7704000" cy="572700"/>
          </a:xfrm>
          <a:prstGeom prst="rect">
            <a:avLst/>
          </a:prstGeom>
        </p:spPr>
        <p:txBody>
          <a:bodyPr spcFirstLastPara="1" wrap="square" lIns="91425" tIns="45700" rIns="91425" bIns="45700" anchor="t" anchorCtr="0">
            <a:normAutofit fontScale="90000"/>
          </a:bodyPr>
          <a:lstStyle/>
          <a:p>
            <a:pPr marL="0" lvl="0" indent="0" algn="ctr" rtl="0">
              <a:spcBef>
                <a:spcPts val="0"/>
              </a:spcBef>
              <a:spcAft>
                <a:spcPts val="0"/>
              </a:spcAft>
              <a:buSzPct val="52941"/>
              <a:buNone/>
            </a:pPr>
            <a:r>
              <a:rPr lang="en" dirty="0"/>
              <a:t>Aim</a:t>
            </a:r>
            <a:endParaRPr dirty="0"/>
          </a:p>
        </p:txBody>
      </p:sp>
      <p:grpSp>
        <p:nvGrpSpPr>
          <p:cNvPr id="2116" name="Google Shape;2116;p31"/>
          <p:cNvGrpSpPr/>
          <p:nvPr/>
        </p:nvGrpSpPr>
        <p:grpSpPr>
          <a:xfrm>
            <a:off x="8035095" y="-120561"/>
            <a:ext cx="1507871" cy="1510263"/>
            <a:chOff x="39184" y="-151930"/>
            <a:chExt cx="1309825" cy="1311903"/>
          </a:xfrm>
        </p:grpSpPr>
        <p:sp>
          <p:nvSpPr>
            <p:cNvPr id="2117" name="Google Shape;2117;p31"/>
            <p:cNvSpPr/>
            <p:nvPr/>
          </p:nvSpPr>
          <p:spPr>
            <a:xfrm>
              <a:off x="1304909" y="54495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8" name="Google Shape;2118;p31"/>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9" name="Google Shape;2119;p31"/>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0" name="Google Shape;2120;p31"/>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1" name="Google Shape;2121;p31"/>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2" name="Google Shape;2122;p31"/>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3" name="Google Shape;2123;p31"/>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4" name="Google Shape;2124;p31"/>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5" name="Google Shape;2125;p31"/>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6" name="Google Shape;2126;p31"/>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7" name="Google Shape;2127;p31"/>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8" name="Google Shape;2128;p31"/>
            <p:cNvSpPr/>
            <p:nvPr/>
          </p:nvSpPr>
          <p:spPr>
            <a:xfrm>
              <a:off x="1105499" y="62891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9" name="Google Shape;2129;p31"/>
            <p:cNvSpPr/>
            <p:nvPr/>
          </p:nvSpPr>
          <p:spPr>
            <a:xfrm>
              <a:off x="1034132" y="70028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0" name="Google Shape;2130;p31"/>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1" name="Google Shape;2131;p31"/>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2" name="Google Shape;2132;p31"/>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3" name="Google Shape;2133;p31"/>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4" name="Google Shape;2134;p31"/>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5" name="Google Shape;2135;p31"/>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6" name="Google Shape;2136;p31"/>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7" name="Google Shape;2137;p31"/>
            <p:cNvSpPr/>
            <p:nvPr/>
          </p:nvSpPr>
          <p:spPr>
            <a:xfrm>
              <a:off x="1046726" y="572240"/>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8" name="Google Shape;2138;p31"/>
            <p:cNvSpPr/>
            <p:nvPr/>
          </p:nvSpPr>
          <p:spPr>
            <a:xfrm>
              <a:off x="975359" y="643608"/>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9" name="Google Shape;2139;p31"/>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0" name="Google Shape;2140;p31"/>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1" name="Google Shape;2141;p31"/>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p31"/>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p31"/>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4" name="Google Shape;2144;p31"/>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5" name="Google Shape;2145;p31"/>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p31"/>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7" name="Google Shape;2147;p31"/>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p31"/>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p31"/>
            <p:cNvSpPr/>
            <p:nvPr/>
          </p:nvSpPr>
          <p:spPr>
            <a:xfrm>
              <a:off x="775949" y="727570"/>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0" name="Google Shape;2150;p31"/>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1" name="Google Shape;2151;p31"/>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2" name="Google Shape;2152;p31"/>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3" name="Google Shape;2153;p31"/>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4" name="Google Shape;2154;p31"/>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5" name="Google Shape;2155;p31"/>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6" name="Google Shape;2156;p31"/>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7" name="Google Shape;2157;p31"/>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8" name="Google Shape;2158;p31"/>
            <p:cNvSpPr/>
            <p:nvPr/>
          </p:nvSpPr>
          <p:spPr>
            <a:xfrm>
              <a:off x="717176" y="66879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9" name="Google Shape;2159;p31"/>
            <p:cNvSpPr/>
            <p:nvPr/>
          </p:nvSpPr>
          <p:spPr>
            <a:xfrm>
              <a:off x="647907" y="740164"/>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0" name="Google Shape;2160;p31"/>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1" name="Google Shape;2161;p31"/>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p31"/>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p31"/>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p31"/>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5" name="Google Shape;2165;p31"/>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6" name="Google Shape;2166;p31"/>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7" name="Google Shape;2167;p31"/>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p31"/>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9" name="Google Shape;2169;p31"/>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p31"/>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p31"/>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p31"/>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3" name="Google Shape;2173;p31"/>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p31"/>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p31"/>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p31"/>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7" name="Google Shape;2177;p31"/>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p31"/>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9" name="Google Shape;2179;p31"/>
            <p:cNvSpPr/>
            <p:nvPr/>
          </p:nvSpPr>
          <p:spPr>
            <a:xfrm>
              <a:off x="389725" y="765353"/>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p31"/>
            <p:cNvSpPr/>
            <p:nvPr/>
          </p:nvSpPr>
          <p:spPr>
            <a:xfrm>
              <a:off x="899793" y="13983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1" name="Google Shape;2181;p31"/>
            <p:cNvSpPr/>
            <p:nvPr/>
          </p:nvSpPr>
          <p:spPr>
            <a:xfrm>
              <a:off x="828425" y="21120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p31"/>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p31"/>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p31"/>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5" name="Google Shape;2185;p31"/>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6" name="Google Shape;2186;p31"/>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7" name="Google Shape;2187;p31"/>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8" name="Google Shape;2188;p31"/>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p31"/>
            <p:cNvSpPr/>
            <p:nvPr/>
          </p:nvSpPr>
          <p:spPr>
            <a:xfrm>
              <a:off x="841020" y="81064"/>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p31"/>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p31"/>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2" name="Google Shape;2192;p31"/>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3" name="Google Shape;2193;p31"/>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4" name="Google Shape;2194;p31"/>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5" name="Google Shape;2195;p31"/>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6" name="Google Shape;2196;p31"/>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p31"/>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8" name="Google Shape;2198;p31"/>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p31"/>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0" name="Google Shape;2200;p31"/>
            <p:cNvSpPr/>
            <p:nvPr/>
          </p:nvSpPr>
          <p:spPr>
            <a:xfrm>
              <a:off x="641610" y="167125"/>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1" name="Google Shape;2201;p31"/>
            <p:cNvSpPr/>
            <p:nvPr/>
          </p:nvSpPr>
          <p:spPr>
            <a:xfrm>
              <a:off x="570243" y="23639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2" name="Google Shape;2202;p31"/>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p31"/>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4" name="Google Shape;2204;p31"/>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5" name="Google Shape;2205;p31"/>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p31"/>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p31"/>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8" name="Google Shape;2208;p31"/>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9" name="Google Shape;2209;p31"/>
            <p:cNvSpPr/>
            <p:nvPr/>
          </p:nvSpPr>
          <p:spPr>
            <a:xfrm>
              <a:off x="582837" y="10835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0" name="Google Shape;2210;p31"/>
            <p:cNvSpPr/>
            <p:nvPr/>
          </p:nvSpPr>
          <p:spPr>
            <a:xfrm>
              <a:off x="511469" y="179719"/>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p31"/>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2" name="Google Shape;2212;p31"/>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p31"/>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4" name="Google Shape;2214;p31"/>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p31"/>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6" name="Google Shape;2216;p31"/>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p31"/>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8" name="Google Shape;2218;p31"/>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p31"/>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0" name="Google Shape;2220;p31"/>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1" name="Google Shape;2221;p31"/>
            <p:cNvSpPr/>
            <p:nvPr/>
          </p:nvSpPr>
          <p:spPr>
            <a:xfrm>
              <a:off x="312060" y="263681"/>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2" name="Google Shape;2222;p31"/>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p31"/>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4" name="Google Shape;2224;p31"/>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5" name="Google Shape;2225;p31"/>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6" name="Google Shape;2226;p31"/>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7" name="Google Shape;2227;p31"/>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8" name="Google Shape;2228;p31"/>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9" name="Google Shape;2229;p31"/>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0" name="Google Shape;2230;p31"/>
            <p:cNvSpPr/>
            <p:nvPr/>
          </p:nvSpPr>
          <p:spPr>
            <a:xfrm>
              <a:off x="255386" y="204908"/>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1" name="Google Shape;2231;p31"/>
            <p:cNvSpPr/>
            <p:nvPr/>
          </p:nvSpPr>
          <p:spPr>
            <a:xfrm>
              <a:off x="184018" y="276275"/>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2" name="Google Shape;2232;p31"/>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3" name="Google Shape;2233;p31"/>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563455" y="173420"/>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Objectives</a:t>
            </a:r>
            <a:endParaRPr dirty="0"/>
          </a:p>
        </p:txBody>
      </p:sp>
      <p:sp>
        <p:nvSpPr>
          <p:cNvPr id="13" name="TextBox 12">
            <a:extLst>
              <a:ext uri="{FF2B5EF4-FFF2-40B4-BE49-F238E27FC236}">
                <a16:creationId xmlns:a16="http://schemas.microsoft.com/office/drawing/2014/main" id="{1430F0A3-7972-44A5-97B3-A84A905B4F81}"/>
              </a:ext>
            </a:extLst>
          </p:cNvPr>
          <p:cNvSpPr txBox="1"/>
          <p:nvPr/>
        </p:nvSpPr>
        <p:spPr>
          <a:xfrm>
            <a:off x="479145" y="1017478"/>
            <a:ext cx="7450532" cy="3108543"/>
          </a:xfrm>
          <a:prstGeom prst="rect">
            <a:avLst/>
          </a:prstGeom>
          <a:noFill/>
        </p:spPr>
        <p:txBody>
          <a:bodyPr wrap="square">
            <a:spAutoFit/>
          </a:bodyPr>
          <a:lstStyle/>
          <a:p>
            <a:r>
              <a:rPr lang="en-GB" dirty="0"/>
              <a:t>1. Separate the student API and the HELSB API, with each side writing only to its own database.</a:t>
            </a:r>
          </a:p>
          <a:p>
            <a:endParaRPr lang="en-GB" dirty="0"/>
          </a:p>
          <a:p>
            <a:r>
              <a:rPr lang="en-GB" dirty="0"/>
              <a:t>2. Give the student a portal to sign in, read the record, and download a verified PDF.</a:t>
            </a:r>
          </a:p>
          <a:p>
            <a:endParaRPr lang="en-GB" dirty="0"/>
          </a:p>
          <a:p>
            <a:r>
              <a:rPr lang="en-GB" dirty="0"/>
              <a:t>3. Let the student share the application with HELSB, and let an officer advance it one stage at a time.</a:t>
            </a:r>
          </a:p>
          <a:p>
            <a:endParaRPr lang="en-GB" dirty="0"/>
          </a:p>
          <a:p>
            <a:r>
              <a:rPr lang="en-GB" dirty="0"/>
              <a:t>4. Seal each PDF with a QR code and the time it was issued, and open a clear verified or not-verified page.</a:t>
            </a:r>
          </a:p>
          <a:p>
            <a:endParaRPr lang="en-GB" dirty="0"/>
          </a:p>
          <a:p>
            <a:r>
              <a:rPr lang="en-GB" dirty="0"/>
              <a:t>5. At screening, write one plain-language sentence and show it to both the officer and the student.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1" name="Google Shape;2261;p33"/>
          <p:cNvSpPr txBox="1">
            <a:spLocks noGrp="1"/>
          </p:cNvSpPr>
          <p:nvPr>
            <p:ph type="subTitle" idx="5"/>
          </p:nvPr>
        </p:nvSpPr>
        <p:spPr>
          <a:xfrm>
            <a:off x="1037250" y="1176682"/>
            <a:ext cx="2279100" cy="447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1600"/>
              <a:buNone/>
            </a:pPr>
            <a:r>
              <a:rPr lang="en" dirty="0"/>
              <a:t>In Scope</a:t>
            </a:r>
            <a:endParaRPr dirty="0"/>
          </a:p>
        </p:txBody>
      </p:sp>
      <p:sp>
        <p:nvSpPr>
          <p:cNvPr id="2262" name="Google Shape;2262;p33"/>
          <p:cNvSpPr txBox="1">
            <a:spLocks noGrp="1"/>
          </p:cNvSpPr>
          <p:nvPr>
            <p:ph type="subTitle" idx="6"/>
          </p:nvPr>
        </p:nvSpPr>
        <p:spPr>
          <a:xfrm>
            <a:off x="5657824" y="1241772"/>
            <a:ext cx="2279100" cy="447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dirty="0"/>
              <a:t>Out of Scope</a:t>
            </a:r>
            <a:endParaRPr dirty="0"/>
          </a:p>
        </p:txBody>
      </p:sp>
      <p:sp>
        <p:nvSpPr>
          <p:cNvPr id="2263" name="Google Shape;2263;p33"/>
          <p:cNvSpPr txBox="1">
            <a:spLocks noGrp="1"/>
          </p:cNvSpPr>
          <p:nvPr>
            <p:ph type="title"/>
          </p:nvPr>
        </p:nvSpPr>
        <p:spPr>
          <a:xfrm>
            <a:off x="720000" y="445025"/>
            <a:ext cx="7704000" cy="572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 dirty="0"/>
              <a:t>Scope of project</a:t>
            </a:r>
            <a:endParaRPr dirty="0"/>
          </a:p>
        </p:txBody>
      </p:sp>
      <p:sp>
        <p:nvSpPr>
          <p:cNvPr id="2265" name="Google Shape;2265;p33"/>
          <p:cNvSpPr/>
          <p:nvPr/>
        </p:nvSpPr>
        <p:spPr>
          <a:xfrm>
            <a:off x="5077049" y="1148322"/>
            <a:ext cx="634500" cy="634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2266" name="Google Shape;2266;p33"/>
          <p:cNvSpPr/>
          <p:nvPr/>
        </p:nvSpPr>
        <p:spPr>
          <a:xfrm>
            <a:off x="402750" y="1097075"/>
            <a:ext cx="634500" cy="634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2267" name="Google Shape;2267;p33"/>
          <p:cNvGrpSpPr/>
          <p:nvPr/>
        </p:nvGrpSpPr>
        <p:grpSpPr>
          <a:xfrm>
            <a:off x="523150" y="1215882"/>
            <a:ext cx="393700" cy="396886"/>
            <a:chOff x="3984625" y="1658938"/>
            <a:chExt cx="393700" cy="396886"/>
          </a:xfrm>
        </p:grpSpPr>
        <p:sp>
          <p:nvSpPr>
            <p:cNvPr id="2268" name="Google Shape;2268;p33"/>
            <p:cNvSpPr/>
            <p:nvPr/>
          </p:nvSpPr>
          <p:spPr>
            <a:xfrm>
              <a:off x="4175125" y="1844675"/>
              <a:ext cx="82547" cy="47625"/>
            </a:xfrm>
            <a:custGeom>
              <a:avLst/>
              <a:gdLst/>
              <a:ahLst/>
              <a:cxnLst/>
              <a:rect l="l" t="t" r="r" b="b"/>
              <a:pathLst>
                <a:path w="2142" h="1250" extrusionOk="0">
                  <a:moveTo>
                    <a:pt x="2050" y="957"/>
                  </a:moveTo>
                  <a:lnTo>
                    <a:pt x="673" y="110"/>
                  </a:lnTo>
                  <a:cubicBezTo>
                    <a:pt x="656" y="100"/>
                    <a:pt x="637" y="93"/>
                    <a:pt x="618" y="90"/>
                  </a:cubicBezTo>
                  <a:lnTo>
                    <a:pt x="187" y="14"/>
                  </a:lnTo>
                  <a:cubicBezTo>
                    <a:pt x="107" y="0"/>
                    <a:pt x="29" y="55"/>
                    <a:pt x="14" y="135"/>
                  </a:cubicBezTo>
                  <a:cubicBezTo>
                    <a:pt x="0" y="214"/>
                    <a:pt x="55" y="293"/>
                    <a:pt x="135" y="307"/>
                  </a:cubicBezTo>
                  <a:lnTo>
                    <a:pt x="542" y="378"/>
                  </a:lnTo>
                  <a:lnTo>
                    <a:pt x="1895" y="1210"/>
                  </a:lnTo>
                  <a:cubicBezTo>
                    <a:pt x="1961" y="1250"/>
                    <a:pt x="2051" y="1231"/>
                    <a:pt x="2095" y="1167"/>
                  </a:cubicBezTo>
                  <a:cubicBezTo>
                    <a:pt x="2142" y="1098"/>
                    <a:pt x="2121" y="1000"/>
                    <a:pt x="2050" y="957"/>
                  </a:cubicBezTo>
                  <a:close/>
                  <a:moveTo>
                    <a:pt x="2050" y="957"/>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p33"/>
            <p:cNvSpPr/>
            <p:nvPr/>
          </p:nvSpPr>
          <p:spPr>
            <a:xfrm>
              <a:off x="3984625" y="1658938"/>
              <a:ext cx="393700" cy="396886"/>
            </a:xfrm>
            <a:custGeom>
              <a:avLst/>
              <a:gdLst/>
              <a:ahLst/>
              <a:cxnLst/>
              <a:rect l="l" t="t" r="r" b="b"/>
              <a:pathLst>
                <a:path w="10160" h="10206" extrusionOk="0">
                  <a:moveTo>
                    <a:pt x="10104" y="5782"/>
                  </a:moveTo>
                  <a:cubicBezTo>
                    <a:pt x="10048" y="5722"/>
                    <a:pt x="9954" y="5719"/>
                    <a:pt x="9894" y="5775"/>
                  </a:cubicBezTo>
                  <a:lnTo>
                    <a:pt x="9292" y="6338"/>
                  </a:lnTo>
                  <a:lnTo>
                    <a:pt x="6532" y="3614"/>
                  </a:lnTo>
                  <a:lnTo>
                    <a:pt x="10097" y="273"/>
                  </a:lnTo>
                  <a:cubicBezTo>
                    <a:pt x="10157" y="217"/>
                    <a:pt x="10160" y="123"/>
                    <a:pt x="10104" y="63"/>
                  </a:cubicBezTo>
                  <a:cubicBezTo>
                    <a:pt x="10048" y="3"/>
                    <a:pt x="9954" y="0"/>
                    <a:pt x="9894" y="56"/>
                  </a:cubicBezTo>
                  <a:lnTo>
                    <a:pt x="6215" y="3503"/>
                  </a:lnTo>
                  <a:cubicBezTo>
                    <a:pt x="6155" y="3560"/>
                    <a:pt x="6154" y="3659"/>
                    <a:pt x="6213" y="3718"/>
                  </a:cubicBezTo>
                  <a:lnTo>
                    <a:pt x="6457" y="3958"/>
                  </a:lnTo>
                  <a:lnTo>
                    <a:pt x="6379" y="4027"/>
                  </a:lnTo>
                  <a:lnTo>
                    <a:pt x="4747" y="3887"/>
                  </a:lnTo>
                  <a:cubicBezTo>
                    <a:pt x="4722" y="3885"/>
                    <a:pt x="4696" y="3889"/>
                    <a:pt x="4673" y="3900"/>
                  </a:cubicBezTo>
                  <a:lnTo>
                    <a:pt x="3380" y="4488"/>
                  </a:lnTo>
                  <a:cubicBezTo>
                    <a:pt x="3376" y="4488"/>
                    <a:pt x="3372" y="4487"/>
                    <a:pt x="3368" y="4486"/>
                  </a:cubicBezTo>
                  <a:lnTo>
                    <a:pt x="2624" y="4355"/>
                  </a:lnTo>
                  <a:lnTo>
                    <a:pt x="2684" y="4201"/>
                  </a:lnTo>
                  <a:cubicBezTo>
                    <a:pt x="2714" y="4125"/>
                    <a:pt x="2677" y="4039"/>
                    <a:pt x="2601" y="4009"/>
                  </a:cubicBezTo>
                  <a:lnTo>
                    <a:pt x="224" y="3058"/>
                  </a:lnTo>
                  <a:cubicBezTo>
                    <a:pt x="147" y="3027"/>
                    <a:pt x="61" y="3064"/>
                    <a:pt x="31" y="3141"/>
                  </a:cubicBezTo>
                  <a:cubicBezTo>
                    <a:pt x="0" y="3217"/>
                    <a:pt x="37" y="3303"/>
                    <a:pt x="113" y="3334"/>
                  </a:cubicBezTo>
                  <a:lnTo>
                    <a:pt x="2354" y="4230"/>
                  </a:lnTo>
                  <a:lnTo>
                    <a:pt x="1034" y="7604"/>
                  </a:lnTo>
                  <a:lnTo>
                    <a:pt x="218" y="7315"/>
                  </a:lnTo>
                  <a:cubicBezTo>
                    <a:pt x="141" y="7288"/>
                    <a:pt x="56" y="7329"/>
                    <a:pt x="28" y="7406"/>
                  </a:cubicBezTo>
                  <a:cubicBezTo>
                    <a:pt x="1" y="7483"/>
                    <a:pt x="42" y="7568"/>
                    <a:pt x="119" y="7596"/>
                  </a:cubicBezTo>
                  <a:lnTo>
                    <a:pt x="1070" y="7932"/>
                  </a:lnTo>
                  <a:cubicBezTo>
                    <a:pt x="1145" y="7959"/>
                    <a:pt x="1229" y="7920"/>
                    <a:pt x="1258" y="7847"/>
                  </a:cubicBezTo>
                  <a:lnTo>
                    <a:pt x="1479" y="7283"/>
                  </a:lnTo>
                  <a:lnTo>
                    <a:pt x="2057" y="7607"/>
                  </a:lnTo>
                  <a:lnTo>
                    <a:pt x="1993" y="7710"/>
                  </a:lnTo>
                  <a:cubicBezTo>
                    <a:pt x="1812" y="8003"/>
                    <a:pt x="1904" y="8388"/>
                    <a:pt x="2196" y="8569"/>
                  </a:cubicBezTo>
                  <a:cubicBezTo>
                    <a:pt x="2351" y="8664"/>
                    <a:pt x="2544" y="8687"/>
                    <a:pt x="2717" y="8631"/>
                  </a:cubicBezTo>
                  <a:cubicBezTo>
                    <a:pt x="2744" y="8811"/>
                    <a:pt x="2850" y="8972"/>
                    <a:pt x="3006" y="9068"/>
                  </a:cubicBezTo>
                  <a:cubicBezTo>
                    <a:pt x="3161" y="9164"/>
                    <a:pt x="3353" y="9186"/>
                    <a:pt x="3526" y="9130"/>
                  </a:cubicBezTo>
                  <a:cubicBezTo>
                    <a:pt x="3554" y="9311"/>
                    <a:pt x="3660" y="9472"/>
                    <a:pt x="3815" y="9568"/>
                  </a:cubicBezTo>
                  <a:cubicBezTo>
                    <a:pt x="3970" y="9663"/>
                    <a:pt x="4162" y="9686"/>
                    <a:pt x="4335" y="9630"/>
                  </a:cubicBezTo>
                  <a:cubicBezTo>
                    <a:pt x="4363" y="9810"/>
                    <a:pt x="4469" y="9971"/>
                    <a:pt x="4624" y="10067"/>
                  </a:cubicBezTo>
                  <a:cubicBezTo>
                    <a:pt x="4850" y="10206"/>
                    <a:pt x="5149" y="10185"/>
                    <a:pt x="5353" y="10015"/>
                  </a:cubicBezTo>
                  <a:cubicBezTo>
                    <a:pt x="5404" y="9972"/>
                    <a:pt x="5448" y="9921"/>
                    <a:pt x="5483" y="9864"/>
                  </a:cubicBezTo>
                  <a:lnTo>
                    <a:pt x="5585" y="9699"/>
                  </a:lnTo>
                  <a:lnTo>
                    <a:pt x="5668" y="9751"/>
                  </a:lnTo>
                  <a:cubicBezTo>
                    <a:pt x="5894" y="9890"/>
                    <a:pt x="6193" y="9868"/>
                    <a:pt x="6396" y="9697"/>
                  </a:cubicBezTo>
                  <a:cubicBezTo>
                    <a:pt x="6448" y="9654"/>
                    <a:pt x="6492" y="9603"/>
                    <a:pt x="6527" y="9546"/>
                  </a:cubicBezTo>
                  <a:cubicBezTo>
                    <a:pt x="6596" y="9432"/>
                    <a:pt x="6625" y="9305"/>
                    <a:pt x="6618" y="9181"/>
                  </a:cubicBezTo>
                  <a:cubicBezTo>
                    <a:pt x="6665" y="9193"/>
                    <a:pt x="6713" y="9199"/>
                    <a:pt x="6762" y="9199"/>
                  </a:cubicBezTo>
                  <a:cubicBezTo>
                    <a:pt x="6978" y="9199"/>
                    <a:pt x="7182" y="9085"/>
                    <a:pt x="7295" y="8901"/>
                  </a:cubicBezTo>
                  <a:cubicBezTo>
                    <a:pt x="7363" y="8791"/>
                    <a:pt x="7394" y="8664"/>
                    <a:pt x="7386" y="8537"/>
                  </a:cubicBezTo>
                  <a:cubicBezTo>
                    <a:pt x="7433" y="8548"/>
                    <a:pt x="7481" y="8554"/>
                    <a:pt x="7530" y="8554"/>
                  </a:cubicBezTo>
                  <a:cubicBezTo>
                    <a:pt x="7746" y="8554"/>
                    <a:pt x="7950" y="8441"/>
                    <a:pt x="8063" y="8257"/>
                  </a:cubicBezTo>
                  <a:cubicBezTo>
                    <a:pt x="8131" y="8146"/>
                    <a:pt x="8162" y="8020"/>
                    <a:pt x="8154" y="7893"/>
                  </a:cubicBezTo>
                  <a:cubicBezTo>
                    <a:pt x="8202" y="7904"/>
                    <a:pt x="8250" y="7910"/>
                    <a:pt x="8298" y="7910"/>
                  </a:cubicBezTo>
                  <a:cubicBezTo>
                    <a:pt x="8508" y="7910"/>
                    <a:pt x="8713" y="7804"/>
                    <a:pt x="8831" y="7613"/>
                  </a:cubicBezTo>
                  <a:cubicBezTo>
                    <a:pt x="9011" y="7319"/>
                    <a:pt x="8919" y="6934"/>
                    <a:pt x="8626" y="6754"/>
                  </a:cubicBezTo>
                  <a:lnTo>
                    <a:pt x="8524" y="6692"/>
                  </a:lnTo>
                  <a:lnTo>
                    <a:pt x="8865" y="6335"/>
                  </a:lnTo>
                  <a:lnTo>
                    <a:pt x="9185" y="6650"/>
                  </a:lnTo>
                  <a:cubicBezTo>
                    <a:pt x="9241" y="6705"/>
                    <a:pt x="9333" y="6706"/>
                    <a:pt x="9391" y="6653"/>
                  </a:cubicBezTo>
                  <a:lnTo>
                    <a:pt x="10097" y="5992"/>
                  </a:lnTo>
                  <a:cubicBezTo>
                    <a:pt x="10157" y="5936"/>
                    <a:pt x="10160" y="5842"/>
                    <a:pt x="10104" y="5782"/>
                  </a:cubicBezTo>
                  <a:close/>
                  <a:moveTo>
                    <a:pt x="2802" y="8209"/>
                  </a:moveTo>
                  <a:cubicBezTo>
                    <a:pt x="2708" y="8363"/>
                    <a:pt x="2506" y="8410"/>
                    <a:pt x="2352" y="8316"/>
                  </a:cubicBezTo>
                  <a:cubicBezTo>
                    <a:pt x="2199" y="8221"/>
                    <a:pt x="2151" y="8019"/>
                    <a:pt x="2246" y="7866"/>
                  </a:cubicBezTo>
                  <a:lnTo>
                    <a:pt x="3078" y="6517"/>
                  </a:lnTo>
                  <a:cubicBezTo>
                    <a:pt x="3171" y="6367"/>
                    <a:pt x="3370" y="6317"/>
                    <a:pt x="3523" y="6407"/>
                  </a:cubicBezTo>
                  <a:cubicBezTo>
                    <a:pt x="3680" y="6500"/>
                    <a:pt x="3724" y="6716"/>
                    <a:pt x="3629" y="6869"/>
                  </a:cubicBezTo>
                  <a:lnTo>
                    <a:pt x="2802" y="8209"/>
                  </a:lnTo>
                  <a:close/>
                  <a:moveTo>
                    <a:pt x="3612" y="8709"/>
                  </a:moveTo>
                  <a:cubicBezTo>
                    <a:pt x="3517" y="8862"/>
                    <a:pt x="3315" y="8910"/>
                    <a:pt x="3162" y="8815"/>
                  </a:cubicBezTo>
                  <a:cubicBezTo>
                    <a:pt x="3010" y="8722"/>
                    <a:pt x="2962" y="8517"/>
                    <a:pt x="3055" y="8365"/>
                  </a:cubicBezTo>
                  <a:lnTo>
                    <a:pt x="3721" y="7286"/>
                  </a:lnTo>
                  <a:cubicBezTo>
                    <a:pt x="3814" y="7136"/>
                    <a:pt x="4013" y="7086"/>
                    <a:pt x="4165" y="7176"/>
                  </a:cubicBezTo>
                  <a:cubicBezTo>
                    <a:pt x="4323" y="7270"/>
                    <a:pt x="4366" y="7485"/>
                    <a:pt x="4272" y="7639"/>
                  </a:cubicBezTo>
                  <a:lnTo>
                    <a:pt x="3612" y="8709"/>
                  </a:lnTo>
                  <a:close/>
                  <a:moveTo>
                    <a:pt x="4421" y="9208"/>
                  </a:moveTo>
                  <a:cubicBezTo>
                    <a:pt x="4375" y="9282"/>
                    <a:pt x="4303" y="9334"/>
                    <a:pt x="4218" y="9355"/>
                  </a:cubicBezTo>
                  <a:cubicBezTo>
                    <a:pt x="4133" y="9375"/>
                    <a:pt x="4045" y="9360"/>
                    <a:pt x="3971" y="9315"/>
                  </a:cubicBezTo>
                  <a:cubicBezTo>
                    <a:pt x="3820" y="9221"/>
                    <a:pt x="3771" y="9017"/>
                    <a:pt x="3865" y="8865"/>
                  </a:cubicBezTo>
                  <a:lnTo>
                    <a:pt x="4364" y="8055"/>
                  </a:lnTo>
                  <a:cubicBezTo>
                    <a:pt x="4457" y="7905"/>
                    <a:pt x="4656" y="7856"/>
                    <a:pt x="4808" y="7946"/>
                  </a:cubicBezTo>
                  <a:cubicBezTo>
                    <a:pt x="4966" y="8039"/>
                    <a:pt x="5009" y="8255"/>
                    <a:pt x="4915" y="8408"/>
                  </a:cubicBezTo>
                  <a:lnTo>
                    <a:pt x="4421" y="9208"/>
                  </a:lnTo>
                  <a:close/>
                  <a:moveTo>
                    <a:pt x="5558" y="9177"/>
                  </a:moveTo>
                  <a:lnTo>
                    <a:pt x="5230" y="9708"/>
                  </a:lnTo>
                  <a:cubicBezTo>
                    <a:pt x="5137" y="9859"/>
                    <a:pt x="4932" y="9908"/>
                    <a:pt x="4780" y="9814"/>
                  </a:cubicBezTo>
                  <a:cubicBezTo>
                    <a:pt x="4629" y="9720"/>
                    <a:pt x="4580" y="9516"/>
                    <a:pt x="4674" y="9364"/>
                  </a:cubicBezTo>
                  <a:lnTo>
                    <a:pt x="5007" y="8825"/>
                  </a:lnTo>
                  <a:cubicBezTo>
                    <a:pt x="5100" y="8674"/>
                    <a:pt x="5299" y="8625"/>
                    <a:pt x="5451" y="8715"/>
                  </a:cubicBezTo>
                  <a:cubicBezTo>
                    <a:pt x="5609" y="8808"/>
                    <a:pt x="5652" y="9024"/>
                    <a:pt x="5558" y="9177"/>
                  </a:cubicBezTo>
                  <a:close/>
                  <a:moveTo>
                    <a:pt x="8265" y="6532"/>
                  </a:moveTo>
                  <a:lnTo>
                    <a:pt x="7528" y="6080"/>
                  </a:lnTo>
                  <a:cubicBezTo>
                    <a:pt x="7460" y="6038"/>
                    <a:pt x="7366" y="6060"/>
                    <a:pt x="7324" y="6129"/>
                  </a:cubicBezTo>
                  <a:cubicBezTo>
                    <a:pt x="7282" y="6197"/>
                    <a:pt x="7304" y="6291"/>
                    <a:pt x="7373" y="6333"/>
                  </a:cubicBezTo>
                  <a:lnTo>
                    <a:pt x="8470" y="7007"/>
                  </a:lnTo>
                  <a:cubicBezTo>
                    <a:pt x="8623" y="7102"/>
                    <a:pt x="8672" y="7303"/>
                    <a:pt x="8577" y="7457"/>
                  </a:cubicBezTo>
                  <a:cubicBezTo>
                    <a:pt x="8483" y="7611"/>
                    <a:pt x="8281" y="7659"/>
                    <a:pt x="8128" y="7564"/>
                  </a:cubicBezTo>
                  <a:lnTo>
                    <a:pt x="6951" y="6841"/>
                  </a:lnTo>
                  <a:cubicBezTo>
                    <a:pt x="6881" y="6798"/>
                    <a:pt x="6789" y="6820"/>
                    <a:pt x="6746" y="6890"/>
                  </a:cubicBezTo>
                  <a:cubicBezTo>
                    <a:pt x="6703" y="6960"/>
                    <a:pt x="6725" y="7051"/>
                    <a:pt x="6795" y="7094"/>
                  </a:cubicBezTo>
                  <a:lnTo>
                    <a:pt x="7702" y="7652"/>
                  </a:lnTo>
                  <a:cubicBezTo>
                    <a:pt x="7854" y="7745"/>
                    <a:pt x="7903" y="7949"/>
                    <a:pt x="7809" y="8101"/>
                  </a:cubicBezTo>
                  <a:cubicBezTo>
                    <a:pt x="7716" y="8253"/>
                    <a:pt x="7512" y="8302"/>
                    <a:pt x="7360" y="8209"/>
                  </a:cubicBezTo>
                  <a:lnTo>
                    <a:pt x="6538" y="7704"/>
                  </a:lnTo>
                  <a:cubicBezTo>
                    <a:pt x="6468" y="7661"/>
                    <a:pt x="6376" y="7683"/>
                    <a:pt x="6333" y="7752"/>
                  </a:cubicBezTo>
                  <a:cubicBezTo>
                    <a:pt x="6291" y="7822"/>
                    <a:pt x="6312" y="7914"/>
                    <a:pt x="6382" y="7957"/>
                  </a:cubicBezTo>
                  <a:lnTo>
                    <a:pt x="6934" y="8296"/>
                  </a:lnTo>
                  <a:cubicBezTo>
                    <a:pt x="7086" y="8389"/>
                    <a:pt x="7135" y="8594"/>
                    <a:pt x="7041" y="8746"/>
                  </a:cubicBezTo>
                  <a:cubicBezTo>
                    <a:pt x="6948" y="8897"/>
                    <a:pt x="6744" y="8946"/>
                    <a:pt x="6592" y="8853"/>
                  </a:cubicBezTo>
                  <a:cubicBezTo>
                    <a:pt x="6592" y="8853"/>
                    <a:pt x="6106" y="8555"/>
                    <a:pt x="6102" y="8553"/>
                  </a:cubicBezTo>
                  <a:cubicBezTo>
                    <a:pt x="6034" y="8520"/>
                    <a:pt x="5951" y="8543"/>
                    <a:pt x="5911" y="8609"/>
                  </a:cubicBezTo>
                  <a:cubicBezTo>
                    <a:pt x="5868" y="8679"/>
                    <a:pt x="5890" y="8770"/>
                    <a:pt x="5960" y="8813"/>
                  </a:cubicBezTo>
                  <a:lnTo>
                    <a:pt x="6166" y="8940"/>
                  </a:lnTo>
                  <a:cubicBezTo>
                    <a:pt x="6320" y="9035"/>
                    <a:pt x="6368" y="9236"/>
                    <a:pt x="6274" y="9390"/>
                  </a:cubicBezTo>
                  <a:cubicBezTo>
                    <a:pt x="6180" y="9542"/>
                    <a:pt x="5976" y="9591"/>
                    <a:pt x="5824" y="9497"/>
                  </a:cubicBezTo>
                  <a:lnTo>
                    <a:pt x="5741" y="9446"/>
                  </a:lnTo>
                  <a:lnTo>
                    <a:pt x="5811" y="9333"/>
                  </a:lnTo>
                  <a:cubicBezTo>
                    <a:pt x="5900" y="9188"/>
                    <a:pt x="5928" y="9010"/>
                    <a:pt x="5887" y="8844"/>
                  </a:cubicBezTo>
                  <a:cubicBezTo>
                    <a:pt x="5846" y="8680"/>
                    <a:pt x="5745" y="8543"/>
                    <a:pt x="5603" y="8459"/>
                  </a:cubicBezTo>
                  <a:cubicBezTo>
                    <a:pt x="5491" y="8393"/>
                    <a:pt x="5367" y="8366"/>
                    <a:pt x="5245" y="8375"/>
                  </a:cubicBezTo>
                  <a:cubicBezTo>
                    <a:pt x="5268" y="8277"/>
                    <a:pt x="5268" y="8174"/>
                    <a:pt x="5244" y="8075"/>
                  </a:cubicBezTo>
                  <a:cubicBezTo>
                    <a:pt x="5203" y="7911"/>
                    <a:pt x="5102" y="7774"/>
                    <a:pt x="4960" y="7690"/>
                  </a:cubicBezTo>
                  <a:cubicBezTo>
                    <a:pt x="4848" y="7624"/>
                    <a:pt x="4724" y="7597"/>
                    <a:pt x="4602" y="7605"/>
                  </a:cubicBezTo>
                  <a:cubicBezTo>
                    <a:pt x="4664" y="7342"/>
                    <a:pt x="4551" y="7059"/>
                    <a:pt x="4317" y="6920"/>
                  </a:cubicBezTo>
                  <a:cubicBezTo>
                    <a:pt x="4205" y="6855"/>
                    <a:pt x="4081" y="6828"/>
                    <a:pt x="3960" y="6836"/>
                  </a:cubicBezTo>
                  <a:cubicBezTo>
                    <a:pt x="4021" y="6573"/>
                    <a:pt x="3908" y="6290"/>
                    <a:pt x="3674" y="6151"/>
                  </a:cubicBezTo>
                  <a:cubicBezTo>
                    <a:pt x="3383" y="5979"/>
                    <a:pt x="3003" y="6074"/>
                    <a:pt x="2825" y="6361"/>
                  </a:cubicBezTo>
                  <a:lnTo>
                    <a:pt x="2213" y="7353"/>
                  </a:lnTo>
                  <a:lnTo>
                    <a:pt x="1588" y="7003"/>
                  </a:lnTo>
                  <a:lnTo>
                    <a:pt x="2514" y="4637"/>
                  </a:lnTo>
                  <a:lnTo>
                    <a:pt x="3018" y="4726"/>
                  </a:lnTo>
                  <a:cubicBezTo>
                    <a:pt x="2875" y="4904"/>
                    <a:pt x="2834" y="5155"/>
                    <a:pt x="2935" y="5377"/>
                  </a:cubicBezTo>
                  <a:cubicBezTo>
                    <a:pt x="3040" y="5606"/>
                    <a:pt x="3267" y="5742"/>
                    <a:pt x="3504" y="5742"/>
                  </a:cubicBezTo>
                  <a:cubicBezTo>
                    <a:pt x="3591" y="5742"/>
                    <a:pt x="3678" y="5724"/>
                    <a:pt x="3762" y="5686"/>
                  </a:cubicBezTo>
                  <a:lnTo>
                    <a:pt x="4632" y="5289"/>
                  </a:lnTo>
                  <a:cubicBezTo>
                    <a:pt x="4706" y="5256"/>
                    <a:pt x="4739" y="5166"/>
                    <a:pt x="4706" y="5093"/>
                  </a:cubicBezTo>
                  <a:cubicBezTo>
                    <a:pt x="4672" y="5019"/>
                    <a:pt x="4583" y="4985"/>
                    <a:pt x="4509" y="5019"/>
                  </a:cubicBezTo>
                  <a:lnTo>
                    <a:pt x="3639" y="5415"/>
                  </a:lnTo>
                  <a:cubicBezTo>
                    <a:pt x="3475" y="5490"/>
                    <a:pt x="3280" y="5417"/>
                    <a:pt x="3206" y="5253"/>
                  </a:cubicBezTo>
                  <a:cubicBezTo>
                    <a:pt x="3131" y="5089"/>
                    <a:pt x="3204" y="4895"/>
                    <a:pt x="3368" y="4820"/>
                  </a:cubicBezTo>
                  <a:lnTo>
                    <a:pt x="4760" y="4186"/>
                  </a:lnTo>
                  <a:lnTo>
                    <a:pt x="6417" y="4329"/>
                  </a:lnTo>
                  <a:cubicBezTo>
                    <a:pt x="6421" y="4329"/>
                    <a:pt x="6425" y="4329"/>
                    <a:pt x="6430" y="4329"/>
                  </a:cubicBezTo>
                  <a:cubicBezTo>
                    <a:pt x="6466" y="4329"/>
                    <a:pt x="6501" y="4316"/>
                    <a:pt x="6528" y="4292"/>
                  </a:cubicBezTo>
                  <a:lnTo>
                    <a:pt x="6669" y="4168"/>
                  </a:lnTo>
                  <a:lnTo>
                    <a:pt x="8654" y="6126"/>
                  </a:lnTo>
                  <a:lnTo>
                    <a:pt x="8265" y="6532"/>
                  </a:lnTo>
                  <a:close/>
                  <a:moveTo>
                    <a:pt x="8265" y="6532"/>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70" name="Google Shape;2270;p33"/>
          <p:cNvGrpSpPr/>
          <p:nvPr/>
        </p:nvGrpSpPr>
        <p:grpSpPr>
          <a:xfrm>
            <a:off x="5197448" y="1334439"/>
            <a:ext cx="393701" cy="395292"/>
            <a:chOff x="3197225" y="1658938"/>
            <a:chExt cx="393701" cy="395292"/>
          </a:xfrm>
        </p:grpSpPr>
        <p:sp>
          <p:nvSpPr>
            <p:cNvPr id="2271" name="Google Shape;2271;p33"/>
            <p:cNvSpPr/>
            <p:nvPr/>
          </p:nvSpPr>
          <p:spPr>
            <a:xfrm>
              <a:off x="3197225" y="1658938"/>
              <a:ext cx="393701" cy="395292"/>
            </a:xfrm>
            <a:custGeom>
              <a:avLst/>
              <a:gdLst/>
              <a:ahLst/>
              <a:cxnLst/>
              <a:rect l="l" t="t" r="r" b="b"/>
              <a:pathLst>
                <a:path w="10143" h="10150" extrusionOk="0">
                  <a:moveTo>
                    <a:pt x="9994" y="1118"/>
                  </a:moveTo>
                  <a:lnTo>
                    <a:pt x="7017" y="1118"/>
                  </a:lnTo>
                  <a:lnTo>
                    <a:pt x="5146" y="27"/>
                  </a:lnTo>
                  <a:cubicBezTo>
                    <a:pt x="5100" y="0"/>
                    <a:pt x="5043" y="0"/>
                    <a:pt x="4996" y="27"/>
                  </a:cubicBezTo>
                  <a:lnTo>
                    <a:pt x="3125" y="1118"/>
                  </a:lnTo>
                  <a:lnTo>
                    <a:pt x="149" y="1118"/>
                  </a:lnTo>
                  <a:cubicBezTo>
                    <a:pt x="66" y="1118"/>
                    <a:pt x="0" y="1185"/>
                    <a:pt x="0" y="1267"/>
                  </a:cubicBezTo>
                  <a:lnTo>
                    <a:pt x="0" y="1902"/>
                  </a:lnTo>
                  <a:cubicBezTo>
                    <a:pt x="0" y="1984"/>
                    <a:pt x="66" y="2051"/>
                    <a:pt x="149" y="2051"/>
                  </a:cubicBezTo>
                  <a:lnTo>
                    <a:pt x="476" y="2051"/>
                  </a:lnTo>
                  <a:lnTo>
                    <a:pt x="476" y="8254"/>
                  </a:lnTo>
                  <a:cubicBezTo>
                    <a:pt x="476" y="8336"/>
                    <a:pt x="543" y="8403"/>
                    <a:pt x="625" y="8403"/>
                  </a:cubicBezTo>
                  <a:lnTo>
                    <a:pt x="4922" y="8403"/>
                  </a:lnTo>
                  <a:lnTo>
                    <a:pt x="4922" y="9852"/>
                  </a:lnTo>
                  <a:lnTo>
                    <a:pt x="4436" y="9852"/>
                  </a:lnTo>
                  <a:cubicBezTo>
                    <a:pt x="4354" y="9852"/>
                    <a:pt x="4287" y="9919"/>
                    <a:pt x="4287" y="10001"/>
                  </a:cubicBezTo>
                  <a:cubicBezTo>
                    <a:pt x="4287" y="10083"/>
                    <a:pt x="4354" y="10150"/>
                    <a:pt x="4436" y="10150"/>
                  </a:cubicBezTo>
                  <a:lnTo>
                    <a:pt x="5706" y="10150"/>
                  </a:lnTo>
                  <a:cubicBezTo>
                    <a:pt x="5789" y="10150"/>
                    <a:pt x="5855" y="10083"/>
                    <a:pt x="5855" y="10001"/>
                  </a:cubicBezTo>
                  <a:cubicBezTo>
                    <a:pt x="5855" y="9919"/>
                    <a:pt x="5789" y="9852"/>
                    <a:pt x="5706" y="9852"/>
                  </a:cubicBezTo>
                  <a:lnTo>
                    <a:pt x="5220" y="9852"/>
                  </a:lnTo>
                  <a:lnTo>
                    <a:pt x="5220" y="8403"/>
                  </a:lnTo>
                  <a:lnTo>
                    <a:pt x="9518" y="8403"/>
                  </a:lnTo>
                  <a:cubicBezTo>
                    <a:pt x="9600" y="8403"/>
                    <a:pt x="9666" y="8336"/>
                    <a:pt x="9666" y="8254"/>
                  </a:cubicBezTo>
                  <a:lnTo>
                    <a:pt x="9666" y="2051"/>
                  </a:lnTo>
                  <a:lnTo>
                    <a:pt x="9994" y="2051"/>
                  </a:lnTo>
                  <a:cubicBezTo>
                    <a:pt x="10076" y="2051"/>
                    <a:pt x="10143" y="1984"/>
                    <a:pt x="10143" y="1902"/>
                  </a:cubicBezTo>
                  <a:lnTo>
                    <a:pt x="10143" y="1267"/>
                  </a:lnTo>
                  <a:cubicBezTo>
                    <a:pt x="10143" y="1185"/>
                    <a:pt x="10076" y="1118"/>
                    <a:pt x="9994" y="1118"/>
                  </a:cubicBezTo>
                  <a:close/>
                  <a:moveTo>
                    <a:pt x="5071" y="328"/>
                  </a:moveTo>
                  <a:lnTo>
                    <a:pt x="6426" y="1118"/>
                  </a:lnTo>
                  <a:lnTo>
                    <a:pt x="3716" y="1118"/>
                  </a:lnTo>
                  <a:lnTo>
                    <a:pt x="5071" y="328"/>
                  </a:lnTo>
                  <a:close/>
                  <a:moveTo>
                    <a:pt x="9845" y="1753"/>
                  </a:moveTo>
                  <a:lnTo>
                    <a:pt x="8327" y="1753"/>
                  </a:lnTo>
                  <a:cubicBezTo>
                    <a:pt x="8244" y="1753"/>
                    <a:pt x="8178" y="1820"/>
                    <a:pt x="8178" y="1902"/>
                  </a:cubicBezTo>
                  <a:cubicBezTo>
                    <a:pt x="8178" y="1984"/>
                    <a:pt x="8244" y="2051"/>
                    <a:pt x="8327" y="2051"/>
                  </a:cubicBezTo>
                  <a:lnTo>
                    <a:pt x="9369" y="2051"/>
                  </a:lnTo>
                  <a:lnTo>
                    <a:pt x="9369" y="8105"/>
                  </a:lnTo>
                  <a:lnTo>
                    <a:pt x="774" y="8105"/>
                  </a:lnTo>
                  <a:lnTo>
                    <a:pt x="774" y="2051"/>
                  </a:lnTo>
                  <a:lnTo>
                    <a:pt x="7639" y="2051"/>
                  </a:lnTo>
                  <a:cubicBezTo>
                    <a:pt x="7721" y="2051"/>
                    <a:pt x="7787" y="1984"/>
                    <a:pt x="7787" y="1902"/>
                  </a:cubicBezTo>
                  <a:cubicBezTo>
                    <a:pt x="7787" y="1820"/>
                    <a:pt x="7721" y="1753"/>
                    <a:pt x="7639" y="1753"/>
                  </a:cubicBezTo>
                  <a:lnTo>
                    <a:pt x="298" y="1753"/>
                  </a:lnTo>
                  <a:lnTo>
                    <a:pt x="298" y="1416"/>
                  </a:lnTo>
                  <a:lnTo>
                    <a:pt x="9845" y="1416"/>
                  </a:lnTo>
                  <a:lnTo>
                    <a:pt x="9845" y="1753"/>
                  </a:lnTo>
                  <a:lnTo>
                    <a:pt x="9845" y="1753"/>
                  </a:lnTo>
                  <a:close/>
                  <a:moveTo>
                    <a:pt x="9845" y="1753"/>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2" name="Google Shape;2272;p33"/>
            <p:cNvSpPr/>
            <p:nvPr/>
          </p:nvSpPr>
          <p:spPr>
            <a:xfrm>
              <a:off x="3263900" y="1752600"/>
              <a:ext cx="111122" cy="109536"/>
            </a:xfrm>
            <a:custGeom>
              <a:avLst/>
              <a:gdLst/>
              <a:ahLst/>
              <a:cxnLst/>
              <a:rect l="l" t="t" r="r" b="b"/>
              <a:pathLst>
                <a:path w="2838" h="2839" extrusionOk="0">
                  <a:moveTo>
                    <a:pt x="1419" y="0"/>
                  </a:moveTo>
                  <a:cubicBezTo>
                    <a:pt x="636" y="0"/>
                    <a:pt x="0" y="637"/>
                    <a:pt x="0" y="1420"/>
                  </a:cubicBezTo>
                  <a:cubicBezTo>
                    <a:pt x="0" y="2202"/>
                    <a:pt x="636" y="2839"/>
                    <a:pt x="1419" y="2839"/>
                  </a:cubicBezTo>
                  <a:cubicBezTo>
                    <a:pt x="2201" y="2839"/>
                    <a:pt x="2838" y="2202"/>
                    <a:pt x="2838" y="1420"/>
                  </a:cubicBezTo>
                  <a:cubicBezTo>
                    <a:pt x="2838" y="637"/>
                    <a:pt x="2201" y="0"/>
                    <a:pt x="1419" y="0"/>
                  </a:cubicBezTo>
                  <a:close/>
                  <a:moveTo>
                    <a:pt x="1419" y="2541"/>
                  </a:moveTo>
                  <a:cubicBezTo>
                    <a:pt x="800" y="2541"/>
                    <a:pt x="297" y="2038"/>
                    <a:pt x="297" y="1420"/>
                  </a:cubicBezTo>
                  <a:cubicBezTo>
                    <a:pt x="297" y="801"/>
                    <a:pt x="800" y="298"/>
                    <a:pt x="1419" y="298"/>
                  </a:cubicBezTo>
                  <a:cubicBezTo>
                    <a:pt x="2037" y="298"/>
                    <a:pt x="2540" y="801"/>
                    <a:pt x="2540" y="1420"/>
                  </a:cubicBezTo>
                  <a:cubicBezTo>
                    <a:pt x="2540" y="2038"/>
                    <a:pt x="2037" y="2541"/>
                    <a:pt x="1419" y="2541"/>
                  </a:cubicBezTo>
                  <a:close/>
                  <a:moveTo>
                    <a:pt x="1419" y="2541"/>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3" name="Google Shape;2273;p33"/>
            <p:cNvSpPr/>
            <p:nvPr/>
          </p:nvSpPr>
          <p:spPr>
            <a:xfrm>
              <a:off x="3433763" y="1868488"/>
              <a:ext cx="93660" cy="93660"/>
            </a:xfrm>
            <a:custGeom>
              <a:avLst/>
              <a:gdLst/>
              <a:ahLst/>
              <a:cxnLst/>
              <a:rect l="l" t="t" r="r" b="b"/>
              <a:pathLst>
                <a:path w="2437" h="2434" extrusionOk="0">
                  <a:moveTo>
                    <a:pt x="1766" y="1217"/>
                  </a:moveTo>
                  <a:lnTo>
                    <a:pt x="2286" y="696"/>
                  </a:lnTo>
                  <a:cubicBezTo>
                    <a:pt x="2437" y="545"/>
                    <a:pt x="2437" y="300"/>
                    <a:pt x="2286" y="149"/>
                  </a:cubicBezTo>
                  <a:cubicBezTo>
                    <a:pt x="2137" y="0"/>
                    <a:pt x="1888" y="0"/>
                    <a:pt x="1739" y="149"/>
                  </a:cubicBezTo>
                  <a:lnTo>
                    <a:pt x="1218" y="669"/>
                  </a:lnTo>
                  <a:lnTo>
                    <a:pt x="698" y="149"/>
                  </a:lnTo>
                  <a:cubicBezTo>
                    <a:pt x="549" y="0"/>
                    <a:pt x="300" y="0"/>
                    <a:pt x="151" y="149"/>
                  </a:cubicBezTo>
                  <a:cubicBezTo>
                    <a:pt x="0" y="300"/>
                    <a:pt x="0" y="545"/>
                    <a:pt x="151" y="696"/>
                  </a:cubicBezTo>
                  <a:lnTo>
                    <a:pt x="671" y="1217"/>
                  </a:lnTo>
                  <a:lnTo>
                    <a:pt x="151" y="1737"/>
                  </a:lnTo>
                  <a:cubicBezTo>
                    <a:pt x="0" y="1888"/>
                    <a:pt x="0" y="2133"/>
                    <a:pt x="151" y="2284"/>
                  </a:cubicBezTo>
                  <a:cubicBezTo>
                    <a:pt x="300" y="2434"/>
                    <a:pt x="549" y="2434"/>
                    <a:pt x="698" y="2284"/>
                  </a:cubicBezTo>
                  <a:lnTo>
                    <a:pt x="1218" y="1764"/>
                  </a:lnTo>
                  <a:lnTo>
                    <a:pt x="1739" y="2284"/>
                  </a:lnTo>
                  <a:cubicBezTo>
                    <a:pt x="1888" y="2434"/>
                    <a:pt x="2137" y="2434"/>
                    <a:pt x="2286" y="2284"/>
                  </a:cubicBezTo>
                  <a:cubicBezTo>
                    <a:pt x="2437" y="2133"/>
                    <a:pt x="2437" y="1888"/>
                    <a:pt x="2286" y="1737"/>
                  </a:cubicBezTo>
                  <a:lnTo>
                    <a:pt x="1766" y="1217"/>
                  </a:lnTo>
                  <a:close/>
                  <a:moveTo>
                    <a:pt x="2079" y="2070"/>
                  </a:moveTo>
                  <a:cubicBezTo>
                    <a:pt x="2046" y="2108"/>
                    <a:pt x="1985" y="2110"/>
                    <a:pt x="1949" y="2074"/>
                  </a:cubicBezTo>
                  <a:lnTo>
                    <a:pt x="1324" y="1448"/>
                  </a:lnTo>
                  <a:cubicBezTo>
                    <a:pt x="1266" y="1391"/>
                    <a:pt x="1171" y="1391"/>
                    <a:pt x="1113" y="1448"/>
                  </a:cubicBezTo>
                  <a:lnTo>
                    <a:pt x="488" y="2074"/>
                  </a:lnTo>
                  <a:cubicBezTo>
                    <a:pt x="452" y="2110"/>
                    <a:pt x="391" y="2108"/>
                    <a:pt x="357" y="2070"/>
                  </a:cubicBezTo>
                  <a:cubicBezTo>
                    <a:pt x="327" y="2035"/>
                    <a:pt x="328" y="1980"/>
                    <a:pt x="361" y="1947"/>
                  </a:cubicBezTo>
                  <a:lnTo>
                    <a:pt x="987" y="1322"/>
                  </a:lnTo>
                  <a:cubicBezTo>
                    <a:pt x="1045" y="1264"/>
                    <a:pt x="1045" y="1170"/>
                    <a:pt x="987" y="1111"/>
                  </a:cubicBezTo>
                  <a:lnTo>
                    <a:pt x="361" y="486"/>
                  </a:lnTo>
                  <a:cubicBezTo>
                    <a:pt x="328" y="453"/>
                    <a:pt x="327" y="399"/>
                    <a:pt x="357" y="364"/>
                  </a:cubicBezTo>
                  <a:cubicBezTo>
                    <a:pt x="391" y="325"/>
                    <a:pt x="452" y="324"/>
                    <a:pt x="488" y="359"/>
                  </a:cubicBezTo>
                  <a:lnTo>
                    <a:pt x="1113" y="985"/>
                  </a:lnTo>
                  <a:cubicBezTo>
                    <a:pt x="1171" y="1043"/>
                    <a:pt x="1266" y="1043"/>
                    <a:pt x="1324" y="985"/>
                  </a:cubicBezTo>
                  <a:lnTo>
                    <a:pt x="1949" y="359"/>
                  </a:lnTo>
                  <a:cubicBezTo>
                    <a:pt x="1985" y="324"/>
                    <a:pt x="2046" y="326"/>
                    <a:pt x="2079" y="364"/>
                  </a:cubicBezTo>
                  <a:cubicBezTo>
                    <a:pt x="2110" y="398"/>
                    <a:pt x="2108" y="453"/>
                    <a:pt x="2076" y="486"/>
                  </a:cubicBezTo>
                  <a:lnTo>
                    <a:pt x="1450" y="1111"/>
                  </a:lnTo>
                  <a:cubicBezTo>
                    <a:pt x="1392" y="1170"/>
                    <a:pt x="1392" y="1264"/>
                    <a:pt x="1450" y="1322"/>
                  </a:cubicBezTo>
                  <a:lnTo>
                    <a:pt x="2076" y="1947"/>
                  </a:lnTo>
                  <a:cubicBezTo>
                    <a:pt x="2108" y="1980"/>
                    <a:pt x="2110" y="2035"/>
                    <a:pt x="2079" y="2070"/>
                  </a:cubicBezTo>
                  <a:close/>
                  <a:moveTo>
                    <a:pt x="2079" y="2070"/>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4" name="Google Shape;2274;p33"/>
            <p:cNvSpPr/>
            <p:nvPr/>
          </p:nvSpPr>
          <p:spPr>
            <a:xfrm>
              <a:off x="3263900" y="1776413"/>
              <a:ext cx="266704" cy="147638"/>
            </a:xfrm>
            <a:custGeom>
              <a:avLst/>
              <a:gdLst/>
              <a:ahLst/>
              <a:cxnLst/>
              <a:rect l="l" t="t" r="r" b="b"/>
              <a:pathLst>
                <a:path w="6825" h="3810" extrusionOk="0">
                  <a:moveTo>
                    <a:pt x="6752" y="686"/>
                  </a:moveTo>
                  <a:lnTo>
                    <a:pt x="5958" y="51"/>
                  </a:lnTo>
                  <a:cubicBezTo>
                    <a:pt x="5894" y="0"/>
                    <a:pt x="5800" y="10"/>
                    <a:pt x="5749" y="75"/>
                  </a:cubicBezTo>
                  <a:cubicBezTo>
                    <a:pt x="5697" y="139"/>
                    <a:pt x="5708" y="232"/>
                    <a:pt x="5772" y="284"/>
                  </a:cubicBezTo>
                  <a:lnTo>
                    <a:pt x="6235" y="654"/>
                  </a:lnTo>
                  <a:lnTo>
                    <a:pt x="4277" y="654"/>
                  </a:lnTo>
                  <a:cubicBezTo>
                    <a:pt x="3845" y="654"/>
                    <a:pt x="3493" y="1006"/>
                    <a:pt x="3493" y="1438"/>
                  </a:cubicBezTo>
                  <a:lnTo>
                    <a:pt x="3493" y="3026"/>
                  </a:lnTo>
                  <a:cubicBezTo>
                    <a:pt x="3493" y="3294"/>
                    <a:pt x="3275" y="3512"/>
                    <a:pt x="3007" y="3512"/>
                  </a:cubicBezTo>
                  <a:lnTo>
                    <a:pt x="148" y="3512"/>
                  </a:lnTo>
                  <a:cubicBezTo>
                    <a:pt x="66" y="3512"/>
                    <a:pt x="0" y="3579"/>
                    <a:pt x="0" y="3661"/>
                  </a:cubicBezTo>
                  <a:cubicBezTo>
                    <a:pt x="0" y="3743"/>
                    <a:pt x="66" y="3810"/>
                    <a:pt x="148" y="3810"/>
                  </a:cubicBezTo>
                  <a:lnTo>
                    <a:pt x="3007" y="3810"/>
                  </a:lnTo>
                  <a:cubicBezTo>
                    <a:pt x="3439" y="3810"/>
                    <a:pt x="3791" y="3458"/>
                    <a:pt x="3791" y="3026"/>
                  </a:cubicBezTo>
                  <a:lnTo>
                    <a:pt x="3791" y="1438"/>
                  </a:lnTo>
                  <a:cubicBezTo>
                    <a:pt x="3791" y="1170"/>
                    <a:pt x="4009" y="952"/>
                    <a:pt x="4277" y="952"/>
                  </a:cubicBezTo>
                  <a:lnTo>
                    <a:pt x="6235" y="952"/>
                  </a:lnTo>
                  <a:lnTo>
                    <a:pt x="5772" y="1322"/>
                  </a:lnTo>
                  <a:cubicBezTo>
                    <a:pt x="5714" y="1368"/>
                    <a:pt x="5699" y="1454"/>
                    <a:pt x="5739" y="1517"/>
                  </a:cubicBezTo>
                  <a:cubicBezTo>
                    <a:pt x="5786" y="1591"/>
                    <a:pt x="5889" y="1609"/>
                    <a:pt x="5958" y="1554"/>
                  </a:cubicBezTo>
                  <a:lnTo>
                    <a:pt x="6752" y="919"/>
                  </a:lnTo>
                  <a:cubicBezTo>
                    <a:pt x="6825" y="860"/>
                    <a:pt x="6825" y="745"/>
                    <a:pt x="6752" y="686"/>
                  </a:cubicBezTo>
                  <a:close/>
                  <a:moveTo>
                    <a:pt x="6752" y="686"/>
                  </a:move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94" name="Google Shape;2294;p33"/>
          <p:cNvSpPr txBox="1">
            <a:spLocks noGrp="1"/>
          </p:cNvSpPr>
          <p:nvPr>
            <p:ph type="subTitle" idx="2"/>
          </p:nvPr>
        </p:nvSpPr>
        <p:spPr>
          <a:xfrm>
            <a:off x="5783190" y="1729731"/>
            <a:ext cx="2958060" cy="7764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 sz="1400" dirty="0"/>
              <a:t>A live Banner or production HELSB connection.</a:t>
            </a:r>
          </a:p>
          <a:p>
            <a:pPr marL="171450" lvl="0" indent="-171450" algn="l" rtl="0">
              <a:spcBef>
                <a:spcPts val="0"/>
              </a:spcBef>
              <a:spcAft>
                <a:spcPts val="0"/>
              </a:spcAft>
              <a:buFont typeface="Arial" panose="020B0604020202020204" pitchFamily="34" charset="0"/>
              <a:buChar char="•"/>
            </a:pPr>
            <a:r>
              <a:rPr lang="en" sz="1400" dirty="0"/>
              <a:t>A live payment gateway or real disbursement.</a:t>
            </a:r>
          </a:p>
          <a:p>
            <a:pPr marL="171450" lvl="0" indent="-171450" algn="l" rtl="0">
              <a:spcBef>
                <a:spcPts val="0"/>
              </a:spcBef>
              <a:spcAft>
                <a:spcPts val="0"/>
              </a:spcAft>
              <a:buFont typeface="Arial" panose="020B0604020202020204" pitchFamily="34" charset="0"/>
              <a:buChar char="•"/>
            </a:pPr>
            <a:r>
              <a:rPr lang="en" sz="1400" dirty="0"/>
              <a:t>Biometric identity checks.</a:t>
            </a:r>
          </a:p>
          <a:p>
            <a:pPr marL="171450" lvl="0" indent="-171450" algn="l" rtl="0">
              <a:spcBef>
                <a:spcPts val="0"/>
              </a:spcBef>
              <a:spcAft>
                <a:spcPts val="0"/>
              </a:spcAft>
              <a:buFont typeface="Arial" panose="020B0604020202020204" pitchFamily="34" charset="0"/>
              <a:buChar char="•"/>
            </a:pPr>
            <a:r>
              <a:rPr lang="en" sz="1400" dirty="0"/>
              <a:t>SMS notifications.</a:t>
            </a:r>
            <a:r>
              <a:rPr lang="en" dirty="0"/>
              <a:t/>
            </a:r>
            <a:endParaRPr dirty="0"/>
          </a:p>
        </p:txBody>
      </p:sp>
      <p:sp>
        <p:nvSpPr>
          <p:cNvPr id="2295" name="Google Shape;2295;p33"/>
          <p:cNvSpPr txBox="1">
            <a:spLocks noGrp="1"/>
          </p:cNvSpPr>
          <p:nvPr>
            <p:ph type="subTitle" idx="3"/>
          </p:nvPr>
        </p:nvSpPr>
        <p:spPr>
          <a:xfrm>
            <a:off x="1081710" y="1689372"/>
            <a:ext cx="3219628" cy="278753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 sz="1400" dirty="0"/>
              <a:t>A prototype web application for students and a HELSB screening portal.</a:t>
            </a:r>
          </a:p>
          <a:p>
            <a:pPr marL="171450" lvl="0" indent="-171450" algn="l" rtl="0">
              <a:spcBef>
                <a:spcPts val="0"/>
              </a:spcBef>
              <a:spcAft>
                <a:spcPts val="0"/>
              </a:spcAft>
              <a:buFont typeface="Arial" panose="020B0604020202020204" pitchFamily="34" charset="0"/>
              <a:buChar char="•"/>
            </a:pPr>
            <a:r>
              <a:rPr lang="en" sz="1400" dirty="0"/>
              <a:t>PDFs for fees, results, confirmation, and the examination slip, each with a QR code.</a:t>
            </a:r>
          </a:p>
          <a:p>
            <a:pPr marL="171450" lvl="0" indent="-171450" algn="l" rtl="0">
              <a:spcBef>
                <a:spcPts val="0"/>
              </a:spcBef>
              <a:spcAft>
                <a:spcPts val="0"/>
              </a:spcAft>
              <a:buFont typeface="Arial" panose="020B0604020202020204" pitchFamily="34" charset="0"/>
              <a:buChar char="•"/>
            </a:pPr>
            <a:r>
              <a:rPr lang="en" sz="1400" dirty="0"/>
              <a:t>Phone verification page, including the issued time.</a:t>
            </a:r>
          </a:p>
          <a:p>
            <a:pPr marL="171450" lvl="0" indent="-171450" algn="l" rtl="0">
              <a:spcBef>
                <a:spcPts val="0"/>
              </a:spcBef>
              <a:spcAft>
                <a:spcPts val="0"/>
              </a:spcAft>
              <a:buFont typeface="Arial" panose="020B0604020202020204" pitchFamily="34" charset="0"/>
              <a:buChar char="•"/>
            </a:pPr>
            <a:r>
              <a:rPr lang="en" sz="1400" dirty="0"/>
              <a:t>Tracker from Submitted through Disbursement.</a:t>
            </a:r>
          </a:p>
          <a:p>
            <a:pPr marL="171450" lvl="0" indent="-171450" algn="l" rtl="0">
              <a:spcBef>
                <a:spcPts val="0"/>
              </a:spcBef>
              <a:spcAft>
                <a:spcPts val="0"/>
              </a:spcAft>
              <a:buFont typeface="Arial" panose="020B0604020202020204" pitchFamily="34" charset="0"/>
              <a:buChar char="•"/>
            </a:pPr>
            <a:r>
              <a:rPr lang="en" sz="1400" dirty="0"/>
              <a:t>Screening sentences, a phone-width layout, and an Expo client.</a:t>
            </a:r>
          </a:p>
          <a:p>
            <a:pPr marL="171450" lvl="0" indent="-171450" algn="l" rtl="0">
              <a:spcBef>
                <a:spcPts val="0"/>
              </a:spcBef>
              <a:spcAft>
                <a:spcPts val="0"/>
              </a:spcAft>
              <a:buFont typeface="Arial" panose="020B0604020202020204" pitchFamily="34" charset="0"/>
              <a:buChar char="•"/>
            </a:pPr>
            <a:r>
              <a:rPr lang="en" sz="1400" dirty="0"/>
              <a:t>Seeded students and officers, with JWT sessions and hashed passwords.</a:t>
            </a:r>
            <a:endParaRP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Literature Overview</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3714229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563455" y="173420"/>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Literature Overview</a:t>
            </a:r>
            <a:endParaRPr dirty="0"/>
          </a:p>
        </p:txBody>
      </p:sp>
      <p:graphicFrame>
        <p:nvGraphicFramePr>
          <p:cNvPr id="5" name="Table 5">
            <a:extLst>
              <a:ext uri="{FF2B5EF4-FFF2-40B4-BE49-F238E27FC236}">
                <a16:creationId xmlns:a16="http://schemas.microsoft.com/office/drawing/2014/main" id="{3EE60BC3-E0F2-4F44-B05A-D4F44D38D95C}"/>
              </a:ext>
            </a:extLst>
          </p:cNvPr>
          <p:cNvGraphicFramePr>
            <a:graphicFrameLocks noGrp="1"/>
          </p:cNvGraphicFramePr>
          <p:nvPr>
            <p:extLst>
              <p:ext uri="{D42A27DB-BD31-4B8C-83A1-F6EECF244321}">
                <p14:modId xmlns:p14="http://schemas.microsoft.com/office/powerpoint/2010/main" val="3845071949"/>
              </p:ext>
            </p:extLst>
          </p:nvPr>
        </p:nvGraphicFramePr>
        <p:xfrm>
          <a:off x="117043" y="791218"/>
          <a:ext cx="8851392" cy="3230880"/>
        </p:xfrm>
        <a:graphic>
          <a:graphicData uri="http://schemas.openxmlformats.org/drawingml/2006/table">
            <a:tbl>
              <a:tblPr firstRow="1" bandRow="1">
                <a:tableStyleId>{A407EE39-42F6-4224-913A-FE5B60889325}</a:tableStyleId>
              </a:tblPr>
              <a:tblGrid>
                <a:gridCol w="2884390">
                  <a:extLst>
                    <a:ext uri="{9D8B030D-6E8A-4147-A177-3AD203B41FA5}">
                      <a16:colId xmlns:a16="http://schemas.microsoft.com/office/drawing/2014/main" val="1231898644"/>
                    </a:ext>
                  </a:extLst>
                </a:gridCol>
                <a:gridCol w="2983501">
                  <a:extLst>
                    <a:ext uri="{9D8B030D-6E8A-4147-A177-3AD203B41FA5}">
                      <a16:colId xmlns:a16="http://schemas.microsoft.com/office/drawing/2014/main" val="1445808864"/>
                    </a:ext>
                  </a:extLst>
                </a:gridCol>
                <a:gridCol w="2983501">
                  <a:extLst>
                    <a:ext uri="{9D8B030D-6E8A-4147-A177-3AD203B41FA5}">
                      <a16:colId xmlns:a16="http://schemas.microsoft.com/office/drawing/2014/main" val="2699406260"/>
                    </a:ext>
                  </a:extLst>
                </a:gridCol>
              </a:tblGrid>
              <a:tr h="274554">
                <a:tc>
                  <a:txBody>
                    <a:bodyPr/>
                    <a:lstStyle/>
                    <a:p>
                      <a:r>
                        <a:rPr lang="en-US" b="1" dirty="0"/>
                        <a:t>Concept</a:t>
                      </a:r>
                      <a:endParaRPr lang="en-GB" b="1" dirty="0"/>
                    </a:p>
                  </a:txBody>
                  <a:tcPr/>
                </a:tc>
                <a:tc>
                  <a:txBody>
                    <a:bodyPr/>
                    <a:lstStyle/>
                    <a:p>
                      <a:r>
                        <a:rPr lang="en-US" b="1" dirty="0"/>
                        <a:t>Reference</a:t>
                      </a:r>
                      <a:endParaRPr lang="en-GB" b="1" dirty="0"/>
                    </a:p>
                  </a:txBody>
                  <a:tcPr/>
                </a:tc>
                <a:tc>
                  <a:txBody>
                    <a:bodyPr/>
                    <a:lstStyle/>
                    <a:p>
                      <a:r>
                        <a:rPr lang="en-US" b="1" dirty="0"/>
                        <a:t>What the system does</a:t>
                      </a:r>
                      <a:r>
                        <a:rPr lang="en-US" b="1" dirty="0" err="1"/>
                        <a:t/>
                      </a:r>
                      <a:r>
                        <a:rPr lang="en-US" b="1" dirty="0"/>
                        <a:t/>
                      </a:r>
                      <a:endParaRPr lang="en-GB" b="1" dirty="0"/>
                    </a:p>
                  </a:txBody>
                  <a:tcPr/>
                </a:tc>
                <a:extLst>
                  <a:ext uri="{0D108BD9-81ED-4DB2-BD59-A6C34878D82A}">
                    <a16:rowId xmlns:a16="http://schemas.microsoft.com/office/drawing/2014/main" val="701558544"/>
                  </a:ext>
                </a:extLst>
              </a:tr>
              <a:tr h="49925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Document verification</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err="1">
                          <a:solidFill>
                            <a:schemeClr val="bg1">
                              <a:lumMod val="10000"/>
                            </a:schemeClr>
                          </a:solidFill>
                          <a:latin typeface="Libre Baskerville"/>
                          <a:ea typeface="Libre Baskerville"/>
                          <a:cs typeface="Libre Baskerville"/>
                          <a:sym typeface="Libre Baskerville"/>
                        </a:rPr>
                        <a:t>ISO/IEC 18004 (QR)</a:t>
                      </a:r>
                      <a:r>
                        <a:rPr lang="en-US" sz="1400" dirty="0">
                          <a:solidFill>
                            <a:schemeClr val="bg1">
                              <a:lumMod val="10000"/>
                            </a:schemeClr>
                          </a:solidFill>
                          <a:latin typeface="Libre Baskerville"/>
                          <a:ea typeface="Libre Baskerville"/>
                          <a:cs typeface="Libre Baskerville"/>
                          <a:sym typeface="Libre Baskerville"/>
                        </a:rPr>
                        <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Each PDF carries a QR code and the time it was issued.</a:t>
                      </a:r>
                      <a:endParaRPr lang="en-US" sz="800" dirty="0">
                        <a:solidFill>
                          <a:schemeClr val="bg1">
                            <a:lumMod val="10000"/>
                          </a:schemeClr>
                        </a:solidFill>
                      </a:endParaRPr>
                    </a:p>
                    <a:p>
                      <a:endParaRPr lang="en-GB" dirty="0">
                        <a:solidFill>
                          <a:schemeClr val="bg1">
                            <a:lumMod val="10000"/>
                          </a:schemeClr>
                        </a:solidFill>
                      </a:endParaRPr>
                    </a:p>
                  </a:txBody>
                  <a:tcPr/>
                </a:tc>
                <a:extLst>
                  <a:ext uri="{0D108BD9-81ED-4DB2-BD59-A6C34878D82A}">
                    <a16:rowId xmlns:a16="http://schemas.microsoft.com/office/drawing/2014/main" val="3650456308"/>
                  </a:ext>
                </a:extLst>
              </a:tr>
              <a:tr h="6589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Session security</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RFC 7519 (JWT)</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Student and officer sessions use separate tokens.</a:t>
                      </a:r>
                      <a:endParaRPr lang="en-US" sz="800" dirty="0">
                        <a:solidFill>
                          <a:schemeClr val="bg1">
                            <a:lumMod val="10000"/>
                          </a:schemeClr>
                        </a:solidFill>
                      </a:endParaRPr>
                    </a:p>
                    <a:p>
                      <a:endParaRPr lang="en-GB" dirty="0">
                        <a:solidFill>
                          <a:schemeClr val="bg1">
                            <a:lumMod val="10000"/>
                          </a:schemeClr>
                        </a:solidFill>
                      </a:endParaRPr>
                    </a:p>
                  </a:txBody>
                  <a:tcPr/>
                </a:tc>
                <a:extLst>
                  <a:ext uri="{0D108BD9-81ED-4DB2-BD59-A6C34878D82A}">
                    <a16:rowId xmlns:a16="http://schemas.microsoft.com/office/drawing/2014/main" val="698287794"/>
                  </a:ext>
                </a:extLst>
              </a:tr>
              <a:tr h="6589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Service boundary</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Fielding (2000)</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The browser talks to an API. The two APIs do not share tables.</a:t>
                      </a:r>
                      <a:endParaRPr lang="en-US" sz="800" dirty="0">
                        <a:solidFill>
                          <a:schemeClr val="bg1">
                            <a:lumMod val="10000"/>
                          </a:schemeClr>
                        </a:solidFill>
                      </a:endParaRPr>
                    </a:p>
                    <a:p>
                      <a:endParaRPr lang="en-GB" dirty="0">
                        <a:solidFill>
                          <a:schemeClr val="bg1">
                            <a:lumMod val="10000"/>
                          </a:schemeClr>
                        </a:solidFill>
                      </a:endParaRPr>
                    </a:p>
                  </a:txBody>
                  <a:tcPr/>
                </a:tc>
                <a:extLst>
                  <a:ext uri="{0D108BD9-81ED-4DB2-BD59-A6C34878D82A}">
                    <a16:rowId xmlns:a16="http://schemas.microsoft.com/office/drawing/2014/main" val="1452998245"/>
                  </a:ext>
                </a:extLst>
              </a:tr>
              <a:tr h="6589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Student consent</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err="1">
                          <a:solidFill>
                            <a:schemeClr val="bg1">
                              <a:lumMod val="10000"/>
                            </a:schemeClr>
                          </a:solidFill>
                          <a:latin typeface="Libre Baskerville"/>
                          <a:ea typeface="Libre Baskerville"/>
                          <a:cs typeface="Libre Baskerville"/>
                          <a:sym typeface="Libre Baskerville"/>
                        </a:rPr>
                        <a:t>HELSB loan workflow</a:t>
                      </a:r>
                      <a:r>
                        <a:rPr lang="en-US" sz="1400" dirty="0">
                          <a:solidFill>
                            <a:schemeClr val="bg1">
                              <a:lumMod val="10000"/>
                            </a:schemeClr>
                          </a:solidFill>
                          <a:latin typeface="Libre Baskerville"/>
                          <a:ea typeface="Libre Baskerville"/>
                          <a:cs typeface="Libre Baskerville"/>
                          <a:sym typeface="Libre Baskerville"/>
                        </a:rPr>
                        <a:t/>
                      </a:r>
                      <a:endParaRPr lang="en-US" sz="800" dirty="0">
                        <a:solidFill>
                          <a:schemeClr val="bg1">
                            <a:lumMod val="10000"/>
                          </a:schemeClr>
                        </a:solidFill>
                      </a:endParaRPr>
                    </a:p>
                    <a:p>
                      <a:endParaRPr lang="en-GB" dirty="0">
                        <a:solidFill>
                          <a:schemeClr val="bg1">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Libre Baskerville"/>
                          <a:ea typeface="Libre Baskerville"/>
                          <a:cs typeface="Libre Baskerville"/>
                          <a:sym typeface="Libre Baskerville"/>
                        </a:rPr>
                        <a:t>The student shares the application. Screening then reads that student's record.</a:t>
                      </a:r>
                      <a:endParaRPr lang="en-US" sz="800" dirty="0">
                        <a:solidFill>
                          <a:schemeClr val="bg1">
                            <a:lumMod val="10000"/>
                          </a:schemeClr>
                        </a:solidFill>
                      </a:endParaRPr>
                    </a:p>
                    <a:p>
                      <a:endParaRPr lang="en-GB" dirty="0">
                        <a:solidFill>
                          <a:schemeClr val="bg1">
                            <a:lumMod val="10000"/>
                          </a:schemeClr>
                        </a:solidFill>
                      </a:endParaRPr>
                    </a:p>
                  </a:txBody>
                  <a:tcPr/>
                </a:tc>
                <a:extLst>
                  <a:ext uri="{0D108BD9-81ED-4DB2-BD59-A6C34878D82A}">
                    <a16:rowId xmlns:a16="http://schemas.microsoft.com/office/drawing/2014/main" val="165850389"/>
                  </a:ext>
                </a:extLst>
              </a:tr>
            </a:tbl>
          </a:graphicData>
        </a:graphic>
      </p:graphicFrame>
      <p:sp>
        <p:nvSpPr>
          <p:cNvPr id="6" name="TextBox 5">
            <a:extLst>
              <a:ext uri="{FF2B5EF4-FFF2-40B4-BE49-F238E27FC236}">
                <a16:creationId xmlns:a16="http://schemas.microsoft.com/office/drawing/2014/main" id="{80E53F60-5E08-458B-9BA6-502B5E9CE04E}"/>
              </a:ext>
            </a:extLst>
          </p:cNvPr>
          <p:cNvSpPr txBox="1"/>
          <p:nvPr/>
        </p:nvSpPr>
        <p:spPr>
          <a:xfrm>
            <a:off x="117043" y="4140403"/>
            <a:ext cx="8039405" cy="954107"/>
          </a:xfrm>
          <a:prstGeom prst="rect">
            <a:avLst/>
          </a:prstGeom>
          <a:noFill/>
        </p:spPr>
        <p:txBody>
          <a:bodyPr wrap="square" rtlCol="0">
            <a:spAutoFit/>
          </a:bodyPr>
          <a:lstStyle/>
          <a:p>
            <a:r>
              <a:rPr lang="en-US" sz="1400" b="1" dirty="0">
                <a:solidFill>
                  <a:schemeClr val="bg1">
                    <a:lumMod val="10000"/>
                  </a:schemeClr>
                </a:solidFill>
                <a:latin typeface="Libre Baskerville Bold"/>
                <a:ea typeface="Libre Baskerville Bold"/>
                <a:cs typeface="Libre Baskerville Bold"/>
                <a:sym typeface="Libre Baskerville Bold"/>
              </a:rPr>
              <a:t>VeriScreen issues the document, checks the QR code, and explains the HELSB decision in one sentence the student can match to the stored record.</a:t>
            </a:r>
          </a:p>
          <a:p>
            <a:endParaRPr lang="en-GB" dirty="0"/>
          </a:p>
        </p:txBody>
      </p:sp>
    </p:spTree>
    <p:extLst>
      <p:ext uri="{BB962C8B-B14F-4D97-AF65-F5344CB8AC3E}">
        <p14:creationId xmlns:p14="http://schemas.microsoft.com/office/powerpoint/2010/main" val="1097574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Proposed Methodology</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3283433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Development Approach</a:t>
            </a:r>
            <a:endParaRPr dirty="0"/>
          </a:p>
        </p:txBody>
      </p:sp>
      <p:sp>
        <p:nvSpPr>
          <p:cNvPr id="2301" name="Google Shape;2301;p34"/>
          <p:cNvSpPr txBox="1">
            <a:spLocks noGrp="1"/>
          </p:cNvSpPr>
          <p:nvPr>
            <p:ph type="subTitle" idx="1"/>
          </p:nvPr>
        </p:nvSpPr>
        <p:spPr>
          <a:xfrm>
            <a:off x="668892" y="1231642"/>
            <a:ext cx="6660937" cy="292339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Built in short increments and kept only what could be shown</a:t>
            </a:r>
          </a:p>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Samuel Chibinji Mwanza and Nosiku Mukuka</a:t>
            </a:r>
          </a:p>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Student sign-in, records, PDFs, then the officer tracker</a:t>
            </a:r>
          </a:p>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Screening sentence added when the tracker reached screening</a:t>
            </a:r>
          </a:p>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Checked against four seeded students whose balances are known</a:t>
            </a:r>
          </a:p>
          <a:p>
            <a:pPr marL="171450" lvl="0" indent="-171450" algn="l" rtl="0">
              <a:spcBef>
                <a:spcPts val="0"/>
              </a:spcBef>
              <a:spcAft>
                <a:spcPts val="0"/>
              </a:spcAft>
              <a:buFont typeface="Arial" panose="020B0604020202020204" pitchFamily="34" charset="0"/>
              <a:buChar char="•"/>
            </a:pPr>
            <a:r>
              <a:rPr lang="en-US" sz="2800" dirty="0">
                <a:solidFill>
                  <a:schemeClr val="bg1">
                    <a:lumMod val="10000"/>
                  </a:schemeClr>
                </a:solidFill>
              </a:rPr>
              <a:t>Final report and this presentation, 23rd October 2026</a:t>
            </a:r>
            <a:endParaRPr sz="2800" dirty="0">
              <a:solidFill>
                <a:schemeClr val="bg1">
                  <a:lumMod val="10000"/>
                </a:schemeClr>
              </a:solidFill>
            </a:endParaRPr>
          </a:p>
        </p:txBody>
      </p:sp>
    </p:spTree>
    <p:extLst>
      <p:ext uri="{BB962C8B-B14F-4D97-AF65-F5344CB8AC3E}">
        <p14:creationId xmlns:p14="http://schemas.microsoft.com/office/powerpoint/2010/main" val="684541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System Architecture</a:t>
            </a:r>
            <a:endParaRPr dirty="0"/>
          </a:p>
        </p:txBody>
      </p:sp>
      <p:sp>
        <p:nvSpPr>
          <p:cNvPr id="2301" name="Google Shape;2301;p34"/>
          <p:cNvSpPr txBox="1">
            <a:spLocks noGrp="1"/>
          </p:cNvSpPr>
          <p:nvPr>
            <p:ph type="subTitle" idx="1"/>
          </p:nvPr>
        </p:nvSpPr>
        <p:spPr>
          <a:xfrm>
            <a:off x="610371" y="1217012"/>
            <a:ext cx="6492687" cy="3406193"/>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2800" dirty="0"/>
              <a:t>Two portals, two APIs, two databases.</a:t>
            </a:r>
          </a:p>
          <a:p>
            <a:pPr marL="742950" lvl="1" indent="-285750">
              <a:buFont typeface="Arial" panose="020B0604020202020204" pitchFamily="34" charset="0"/>
              <a:buChar char="•"/>
            </a:pPr>
            <a:r>
              <a:rPr lang="en-US" sz="2800" b="1" dirty="0"/>
              <a:t>Student portal on port 5173 calls the student API on port 8081.</a:t>
            </a:r>
            <a:r>
              <a:rPr lang="en-US" sz="2800" dirty="0"/>
              <a:t/>
            </a:r>
          </a:p>
          <a:p>
            <a:pPr marL="742950" lvl="1" indent="-285750">
              <a:buFont typeface="Arial" panose="020B0604020202020204" pitchFamily="34" charset="0"/>
              <a:buChar char="•"/>
            </a:pPr>
            <a:r>
              <a:rPr lang="en-US" sz="2800" b="1" dirty="0"/>
              <a:t>HELSB portal on port 5174 calls the officer API on port 8083.</a:t>
            </a:r>
            <a:r>
              <a:rPr lang="en-US" sz="2800" dirty="0"/>
              <a:t/>
            </a:r>
          </a:p>
          <a:p>
            <a:pPr marL="742950" lvl="1" indent="-285750">
              <a:buFont typeface="Arial" panose="020B0604020202020204" pitchFamily="34" charset="0"/>
              <a:buChar char="•"/>
            </a:pPr>
            <a:r>
              <a:rPr lang="en-US" sz="2800" b="1" dirty="0"/>
              <a:t>veriscreen_db holds the academic record. helsb_db holds the officer applications.</a:t>
            </a:r>
            <a:r>
              <a:rPr lang="en-US" sz="2800" dirty="0"/>
              <a:t/>
            </a:r>
          </a:p>
          <a:p>
            <a:pPr>
              <a:buFont typeface="Arial" panose="020B0604020202020204" pitchFamily="34" charset="0"/>
              <a:buChar char="•"/>
            </a:pPr>
            <a:r>
              <a:rPr lang="en-US" sz="2800" dirty="0"/>
              <a:t>The officer API asks the student API for the screening sentence, then both sides store that text.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93869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Workflow Description</a:t>
            </a:r>
            <a:endParaRPr dirty="0"/>
          </a:p>
        </p:txBody>
      </p:sp>
      <p:sp>
        <p:nvSpPr>
          <p:cNvPr id="2301" name="Google Shape;2301;p34"/>
          <p:cNvSpPr txBox="1">
            <a:spLocks noGrp="1"/>
          </p:cNvSpPr>
          <p:nvPr>
            <p:ph type="subTitle" idx="1"/>
          </p:nvPr>
        </p:nvSpPr>
        <p:spPr>
          <a:xfrm>
            <a:off x="347025" y="1085339"/>
            <a:ext cx="3559292" cy="15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1. Student access</a:t>
            </a:r>
            <a:r>
              <a:rPr lang="en-GB" sz="1400" b="1" dirty="0">
                <a:latin typeface="+mj-lt"/>
              </a:rPr>
              <a:t/>
            </a:r>
            <a:r>
              <a:rPr lang="en-GB" sz="1400" b="1" dirty="0" err="1">
                <a:latin typeface="+mj-lt"/>
              </a:rPr>
              <a:t/>
            </a:r>
            <a:endParaRPr lang="en-GB" sz="1400" b="1" dirty="0">
              <a:latin typeface="+mj-lt"/>
            </a:endParaRPr>
          </a:p>
          <a:p>
            <a:pPr>
              <a:buFont typeface="Arial" panose="020B0604020202020204" pitchFamily="34" charset="0"/>
              <a:buChar char="•"/>
            </a:pPr>
            <a:r>
              <a:rPr lang="en-GB" sz="1400" dirty="0">
                <a:solidFill>
                  <a:schemeClr val="bg1">
                    <a:lumMod val="10000"/>
                  </a:schemeClr>
                </a:solidFill>
                <a:latin typeface="+mj-lt"/>
              </a:rPr>
              <a:t>Sign in with a computer number</a:t>
            </a:r>
          </a:p>
          <a:p>
            <a:pPr>
              <a:buFont typeface="Arial" panose="020B0604020202020204" pitchFamily="34" charset="0"/>
              <a:buChar char="•"/>
            </a:pPr>
            <a:r>
              <a:rPr lang="en-GB" sz="1400" dirty="0">
                <a:solidFill>
                  <a:schemeClr val="bg1">
                    <a:lumMod val="10000"/>
                  </a:schemeClr>
                </a:solidFill>
                <a:latin typeface="+mj-lt"/>
              </a:rPr>
              <a:t>Dashboard, documents, records, and results</a:t>
            </a:r>
          </a:p>
          <a:p>
            <a:pPr>
              <a:buFont typeface="Arial" panose="020B0604020202020204" pitchFamily="34" charset="0"/>
              <a:buChar char="•"/>
            </a:pPr>
            <a:r>
              <a:rPr lang="en-GB" sz="1400" dirty="0">
                <a:solidFill>
                  <a:schemeClr val="bg1">
                    <a:lumMod val="10000"/>
                  </a:schemeClr>
                </a:solidFill>
                <a:latin typeface="+mj-lt"/>
              </a:rPr>
              <a:t>Preview or download the PDF</a:t>
            </a:r>
          </a:p>
          <a:p>
            <a:pPr>
              <a:buFont typeface="Arial" panose="020B0604020202020204" pitchFamily="34" charset="0"/>
              <a:buChar char="•"/>
            </a:pPr>
            <a:r>
              <a:rPr lang="en-GB" sz="1400" dirty="0">
                <a:solidFill>
                  <a:schemeClr val="bg1">
                    <a:lumMod val="10000"/>
                  </a:schemeClr>
                </a:solidFill>
                <a:latin typeface="+mj-lt"/>
              </a:rPr>
              <a:t>The QR code opens the verification page</a:t>
            </a:r>
          </a:p>
          <a:p>
            <a:pPr>
              <a:buFont typeface="Arial" panose="020B0604020202020204" pitchFamily="34" charset="0"/>
              <a:buChar char="•"/>
            </a:pPr>
            <a:r>
              <a:rPr lang="en-GB" sz="1400" dirty="0">
                <a:solidFill>
                  <a:schemeClr val="bg1">
                    <a:lumMod val="10000"/>
                  </a:schemeClr>
                </a:solidFill>
                <a:latin typeface="+mj-lt"/>
              </a:rPr>
              <a:t/>
            </a:r>
          </a:p>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E265298C-17DA-4E8F-900D-50673595DB32}"/>
              </a:ext>
            </a:extLst>
          </p:cNvPr>
          <p:cNvSpPr txBox="1"/>
          <p:nvPr/>
        </p:nvSpPr>
        <p:spPr>
          <a:xfrm>
            <a:off x="4572000" y="1039815"/>
            <a:ext cx="3811219" cy="1384995"/>
          </a:xfrm>
          <a:prstGeom prst="rect">
            <a:avLst/>
          </a:prstGeom>
          <a:noFill/>
        </p:spPr>
        <p:txBody>
          <a:bodyPr wrap="square" rtlCol="0">
            <a:spAutoFit/>
          </a:bodyPr>
          <a:lstStyle/>
          <a:p>
            <a:r>
              <a:rPr lang="en-GB" dirty="0"/>
              <a:t>2. Share with HELSB</a:t>
            </a:r>
            <a:r>
              <a:rPr lang="en-GB" b="1" dirty="0"/>
              <a:t/>
            </a:r>
          </a:p>
          <a:p>
            <a:pPr marL="285750" indent="-285750">
              <a:buFont typeface="Arial" panose="020B0604020202020204" pitchFamily="34" charset="0"/>
              <a:buChar char="•"/>
            </a:pPr>
            <a:r>
              <a:rPr lang="en-GB" dirty="0"/>
              <a:t>The student submits the application</a:t>
            </a:r>
          </a:p>
          <a:p>
            <a:pPr marL="285750" indent="-285750">
              <a:buFont typeface="Arial" panose="020B0604020202020204" pitchFamily="34" charset="0"/>
              <a:buChar char="•"/>
            </a:pPr>
            <a:r>
              <a:rPr lang="en-GB" dirty="0"/>
              <a:t>Seeded applications already exist for the demonstration</a:t>
            </a:r>
          </a:p>
          <a:p>
            <a:pPr marL="285750" indent="-285750">
              <a:buFont typeface="Arial" panose="020B0604020202020204" pitchFamily="34" charset="0"/>
              <a:buChar char="•"/>
            </a:pPr>
            <a:r>
              <a:rPr lang="en-GB" dirty="0"/>
              <a:t>The officer does not read the student tables directly</a:t>
            </a:r>
          </a:p>
          <a:p>
            <a:pPr marL="285750" indent="-285750">
              <a:buFont typeface="Arial" panose="020B0604020202020204" pitchFamily="34" charset="0"/>
              <a:buChar char="•"/>
            </a:pPr>
            <a:r>
              <a:rPr lang="en-US" dirty="0"/>
              <a:t/>
            </a:r>
            <a:endParaRPr lang="en-GB" dirty="0"/>
          </a:p>
          <a:p>
            <a:pPr marL="285750" indent="-285750">
              <a:buFont typeface="Arial" panose="020B0604020202020204" pitchFamily="34" charset="0"/>
              <a:buChar char="•"/>
            </a:pPr>
            <a:r>
              <a:rPr lang="en-GB" dirty="0"/>
              <a:t/>
            </a:r>
          </a:p>
        </p:txBody>
      </p:sp>
      <p:sp>
        <p:nvSpPr>
          <p:cNvPr id="5" name="TextBox 4">
            <a:extLst>
              <a:ext uri="{FF2B5EF4-FFF2-40B4-BE49-F238E27FC236}">
                <a16:creationId xmlns:a16="http://schemas.microsoft.com/office/drawing/2014/main" id="{50B5CFBA-6736-4A07-84CF-4D7FC011638D}"/>
              </a:ext>
            </a:extLst>
          </p:cNvPr>
          <p:cNvSpPr txBox="1"/>
          <p:nvPr/>
        </p:nvSpPr>
        <p:spPr>
          <a:xfrm>
            <a:off x="512064" y="3262579"/>
            <a:ext cx="3460090" cy="523220"/>
          </a:xfrm>
          <a:prstGeom prst="rect">
            <a:avLst/>
          </a:prstGeom>
          <a:noFill/>
        </p:spPr>
        <p:txBody>
          <a:bodyPr wrap="square" rtlCol="0">
            <a:spAutoFit/>
          </a:bodyPr>
          <a:lstStyle/>
          <a:p>
            <a:r>
              <a:rPr lang="en-GB" dirty="0"/>
              <a:t>3. Officer portal</a:t>
            </a:r>
            <a:r>
              <a:rPr lang="en-GB" b="1" dirty="0"/>
              <a:t/>
            </a:r>
          </a:p>
          <a:p>
            <a:pPr marL="285750" indent="-285750">
              <a:buFont typeface="Arial" panose="020B0604020202020204" pitchFamily="34" charset="0"/>
              <a:buChar char="•"/>
            </a:pPr>
            <a:endParaRPr lang="en-GB" dirty="0"/>
          </a:p>
        </p:txBody>
      </p:sp>
      <p:sp>
        <p:nvSpPr>
          <p:cNvPr id="6" name="TextBox 5">
            <a:extLst>
              <a:ext uri="{FF2B5EF4-FFF2-40B4-BE49-F238E27FC236}">
                <a16:creationId xmlns:a16="http://schemas.microsoft.com/office/drawing/2014/main" id="{9C00FB9D-9674-4E45-A845-1CC5CD199841}"/>
              </a:ext>
            </a:extLst>
          </p:cNvPr>
          <p:cNvSpPr txBox="1"/>
          <p:nvPr/>
        </p:nvSpPr>
        <p:spPr>
          <a:xfrm>
            <a:off x="4645152" y="3262579"/>
            <a:ext cx="3569818" cy="1169551"/>
          </a:xfrm>
          <a:prstGeom prst="rect">
            <a:avLst/>
          </a:prstGeom>
          <a:noFill/>
        </p:spPr>
        <p:txBody>
          <a:bodyPr wrap="square" rtlCol="0">
            <a:spAutoFit/>
          </a:bodyPr>
          <a:lstStyle/>
          <a:p>
            <a:r>
              <a:rPr lang="en-GB" dirty="0"/>
              <a:t>4. Payment stage</a:t>
            </a:r>
            <a:r>
              <a:rPr lang="en-GB" b="1" dirty="0"/>
              <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Payment is a tracker step</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No live card payment</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The officer records the step</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The student dashboard moves with it</a:t>
            </a:r>
            <a:endParaRPr lang="en-GB" dirty="0"/>
          </a:p>
        </p:txBody>
      </p:sp>
      <p:sp>
        <p:nvSpPr>
          <p:cNvPr id="7" name="Rectangle 3">
            <a:extLst>
              <a:ext uri="{FF2B5EF4-FFF2-40B4-BE49-F238E27FC236}">
                <a16:creationId xmlns:a16="http://schemas.microsoft.com/office/drawing/2014/main" id="{191EDF27-8E4D-463D-BC1C-8C8ADBA87139}"/>
              </a:ext>
            </a:extLst>
          </p:cNvPr>
          <p:cNvSpPr>
            <a:spLocks noChangeArrowheads="1"/>
          </p:cNvSpPr>
          <p:nvPr/>
        </p:nvSpPr>
        <p:spPr bwMode="auto">
          <a:xfrm>
            <a:off x="512064" y="3231801"/>
            <a:ext cx="3335732"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lumMod val="10000"/>
                  </a:schemeClr>
                </a:solidFill>
                <a:effectLst/>
                <a:latin typeface="Arial" panose="020B0604020202020204" pitchFamily="34" charset="0"/>
              </a:rPr>
              <a:t>Universities, then schools, then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lumMod val="10000"/>
                  </a:schemeClr>
                </a:solidFill>
                <a:effectLst/>
                <a:latin typeface="Arial" panose="020B0604020202020204" pitchFamily="34" charset="0"/>
              </a:rPr>
              <a:t>One button moves the pipeline one stage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lumMod val="10000"/>
                  </a:schemeClr>
                </a:solidFill>
                <a:effectLst/>
                <a:latin typeface="Arial" panose="020B0604020202020204" pitchFamily="34" charset="0"/>
              </a:rPr>
              <a:t>Samuel is HELSB-2026-000001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lumMod val="10000"/>
                  </a:schemeClr>
                </a:solidFill>
                <a:effectLst/>
                <a:latin typeface="Arial" panose="020B0604020202020204" pitchFamily="34" charset="0"/>
              </a:rPr>
              <a:t>The student sees the same stage</a:t>
            </a:r>
          </a:p>
        </p:txBody>
      </p:sp>
    </p:spTree>
    <p:extLst>
      <p:ext uri="{BB962C8B-B14F-4D97-AF65-F5344CB8AC3E}">
        <p14:creationId xmlns:p14="http://schemas.microsoft.com/office/powerpoint/2010/main" val="2616057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Workflow Description</a:t>
            </a:r>
            <a:endParaRPr dirty="0"/>
          </a:p>
        </p:txBody>
      </p:sp>
      <p:sp>
        <p:nvSpPr>
          <p:cNvPr id="2301" name="Google Shape;2301;p34"/>
          <p:cNvSpPr txBox="1">
            <a:spLocks noGrp="1"/>
          </p:cNvSpPr>
          <p:nvPr>
            <p:ph type="subTitle" idx="1"/>
          </p:nvPr>
        </p:nvSpPr>
        <p:spPr>
          <a:xfrm>
            <a:off x="603055" y="996042"/>
            <a:ext cx="3288631" cy="18568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dirty="0">
                <a:latin typeface="+mn-lt"/>
              </a:rPr>
              <a:t>5. Screening</a:t>
            </a:r>
            <a:r>
              <a:rPr lang="en-GB" sz="1400" b="1" dirty="0">
                <a:latin typeface="+mn-lt"/>
              </a:rPr>
              <a:t/>
            </a:r>
            <a:r>
              <a:rPr lang="en-GB" sz="1400" dirty="0">
                <a:latin typeface="+mn-lt"/>
              </a:rPr>
              <a:t/>
            </a:r>
          </a:p>
          <a:p>
            <a:pPr>
              <a:buFont typeface="Arial" panose="020B0604020202020204" pitchFamily="34" charset="0"/>
              <a:buChar char="•"/>
            </a:pPr>
            <a:r>
              <a:rPr lang="en-GB" sz="1400" dirty="0">
                <a:latin typeface="+mn-lt"/>
              </a:rPr>
              <a:t>Checks, in order: fees, registration, examinations, results</a:t>
            </a:r>
            <a:r>
              <a:rPr lang="en-US" sz="1400" dirty="0">
                <a:latin typeface="+mn-lt"/>
              </a:rPr>
              <a:t/>
            </a:r>
          </a:p>
          <a:p>
            <a:pPr marL="742950" lvl="1" indent="-285750">
              <a:buFont typeface="Arial" panose="020B0604020202020204" pitchFamily="34" charset="0"/>
              <a:buChar char="•"/>
            </a:pPr>
            <a:r>
              <a:rPr lang="en-US" sz="1400" dirty="0">
                <a:latin typeface="+mn-lt"/>
              </a:rPr>
              <a:t>Samuel: Not eligible: outstanding fee balance of K500.00</a:t>
            </a:r>
          </a:p>
          <a:p>
            <a:pPr marL="742950" lvl="1" indent="-285750">
              <a:buFont typeface="Arial" panose="020B0604020202020204" pitchFamily="34" charset="0"/>
              <a:buChar char="•"/>
            </a:pPr>
            <a:r>
              <a:rPr lang="en-US" sz="1400" dirty="0">
                <a:latin typeface="+mn-lt"/>
              </a:rPr>
              <a:t>Nosiku: Approved: good academic standing, fees cleared, registration confirmed.</a:t>
            </a:r>
          </a:p>
          <a:p>
            <a:pPr marL="742950" lvl="1" indent="-285750">
              <a:buFont typeface="Arial" panose="020B0604020202020204" pitchFamily="34" charset="0"/>
              <a:buChar char="•"/>
            </a:pPr>
            <a:r>
              <a:rPr lang="en-US" sz="1400" dirty="0">
                <a:latin typeface="+mn-lt"/>
              </a:rPr>
              <a:t>A Not eligible result stops the pipeline</a:t>
            </a:r>
          </a:p>
          <a:p>
            <a:pPr>
              <a:buFont typeface="Arial" panose="020B0604020202020204" pitchFamily="34" charset="0"/>
              <a:buChar char="•"/>
            </a:pPr>
            <a:r>
              <a:rPr lang="en-US" sz="1400" dirty="0">
                <a:latin typeface="+mn-lt"/>
              </a:rPr>
              <a:t/>
            </a:r>
          </a:p>
          <a:p>
            <a:pPr marL="742950" lvl="1" indent="-285750">
              <a:buFont typeface="Arial" panose="020B0604020202020204" pitchFamily="34" charset="0"/>
              <a:buChar char="•"/>
            </a:pPr>
            <a:r>
              <a:rPr lang="en-US" sz="1400" dirty="0">
                <a:latin typeface="+mn-lt"/>
              </a:rPr>
              <a:t/>
            </a:r>
          </a:p>
          <a:p>
            <a:pPr marL="0" lvl="0" indent="0" algn="l" rtl="0">
              <a:spcBef>
                <a:spcPts val="0"/>
              </a:spcBef>
              <a:spcAft>
                <a:spcPts val="0"/>
              </a:spcAft>
              <a:buNone/>
            </a:pPr>
            <a:r>
              <a:rPr lang="en-GB" dirty="0"/>
              <a:t>                                                          </a:t>
            </a:r>
            <a:endParaRPr dirty="0"/>
          </a:p>
        </p:txBody>
      </p:sp>
      <p:sp>
        <p:nvSpPr>
          <p:cNvPr id="5" name="Google Shape;2301;p34">
            <a:extLst>
              <a:ext uri="{FF2B5EF4-FFF2-40B4-BE49-F238E27FC236}">
                <a16:creationId xmlns:a16="http://schemas.microsoft.com/office/drawing/2014/main" id="{FE6AB6E3-25AD-4097-9539-79ABDA0F1AA5}"/>
              </a:ext>
            </a:extLst>
          </p:cNvPr>
          <p:cNvSpPr txBox="1">
            <a:spLocks/>
          </p:cNvSpPr>
          <p:nvPr/>
        </p:nvSpPr>
        <p:spPr>
          <a:xfrm>
            <a:off x="5327455" y="1025250"/>
            <a:ext cx="3070395" cy="154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US" dirty="0"/>
              <a:t>6. Contract</a:t>
            </a:r>
            <a:r>
              <a:rPr lang="en-US" sz="1400" b="1" dirty="0">
                <a:latin typeface="+mn-lt"/>
              </a:rPr>
              <a:t/>
            </a:r>
          </a:p>
          <a:p>
            <a:pPr marL="0" lvl="0" indent="0" eaLnBrk="0" fontAlgn="base" hangingPunct="0">
              <a:spcBef>
                <a:spcPct val="0"/>
              </a:spcBef>
              <a:spcAft>
                <a:spcPct val="0"/>
              </a:spcAft>
              <a:buClrTx/>
              <a:buSzTx/>
              <a:buFontTx/>
              <a:buChar char="•"/>
            </a:pPr>
            <a:r>
              <a:rPr lang="en-US" dirty="0"/>
              <a:t>Reached only when the sentence does not start with Not eligible</a:t>
            </a:r>
            <a:r>
              <a:rPr lang="en-US" altLang="en-US" sz="1400" dirty="0">
                <a:solidFill>
                  <a:schemeClr val="tx1"/>
                </a:solidFill>
                <a:latin typeface="Arial" panose="020B0604020202020204" pitchFamily="34" charset="0"/>
              </a:rPr>
              <a:t/>
            </a:r>
          </a:p>
          <a:p>
            <a:pPr marL="0" lvl="0" indent="0" eaLnBrk="0" fontAlgn="base" hangingPunct="0">
              <a:spcBef>
                <a:spcPct val="0"/>
              </a:spcBef>
              <a:spcAft>
                <a:spcPct val="0"/>
              </a:spcAft>
              <a:buClrTx/>
              <a:buSzTx/>
              <a:buFontTx/>
              <a:buChar char="•"/>
            </a:pPr>
            <a:r>
              <a:rPr lang="en-US" altLang="en-US" sz="1400" dirty="0">
                <a:solidFill>
                  <a:schemeClr val="tx1"/>
                </a:solidFill>
                <a:latin typeface="Arial" panose="020B0604020202020204" pitchFamily="34" charset="0"/>
              </a:rPr>
              <a:t>The contract text comes from the stored application</a:t>
            </a:r>
          </a:p>
          <a:p>
            <a:pPr marL="0" lvl="0" indent="0" eaLnBrk="0" fontAlgn="base" hangingPunct="0">
              <a:spcBef>
                <a:spcPct val="0"/>
              </a:spcBef>
              <a:spcAft>
                <a:spcPct val="0"/>
              </a:spcAft>
              <a:buClrTx/>
              <a:buSzTx/>
              <a:buFontTx/>
              <a:buChar char="•"/>
            </a:pPr>
            <a:r>
              <a:rPr lang="en-US" altLang="en-US" sz="1400" dirty="0">
                <a:solidFill>
                  <a:schemeClr val="tx1"/>
                </a:solidFill>
                <a:latin typeface="Arial" panose="020B0604020202020204" pitchFamily="34" charset="0"/>
              </a:rPr>
              <a:t>It is not a signed legal agreement</a:t>
            </a:r>
          </a:p>
          <a:p>
            <a:pPr marL="0" lvl="0" indent="0" eaLnBrk="0" fontAlgn="base" hangingPunct="0">
              <a:spcBef>
                <a:spcPct val="0"/>
              </a:spcBef>
              <a:spcAft>
                <a:spcPct val="0"/>
              </a:spcAft>
              <a:buClrTx/>
              <a:buSzTx/>
              <a:buFontTx/>
              <a:buChar char="•"/>
            </a:pPr>
            <a:r>
              <a:rPr lang="en-US" altLang="en-US" sz="1400" dirty="0">
                <a:solidFill>
                  <a:schemeClr val="tx1"/>
                </a:solidFill>
                <a:latin typeface="Arial" panose="020B0604020202020204" pitchFamily="34" charset="0"/>
              </a:rPr>
              <a:t/>
            </a:r>
          </a:p>
          <a:p>
            <a:pPr marL="0" indent="0"/>
            <a:r>
              <a:rPr lang="en-US" dirty="0"/>
              <a:t>       </a:t>
            </a:r>
          </a:p>
          <a:p>
            <a:pPr marL="0" indent="0"/>
            <a:r>
              <a:rPr lang="en-US" dirty="0"/>
              <a:t>                                                            </a:t>
            </a:r>
          </a:p>
        </p:txBody>
      </p:sp>
      <p:sp>
        <p:nvSpPr>
          <p:cNvPr id="6" name="TextBox 5">
            <a:extLst>
              <a:ext uri="{FF2B5EF4-FFF2-40B4-BE49-F238E27FC236}">
                <a16:creationId xmlns:a16="http://schemas.microsoft.com/office/drawing/2014/main" id="{370FDD4D-F365-4107-AF9D-9AA2957B0C7C}"/>
              </a:ext>
            </a:extLst>
          </p:cNvPr>
          <p:cNvSpPr txBox="1"/>
          <p:nvPr/>
        </p:nvSpPr>
        <p:spPr>
          <a:xfrm>
            <a:off x="790042" y="3274951"/>
            <a:ext cx="3207714" cy="1169551"/>
          </a:xfrm>
          <a:prstGeom prst="rect">
            <a:avLst/>
          </a:prstGeom>
          <a:noFill/>
        </p:spPr>
        <p:txBody>
          <a:bodyPr wrap="square" rtlCol="0">
            <a:spAutoFit/>
          </a:bodyPr>
          <a:lstStyle/>
          <a:p>
            <a:r>
              <a:rPr lang="en-GB" dirty="0"/>
              <a:t>7. Disbursement</a:t>
            </a:r>
            <a:r>
              <a:rPr lang="en-GB" b="1" dirty="0"/>
              <a:t/>
            </a:r>
          </a:p>
          <a:p>
            <a:pPr marL="285750" indent="-285750">
              <a:buFont typeface="Arial" panose="020B0604020202020204" pitchFamily="34" charset="0"/>
              <a:buChar char="•"/>
            </a:pPr>
            <a:r>
              <a:rPr lang="en-GB" dirty="0"/>
              <a:t>The last tracker stage</a:t>
            </a:r>
          </a:p>
          <a:p>
            <a:pPr marL="285750" indent="-285750">
              <a:buFont typeface="Arial" panose="020B0604020202020204" pitchFamily="34" charset="0"/>
              <a:buChar char="•"/>
            </a:pPr>
            <a:r>
              <a:rPr lang="en-GB" dirty="0"/>
              <a:t>No money is sent</a:t>
            </a:r>
          </a:p>
          <a:p>
            <a:pPr marL="285750" indent="-285750">
              <a:buFont typeface="Arial" panose="020B0604020202020204" pitchFamily="34" charset="0"/>
              <a:buChar char="•"/>
            </a:pPr>
            <a:r>
              <a:rPr lang="en-US" dirty="0"/>
              <a:t>The student dashboard shows the same stage</a:t>
            </a:r>
            <a:endParaRPr lang="en-GB" dirty="0"/>
          </a:p>
          <a:p>
            <a:endParaRPr lang="en-GB" dirty="0"/>
          </a:p>
        </p:txBody>
      </p:sp>
    </p:spTree>
    <p:extLst>
      <p:ext uri="{BB962C8B-B14F-4D97-AF65-F5344CB8AC3E}">
        <p14:creationId xmlns:p14="http://schemas.microsoft.com/office/powerpoint/2010/main" val="1171045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Data Collection</a:t>
            </a:r>
            <a:endParaRPr dirty="0"/>
          </a:p>
        </p:txBody>
      </p:sp>
      <p:sp>
        <p:nvSpPr>
          <p:cNvPr id="2301" name="Google Shape;2301;p34"/>
          <p:cNvSpPr txBox="1">
            <a:spLocks noGrp="1"/>
          </p:cNvSpPr>
          <p:nvPr>
            <p:ph type="subTitle" idx="1"/>
          </p:nvPr>
        </p:nvSpPr>
        <p:spPr>
          <a:xfrm>
            <a:off x="939556" y="1025250"/>
            <a:ext cx="6145800" cy="15465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2400" dirty="0">
                <a:latin typeface="+mn-lt"/>
              </a:rPr>
              <a:t>Source</a:t>
            </a:r>
          </a:p>
          <a:p>
            <a:pPr marL="742950" lvl="1" indent="-285750">
              <a:buFont typeface="Arial" panose="020B0604020202020204" pitchFamily="34" charset="0"/>
              <a:buChar char="•"/>
            </a:pPr>
            <a:r>
              <a:rPr lang="en-US" sz="2400" dirty="0">
                <a:latin typeface="+mn-lt"/>
              </a:rPr>
              <a:t>A simulated university record loaded into MySQL</a:t>
            </a:r>
          </a:p>
          <a:p>
            <a:pPr marL="742950" lvl="1" indent="-285750">
              <a:buFont typeface="Arial" panose="020B0604020202020204" pitchFamily="34" charset="0"/>
              <a:buChar char="•"/>
            </a:pPr>
            <a:r>
              <a:rPr lang="en-US" sz="2400" dirty="0">
                <a:latin typeface="+mn-lt"/>
              </a:rPr>
              <a:t>Not a live university extract</a:t>
            </a:r>
          </a:p>
          <a:p>
            <a:pPr>
              <a:buFont typeface="Arial" panose="020B0604020202020204" pitchFamily="34" charset="0"/>
              <a:buChar char="•"/>
            </a:pPr>
            <a:r>
              <a:rPr lang="en-US" sz="2400" dirty="0">
                <a:latin typeface="+mn-lt"/>
              </a:rPr>
              <a:t>Held for four students</a:t>
            </a:r>
          </a:p>
          <a:p>
            <a:pPr marL="742950" lvl="1" indent="-285750">
              <a:buFont typeface="Arial" panose="020B0604020202020204" pitchFamily="34" charset="0"/>
              <a:buChar char="•"/>
            </a:pPr>
            <a:r>
              <a:rPr lang="en-US" sz="2400" dirty="0">
                <a:latin typeface="+mn-lt"/>
              </a:rPr>
              <a:t>Fees, registration, examinations, grades, and applications</a:t>
            </a:r>
          </a:p>
          <a:p>
            <a:pPr>
              <a:buFont typeface="Arial" panose="020B0604020202020204" pitchFamily="34" charset="0"/>
              <a:buChar char="•"/>
            </a:pPr>
            <a:r>
              <a:rPr lang="en-US" sz="2400" dirty="0">
                <a:latin typeface="+mn-lt"/>
              </a:rPr>
              <a:t>Samuel's latest balance is K500.00. Nosiku's fees are cleared.</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901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Tools and Technologies</a:t>
            </a:r>
            <a:endParaRPr dirty="0"/>
          </a:p>
        </p:txBody>
      </p:sp>
      <p:sp>
        <p:nvSpPr>
          <p:cNvPr id="2301" name="Google Shape;2301;p34"/>
          <p:cNvSpPr txBox="1">
            <a:spLocks noGrp="1"/>
          </p:cNvSpPr>
          <p:nvPr>
            <p:ph type="subTitle" idx="1"/>
          </p:nvPr>
        </p:nvSpPr>
        <p:spPr>
          <a:xfrm>
            <a:off x="639633" y="1180435"/>
            <a:ext cx="6145800" cy="3650655"/>
          </a:xfrm>
          <a:prstGeom prst="rect">
            <a:avLst/>
          </a:prstGeom>
        </p:spPr>
        <p:txBody>
          <a:bodyPr spcFirstLastPara="1" wrap="square" lIns="91425" tIns="91425" rIns="91425" bIns="91425" anchor="t" anchorCtr="0">
            <a:noAutofit/>
          </a:bodyPr>
          <a:lstStyle/>
          <a:p>
            <a:r>
              <a:rPr lang="en-GB" sz="2000" b="1" dirty="0"/>
              <a:t>Student and officer portals</a:t>
            </a:r>
            <a:endParaRPr lang="en-GB" sz="2000" dirty="0"/>
          </a:p>
          <a:p>
            <a:pPr>
              <a:buFont typeface="Arial" panose="020B0604020202020204" pitchFamily="34" charset="0"/>
              <a:buChar char="•"/>
            </a:pPr>
            <a:r>
              <a:rPr lang="en-GB" sz="2000" dirty="0"/>
              <a:t>React, TypeScript, and Vite</a:t>
            </a:r>
          </a:p>
          <a:p>
            <a:pPr>
              <a:buFont typeface="Arial" panose="020B0604020202020204" pitchFamily="34" charset="0"/>
              <a:buChar char="•"/>
            </a:pPr>
            <a:r>
              <a:rPr lang="en-GB" sz="2000" dirty="0"/>
              <a:t>APIs</a:t>
            </a:r>
          </a:p>
          <a:p>
            <a:r>
              <a:rPr lang="en-GB" sz="2000" b="1" dirty="0"/>
              <a:t>Node.js and Express</a:t>
            </a:r>
            <a:endParaRPr lang="en-GB" sz="2000" dirty="0"/>
          </a:p>
          <a:p>
            <a:pPr marL="323850" indent="-171450">
              <a:buFont typeface="Arial" panose="020B0604020202020204" pitchFamily="34" charset="0"/>
              <a:buChar char="•"/>
            </a:pPr>
            <a:r>
              <a:rPr lang="en-GB" sz="2000" dirty="0"/>
              <a:t>Documents and sessions</a:t>
            </a:r>
          </a:p>
          <a:p>
            <a:r>
              <a:rPr lang="en-GB" sz="2000" b="1" dirty="0"/>
              <a:t>PDFKit, QR codes, JWT, and bcrypt</a:t>
            </a:r>
            <a:endParaRPr lang="en-GB" sz="2000" dirty="0"/>
          </a:p>
          <a:p>
            <a:pPr>
              <a:buFont typeface="Arial" panose="020B0604020202020204" pitchFamily="34" charset="0"/>
              <a:buChar char="•"/>
            </a:pPr>
            <a:r>
              <a:rPr lang="en-GB" sz="2000" dirty="0"/>
              <a:t>Databases</a:t>
            </a:r>
          </a:p>
          <a:p>
            <a:pPr>
              <a:buFont typeface="Arial" panose="020B0604020202020204" pitchFamily="34" charset="0"/>
              <a:buChar char="•"/>
            </a:pPr>
            <a:r>
              <a:rPr lang="en-GB" sz="2000" dirty="0"/>
              <a:t>MySQL locally: veriscreen_db and helsb_db</a:t>
            </a:r>
          </a:p>
          <a:p>
            <a:pPr marL="152400" indent="0"/>
            <a:endParaRPr lang="en-GB" sz="2000" dirty="0"/>
          </a:p>
          <a:p>
            <a:pPr marL="152400" indent="0"/>
            <a:r>
              <a:rPr lang="en-GB" sz="2000" b="1" dirty="0"/>
              <a:t>PostgreSQL only when a hosted URL is set</a:t>
            </a:r>
          </a:p>
          <a:p>
            <a:pPr marL="0" lvl="0" indent="0" eaLnBrk="0" fontAlgn="base" hangingPunct="0">
              <a:spcBef>
                <a:spcPct val="0"/>
              </a:spcBef>
              <a:spcAft>
                <a:spcPct val="0"/>
              </a:spcAft>
              <a:buClrTx/>
              <a:buSzTx/>
              <a:buFontTx/>
              <a:buChar char="•"/>
            </a:pPr>
            <a:r>
              <a:rPr lang="en-US" altLang="en-US" sz="1600" dirty="0">
                <a:solidFill>
                  <a:schemeClr val="tx1"/>
                </a:solidFill>
                <a:latin typeface="+mn-lt"/>
              </a:rPr>
              <a:t/>
            </a:r>
          </a:p>
          <a:p>
            <a:pPr marL="0" lvl="0" indent="0" eaLnBrk="0" fontAlgn="base" hangingPunct="0">
              <a:spcBef>
                <a:spcPct val="0"/>
              </a:spcBef>
              <a:spcAft>
                <a:spcPct val="0"/>
              </a:spcAft>
              <a:buClrTx/>
              <a:buSzTx/>
              <a:buFontTx/>
              <a:buChar char="•"/>
            </a:pPr>
            <a:r>
              <a:rPr lang="en-US" altLang="en-US" sz="1600" dirty="0">
                <a:solidFill>
                  <a:schemeClr val="tx1"/>
                </a:solidFill>
                <a:latin typeface="+mn-lt"/>
              </a:rPr>
              <a:t/>
            </a:r>
          </a:p>
          <a:p>
            <a:pPr marL="0" lvl="0" indent="0" eaLnBrk="0" fontAlgn="base" hangingPunct="0">
              <a:spcBef>
                <a:spcPct val="0"/>
              </a:spcBef>
              <a:spcAft>
                <a:spcPct val="0"/>
              </a:spcAft>
              <a:buClrTx/>
              <a:buSzTx/>
              <a:buFontTx/>
              <a:buChar char="•"/>
            </a:pPr>
            <a:r>
              <a:rPr lang="en-US" altLang="en-US" sz="1600" dirty="0">
                <a:solidFill>
                  <a:schemeClr val="tx1"/>
                </a:solidFill>
                <a:latin typeface="+mn-lt"/>
              </a:rPr>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78762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Ethical and legal considerations</a:t>
            </a:r>
            <a:endParaRPr dirty="0"/>
          </a:p>
        </p:txBody>
      </p:sp>
      <p:sp>
        <p:nvSpPr>
          <p:cNvPr id="2" name="Subtitle 1">
            <a:extLst>
              <a:ext uri="{FF2B5EF4-FFF2-40B4-BE49-F238E27FC236}">
                <a16:creationId xmlns:a16="http://schemas.microsoft.com/office/drawing/2014/main" id="{BB47C4B3-2D9D-4750-B058-9F57497276B4}"/>
              </a:ext>
            </a:extLst>
          </p:cNvPr>
          <p:cNvSpPr>
            <a:spLocks noGrp="1" noChangeArrowheads="1"/>
          </p:cNvSpPr>
          <p:nvPr>
            <p:ph type="subTitle" idx="1"/>
          </p:nvPr>
        </p:nvSpPr>
        <p:spPr bwMode="auto">
          <a:xfrm>
            <a:off x="618312" y="807174"/>
            <a:ext cx="6145213"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Zambian Data Protection Act: the seed is demonstration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student shares the application; it is not pushed silently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Passwords are hashed. Student and officer tokens differ.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live student, no biometric data, and no real money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verification page names the student and document type, not the grades</a:t>
            </a:r>
          </a:p>
        </p:txBody>
      </p:sp>
      <p:sp>
        <p:nvSpPr>
          <p:cNvPr id="3" name="TextBox 2">
            <a:extLst>
              <a:ext uri="{FF2B5EF4-FFF2-40B4-BE49-F238E27FC236}">
                <a16:creationId xmlns:a16="http://schemas.microsoft.com/office/drawing/2014/main" id="{2010A937-9D8B-4DAD-8190-C12F4130BE57}"/>
              </a:ext>
            </a:extLst>
          </p:cNvPr>
          <p:cNvSpPr txBox="1"/>
          <p:nvPr/>
        </p:nvSpPr>
        <p:spPr>
          <a:xfrm>
            <a:off x="1038758" y="3401568"/>
            <a:ext cx="5032858" cy="1415772"/>
          </a:xfrm>
          <a:prstGeom prst="rect">
            <a:avLst/>
          </a:prstGeom>
          <a:noFill/>
        </p:spPr>
        <p:txBody>
          <a:bodyPr wrap="square" rtlCol="0">
            <a:spAutoFit/>
          </a:bodyPr>
          <a:lstStyle/>
          <a:p>
            <a:r>
              <a:rPr lang="en-US" sz="1600" b="1" dirty="0"/>
              <a:t>Controls in the build</a:t>
            </a:r>
          </a:p>
          <a:p>
            <a:pPr marL="285750" indent="-285750">
              <a:buFont typeface="Arial" panose="020B0604020202020204" pitchFamily="34" charset="0"/>
              <a:buChar char="•"/>
            </a:pPr>
            <a:r>
              <a:rPr lang="en-GB" dirty="0"/>
              <a:t>Separate databases for the student and the officer</a:t>
            </a:r>
            <a:endParaRPr lang="en-US" dirty="0"/>
          </a:p>
          <a:p>
            <a:pPr marL="285750" indent="-285750">
              <a:buFont typeface="Arial" panose="020B0604020202020204" pitchFamily="34" charset="0"/>
              <a:buChar char="•"/>
            </a:pPr>
            <a:r>
              <a:rPr lang="en-GB" dirty="0"/>
              <a:t>Shared internal key on the screening call</a:t>
            </a:r>
            <a:r>
              <a:rPr lang="en-GB" dirty="0" err="1"/>
              <a:t/>
            </a:r>
            <a:r>
              <a:rPr lang="en-GB" dirty="0"/>
              <a:t/>
            </a:r>
            <a:endParaRPr lang="en-US" dirty="0"/>
          </a:p>
          <a:p>
            <a:pPr marL="285750" indent="-285750">
              <a:buFont typeface="Arial" panose="020B0604020202020204" pitchFamily="34" charset="0"/>
              <a:buChar char="•"/>
            </a:pPr>
            <a:r>
              <a:rPr lang="en-GB" dirty="0"/>
              <a:t>Sign-out asks for confirmation</a:t>
            </a:r>
            <a:endParaRPr lang="en-US" dirty="0"/>
          </a:p>
          <a:p>
            <a:pPr marL="285750" indent="-285750">
              <a:buFont typeface="Arial" panose="020B0604020202020204" pitchFamily="34" charset="0"/>
              <a:buChar char="•"/>
            </a:pPr>
            <a:r>
              <a:rPr lang="en-GB" dirty="0"/>
              <a:t>Development passwords are not for a public site</a:t>
            </a:r>
            <a:endParaRPr lang="en-US" dirty="0"/>
          </a:p>
          <a:p>
            <a:pPr marL="285750" indent="-285750">
              <a:buFont typeface="Arial" panose="020B0604020202020204" pitchFamily="34" charset="0"/>
              <a:buChar char="•"/>
            </a:pPr>
            <a:r>
              <a:rPr lang="en-GB" dirty="0"/>
              <a:t/>
            </a:r>
          </a:p>
        </p:txBody>
      </p:sp>
    </p:spTree>
    <p:extLst>
      <p:ext uri="{BB962C8B-B14F-4D97-AF65-F5344CB8AC3E}">
        <p14:creationId xmlns:p14="http://schemas.microsoft.com/office/powerpoint/2010/main" val="21434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Delivered system</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307547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What was built</a:t>
            </a:r>
            <a:endParaRPr dirty="0"/>
          </a:p>
        </p:txBody>
      </p:sp>
      <p:sp>
        <p:nvSpPr>
          <p:cNvPr id="2301" name="Google Shape;2301;p34"/>
          <p:cNvSpPr txBox="1">
            <a:spLocks noGrp="1"/>
          </p:cNvSpPr>
          <p:nvPr>
            <p:ph type="subTitle" idx="1"/>
          </p:nvPr>
        </p:nvSpPr>
        <p:spPr>
          <a:xfrm>
            <a:off x="939556" y="1025250"/>
            <a:ext cx="6145800" cy="3458968"/>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GB" sz="1600" b="1" i="0" dirty="0" err="1">
                <a:solidFill>
                  <a:srgbClr val="0F1115"/>
                </a:solidFill>
                <a:effectLst/>
                <a:latin typeface="+mj-lt"/>
              </a:rPr>
              <a:t>Student portal: sign-in, dashboard, documents, records, results, Help, and Settings with dark mode.</a:t>
            </a:r>
            <a:r>
              <a:rPr lang="en-GB" sz="1600" b="1" i="0" dirty="0">
                <a:solidFill>
                  <a:srgbClr val="0F1115"/>
                </a:solidFill>
                <a:effectLst/>
                <a:latin typeface="+mj-lt"/>
              </a:rPr>
              <a:t/>
            </a:r>
            <a:r>
              <a:rPr lang="en-GB" sz="1600" b="0" i="0" dirty="0">
                <a:solidFill>
                  <a:srgbClr val="0F1115"/>
                </a:solidFill>
                <a:effectLst/>
                <a:latin typeface="+mj-lt"/>
              </a:rPr>
              <a:t/>
            </a:r>
          </a:p>
          <a:p>
            <a:pPr algn="l">
              <a:buFont typeface="Arial" panose="020B0604020202020204" pitchFamily="34" charset="0"/>
              <a:buChar char="•"/>
            </a:pPr>
            <a:r>
              <a:rPr lang="en-GB" sz="1600" b="1" i="0" dirty="0">
                <a:solidFill>
                  <a:srgbClr val="0F1115"/>
                </a:solidFill>
                <a:effectLst/>
                <a:latin typeface="+mj-lt"/>
              </a:rPr>
              <a:t>Student API: profile, fees, results, PDF download, verification page, and the screening sentence.</a:t>
            </a:r>
            <a:r>
              <a:rPr lang="en-GB" sz="1600" b="0" i="0" dirty="0">
                <a:solidFill>
                  <a:srgbClr val="0F1115"/>
                </a:solidFill>
                <a:effectLst/>
                <a:latin typeface="+mj-lt"/>
              </a:rPr>
              <a:t/>
            </a:r>
          </a:p>
          <a:p>
            <a:pPr algn="l">
              <a:buFont typeface="Arial" panose="020B0604020202020204" pitchFamily="34" charset="0"/>
              <a:buChar char="•"/>
            </a:pPr>
            <a:r>
              <a:rPr lang="en-GB" sz="1600" b="1" i="0" dirty="0">
                <a:solidFill>
                  <a:srgbClr val="0F1115"/>
                </a:solidFill>
                <a:effectLst/>
                <a:latin typeface="+mj-lt"/>
              </a:rPr>
              <a:t>Record: four seeded students in veriscreen_db, including a K500.00 balance and a cleared-fee case.</a:t>
            </a:r>
            <a:r>
              <a:rPr lang="en-GB" sz="1600" b="0" i="0" dirty="0">
                <a:solidFill>
                  <a:srgbClr val="0F1115"/>
                </a:solidFill>
                <a:effectLst/>
                <a:latin typeface="+mj-lt"/>
              </a:rPr>
              <a:t/>
            </a:r>
          </a:p>
          <a:p>
            <a:pPr algn="l">
              <a:buFont typeface="Arial" panose="020B0604020202020204" pitchFamily="34" charset="0"/>
              <a:buChar char="•"/>
            </a:pPr>
            <a:r>
              <a:rPr lang="en-GB" sz="1600" b="1" i="0" dirty="0">
                <a:solidFill>
                  <a:srgbClr val="0F1115"/>
                </a:solidFill>
                <a:effectLst/>
                <a:latin typeface="+mj-lt"/>
              </a:rPr>
              <a:t>HELSB portal: universities, schools, applications, and the six-step tracker.</a:t>
            </a:r>
            <a:r>
              <a:rPr lang="en-GB" sz="1600" b="0" i="0" dirty="0">
                <a:solidFill>
                  <a:srgbClr val="0F1115"/>
                </a:solidFill>
                <a:effectLst/>
                <a:latin typeface="+mj-lt"/>
              </a:rPr>
              <a:t/>
            </a:r>
          </a:p>
          <a:p>
            <a:pPr algn="l">
              <a:buFont typeface="Arial" panose="020B0604020202020204" pitchFamily="34" charset="0"/>
              <a:buChar char="•"/>
            </a:pPr>
            <a:r>
              <a:rPr lang="en-GB" sz="1600" b="1" i="0" dirty="0">
                <a:solidFill>
                  <a:srgbClr val="0F1115"/>
                </a:solidFill>
                <a:effectLst/>
                <a:latin typeface="+mj-lt"/>
              </a:rPr>
              <a:t>Phone-width layout of both portals, plus an Expo client on the same student API.</a:t>
            </a:r>
            <a:r>
              <a:rPr lang="en-GB" sz="1600" b="0" i="0" dirty="0">
                <a:solidFill>
                  <a:srgbClr val="0F1115"/>
                </a:solidFill>
                <a:effectLst/>
                <a:latin typeface="+mj-lt"/>
              </a:rPr>
              <a:t/>
            </a:r>
          </a:p>
          <a:p>
            <a:pPr algn="l">
              <a:buFont typeface="Arial" panose="020B0604020202020204" pitchFamily="34" charset="0"/>
              <a:buChar char="•"/>
            </a:pPr>
            <a:r>
              <a:rPr lang="en-GB" sz="1600" b="1" i="0" dirty="0">
                <a:solidFill>
                  <a:srgbClr val="0F1115"/>
                </a:solidFill>
                <a:effectLst/>
                <a:latin typeface="+mj-lt"/>
              </a:rPr>
              <a:t/>
            </a:r>
            <a:r>
              <a:rPr lang="en-GB" sz="1600" b="0" i="0" dirty="0">
                <a:solidFill>
                  <a:srgbClr val="0F1115"/>
                </a:solidFill>
                <a:effectLst/>
                <a:latin typeface="+mj-lt"/>
              </a:rPr>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051359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Document Generation Engine</a:t>
            </a:r>
            <a:endParaRPr dirty="0"/>
          </a:p>
        </p:txBody>
      </p:sp>
      <p:sp>
        <p:nvSpPr>
          <p:cNvPr id="2301" name="Google Shape;2301;p34"/>
          <p:cNvSpPr txBox="1">
            <a:spLocks noGrp="1"/>
          </p:cNvSpPr>
          <p:nvPr>
            <p:ph type="subTitle" idx="1"/>
          </p:nvPr>
        </p:nvSpPr>
        <p:spPr>
          <a:xfrm>
            <a:off x="908690" y="1708883"/>
            <a:ext cx="7326620" cy="1293668"/>
          </a:xfrm>
          <a:prstGeom prst="rect">
            <a:avLst/>
          </a:prstGeom>
        </p:spPr>
        <p:txBody>
          <a:bodyPr spcFirstLastPara="1" wrap="square" lIns="91425" tIns="91425" rIns="91425" bIns="91425" anchor="t" anchorCtr="0">
            <a:noAutofit/>
          </a:bodyPr>
          <a:lstStyle/>
          <a:p>
            <a:pPr marL="0" indent="0"/>
            <a:r>
              <a:rPr lang="en-US" sz="2000" b="1" i="0" dirty="0">
                <a:solidFill>
                  <a:srgbClr val="0F1115"/>
                </a:solidFill>
                <a:effectLst/>
                <a:latin typeface="quote-cjk-patch"/>
              </a:rPr>
              <a:t>Fee statement, results, confirmation of registration, and examination slip. Samuel shows 14,000.00 billed, 13,500.00 paid, and 500.00 outstanding. Results include the name, computer number, and gender. The QR code carries the issued time.</a:t>
            </a:r>
            <a:r>
              <a:rPr lang="en-US" sz="2000" b="0" i="0" dirty="0">
                <a:solidFill>
                  <a:srgbClr val="0F1115"/>
                </a:solidFill>
                <a:effectLst/>
                <a:latin typeface="quote-cjk-patch"/>
              </a:rPr>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71637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Documentation</a:t>
            </a:r>
            <a:endParaRPr dirty="0"/>
          </a:p>
        </p:txBody>
      </p:sp>
      <p:sp>
        <p:nvSpPr>
          <p:cNvPr id="2301" name="Google Shape;2301;p34"/>
          <p:cNvSpPr txBox="1">
            <a:spLocks noGrp="1"/>
          </p:cNvSpPr>
          <p:nvPr>
            <p:ph type="subTitle" idx="1"/>
          </p:nvPr>
        </p:nvSpPr>
        <p:spPr>
          <a:xfrm>
            <a:off x="771306" y="1471477"/>
            <a:ext cx="7341250" cy="1864254"/>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GB" sz="2000" b="1" i="0" dirty="0">
                <a:solidFill>
                  <a:srgbClr val="0F1115"/>
                </a:solidFill>
                <a:effectLst/>
                <a:latin typeface="quote-cjk-patch"/>
              </a:rPr>
              <a:t>Final report: docs/VeriScreen-Final-Year-Report.pdf, submitted 23rd October 2026.</a:t>
            </a:r>
            <a:r>
              <a:rPr lang="en-GB" sz="2000" b="0" i="0" dirty="0">
                <a:solidFill>
                  <a:srgbClr val="0F1115"/>
                </a:solidFill>
                <a:effectLst/>
                <a:latin typeface="quote-cjk-patch"/>
              </a:rPr>
              <a:t/>
            </a:r>
            <a:r>
              <a:rPr lang="en-GB" sz="2000" b="0" i="0" dirty="0" err="1">
                <a:solidFill>
                  <a:srgbClr val="0F1115"/>
                </a:solidFill>
                <a:effectLst/>
                <a:latin typeface="quote-cjk-patch"/>
              </a:rPr>
              <a:t/>
            </a:r>
            <a:r>
              <a:rPr lang="en-GB" sz="2000" b="0" i="0" dirty="0">
                <a:solidFill>
                  <a:srgbClr val="0F1115"/>
                </a:solidFill>
                <a:effectLst/>
                <a:latin typeface="quote-cjk-patch"/>
              </a:rPr>
              <a:t/>
            </a:r>
          </a:p>
          <a:p>
            <a:pPr algn="l">
              <a:buFont typeface="Arial" panose="020B0604020202020204" pitchFamily="34" charset="0"/>
              <a:buChar char="•"/>
            </a:pPr>
            <a:r>
              <a:rPr lang="en-GB" sz="2000" b="1" i="0" dirty="0">
                <a:solidFill>
                  <a:srgbClr val="0F1115"/>
                </a:solidFill>
                <a:effectLst/>
                <a:latin typeface="quote-cjk-patch"/>
              </a:rPr>
              <a:t>The report includes the architecture, the screening rules, and screenshots of both portals.</a:t>
            </a:r>
            <a:r>
              <a:rPr lang="en-GB" sz="2000" b="0" i="0" dirty="0">
                <a:solidFill>
                  <a:srgbClr val="0F1115"/>
                </a:solidFill>
                <a:effectLst/>
                <a:latin typeface="quote-cjk-patch"/>
              </a:rPr>
              <a:t/>
            </a:r>
          </a:p>
          <a:p>
            <a:pPr algn="l">
              <a:buFont typeface="Arial" panose="020B0604020202020204" pitchFamily="34" charset="0"/>
              <a:buChar char="•"/>
            </a:pPr>
            <a:r>
              <a:rPr lang="en-GB" sz="2000" b="1" i="0" dirty="0">
                <a:solidFill>
                  <a:srgbClr val="0F1115"/>
                </a:solidFill>
                <a:effectLst/>
                <a:latin typeface="quote-cjk-patch"/>
              </a:rPr>
              <a:t>This presentation follows the same system: student portal, officer portal, QR check, and screening sentence.</a:t>
            </a:r>
            <a:r>
              <a:rPr lang="en-GB" sz="2000" b="0" i="0" dirty="0">
                <a:solidFill>
                  <a:srgbClr val="0F1115"/>
                </a:solidFill>
                <a:effectLst/>
                <a:latin typeface="quote-cjk-patch"/>
              </a:rPr>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52839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Demonstration Materials</a:t>
            </a:r>
            <a:endParaRPr dirty="0"/>
          </a:p>
        </p:txBody>
      </p:sp>
      <p:sp>
        <p:nvSpPr>
          <p:cNvPr id="2301" name="Google Shape;2301;p34"/>
          <p:cNvSpPr txBox="1">
            <a:spLocks noGrp="1"/>
          </p:cNvSpPr>
          <p:nvPr>
            <p:ph type="subTitle" idx="1"/>
          </p:nvPr>
        </p:nvSpPr>
        <p:spPr>
          <a:xfrm>
            <a:off x="537220" y="1595836"/>
            <a:ext cx="6145800" cy="1600907"/>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000" b="0" i="0" dirty="0">
                <a:solidFill>
                  <a:srgbClr val="0F1115"/>
                </a:solidFill>
                <a:effectLst/>
                <a:latin typeface="quote-cjk-patch"/>
              </a:rPr>
              <a:t>Student: 2021465934, Samuel Chibinji Mwanza. Password password123.</a:t>
            </a:r>
          </a:p>
          <a:p>
            <a:pPr algn="l">
              <a:buFont typeface="Arial" panose="020B0604020202020204" pitchFamily="34" charset="0"/>
              <a:buChar char="•"/>
            </a:pPr>
            <a:r>
              <a:rPr lang="en-US" sz="2000" b="0" i="0" dirty="0">
                <a:solidFill>
                  <a:srgbClr val="0F1115"/>
                </a:solidFill>
                <a:effectLst/>
                <a:latin typeface="quote-cjk-patch"/>
              </a:rPr>
              <a:t>Also Nosiku Mukuka 2022030346, Grace Banda 2020123456, and Peter Zulu 2019876543.</a:t>
            </a:r>
          </a:p>
          <a:p>
            <a:pPr algn="l">
              <a:buFont typeface="Arial" panose="020B0604020202020204" pitchFamily="34" charset="0"/>
              <a:buChar char="•"/>
            </a:pPr>
            <a:r>
              <a:rPr lang="en-US" sz="2000" b="0" i="0" dirty="0">
                <a:solidFill>
                  <a:srgbClr val="0F1115"/>
                </a:solidFill>
                <a:effectLst/>
                <a:latin typeface="quote-cjk-patch"/>
              </a:rPr>
              <a:t>Officer: mwaka.chanda@helsb.zm. Sites: localhost:5173 and localhost:5174.</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95739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826803" y="312409"/>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Research Contributions</a:t>
            </a:r>
            <a:endParaRPr dirty="0"/>
          </a:p>
        </p:txBody>
      </p:sp>
      <p:sp>
        <p:nvSpPr>
          <p:cNvPr id="2301" name="Google Shape;2301;p34"/>
          <p:cNvSpPr txBox="1">
            <a:spLocks noGrp="1"/>
          </p:cNvSpPr>
          <p:nvPr>
            <p:ph type="subTitle" idx="1"/>
          </p:nvPr>
        </p:nvSpPr>
        <p:spPr>
          <a:xfrm>
            <a:off x="939556" y="1025250"/>
            <a:ext cx="6145800" cy="3458968"/>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000" b="0" i="0" dirty="0">
                <a:solidFill>
                  <a:srgbClr val="0F1115"/>
                </a:solidFill>
                <a:effectLst/>
                <a:latin typeface="+mn-lt"/>
              </a:rPr>
              <a:t>A working student portal and a separate HELSB officer portal.</a:t>
            </a:r>
          </a:p>
          <a:p>
            <a:pPr algn="l">
              <a:buFont typeface="Arial" panose="020B0604020202020204" pitchFamily="34" charset="0"/>
              <a:buChar char="•"/>
            </a:pPr>
            <a:r>
              <a:rPr lang="en-US" sz="2000" b="0" i="0" dirty="0">
                <a:solidFill>
                  <a:srgbClr val="0F1115"/>
                </a:solidFill>
                <a:effectLst/>
                <a:latin typeface="+mn-lt"/>
              </a:rPr>
              <a:t>A screening sentence tied to the fee, registration, examination, and result rows.</a:t>
            </a:r>
          </a:p>
          <a:p>
            <a:pPr algn="l">
              <a:buFont typeface="Arial" panose="020B0604020202020204" pitchFamily="34" charset="0"/>
              <a:buChar char="•"/>
            </a:pPr>
            <a:r>
              <a:rPr lang="en-US" sz="2000" b="0" i="0" dirty="0">
                <a:solidFill>
                  <a:srgbClr val="0F1115"/>
                </a:solidFill>
                <a:effectLst/>
                <a:latin typeface="+mn-lt"/>
              </a:rPr>
              <a:t>Samuel and Nosiku share the delivered system. A percentage split is left for the supervisor.</a:t>
            </a:r>
          </a:p>
          <a:p>
            <a:br>
              <a:rPr lang="en-US" sz="2000" dirty="0">
                <a:latin typeface="+mn-lt"/>
              </a:rPr>
            </a:br>
            <a:endParaRPr sz="2000" dirty="0">
              <a:latin typeface="+mn-lt"/>
            </a:endParaRPr>
          </a:p>
        </p:txBody>
      </p:sp>
    </p:spTree>
    <p:extLst>
      <p:ext uri="{BB962C8B-B14F-4D97-AF65-F5344CB8AC3E}">
        <p14:creationId xmlns:p14="http://schemas.microsoft.com/office/powerpoint/2010/main" val="759479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Project Timeline</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Tree>
    <p:extLst>
      <p:ext uri="{BB962C8B-B14F-4D97-AF65-F5344CB8AC3E}">
        <p14:creationId xmlns:p14="http://schemas.microsoft.com/office/powerpoint/2010/main" val="2684148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3"/>
        <p:cNvGrpSpPr/>
        <p:nvPr/>
      </p:nvGrpSpPr>
      <p:grpSpPr>
        <a:xfrm>
          <a:off x="0" y="0"/>
          <a:ext cx="0" cy="0"/>
          <a:chOff x="0" y="0"/>
          <a:chExt cx="0" cy="0"/>
        </a:xfrm>
      </p:grpSpPr>
      <p:sp>
        <p:nvSpPr>
          <p:cNvPr id="2454" name="Google Shape;2454;p38"/>
          <p:cNvSpPr txBox="1">
            <a:spLocks noGrp="1"/>
          </p:cNvSpPr>
          <p:nvPr>
            <p:ph type="title"/>
          </p:nvPr>
        </p:nvSpPr>
        <p:spPr>
          <a:xfrm>
            <a:off x="665378" y="142798"/>
            <a:ext cx="7696200" cy="63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500"/>
              <a:buFont typeface="Bebas Neue"/>
              <a:buNone/>
            </a:pPr>
            <a:r>
              <a:rPr lang="en" dirty="0"/>
              <a:t>Project Timeline</a:t>
            </a:r>
            <a:endParaRPr dirty="0"/>
          </a:p>
        </p:txBody>
      </p:sp>
      <p:graphicFrame>
        <p:nvGraphicFramePr>
          <p:cNvPr id="2" name="Table 2">
            <a:extLst>
              <a:ext uri="{FF2B5EF4-FFF2-40B4-BE49-F238E27FC236}">
                <a16:creationId xmlns:a16="http://schemas.microsoft.com/office/drawing/2014/main" id="{BD71EAD5-4C00-410B-91A6-86FCECA3916A}"/>
              </a:ext>
            </a:extLst>
          </p:cNvPr>
          <p:cNvGraphicFramePr>
            <a:graphicFrameLocks noGrp="1"/>
          </p:cNvGraphicFramePr>
          <p:nvPr>
            <p:extLst>
              <p:ext uri="{D42A27DB-BD31-4B8C-83A1-F6EECF244321}">
                <p14:modId xmlns:p14="http://schemas.microsoft.com/office/powerpoint/2010/main" val="2172398344"/>
              </p:ext>
            </p:extLst>
          </p:nvPr>
        </p:nvGraphicFramePr>
        <p:xfrm>
          <a:off x="782422" y="782098"/>
          <a:ext cx="6096000" cy="2697492"/>
        </p:xfrm>
        <a:graphic>
          <a:graphicData uri="http://schemas.openxmlformats.org/drawingml/2006/table">
            <a:tbl>
              <a:tblPr firstRow="1" bandRow="1">
                <a:tableStyleId>{A407EE39-42F6-4224-913A-FE5B60889325}</a:tableStyleId>
              </a:tblPr>
              <a:tblGrid>
                <a:gridCol w="4191913">
                  <a:extLst>
                    <a:ext uri="{9D8B030D-6E8A-4147-A177-3AD203B41FA5}">
                      <a16:colId xmlns:a16="http://schemas.microsoft.com/office/drawing/2014/main" val="1491480512"/>
                    </a:ext>
                  </a:extLst>
                </a:gridCol>
                <a:gridCol w="1904087">
                  <a:extLst>
                    <a:ext uri="{9D8B030D-6E8A-4147-A177-3AD203B41FA5}">
                      <a16:colId xmlns:a16="http://schemas.microsoft.com/office/drawing/2014/main" val="38377071"/>
                    </a:ext>
                  </a:extLst>
                </a:gridCol>
              </a:tblGrid>
              <a:tr h="263438">
                <a:tc>
                  <a:txBody>
                    <a:bodyPr/>
                    <a:lstStyle/>
                    <a:p>
                      <a:r>
                        <a:rPr lang="en-US" b="1" dirty="0"/>
                        <a:t>Phase</a:t>
                      </a:r>
                      <a:endParaRPr lang="en-GB" b="1" dirty="0"/>
                    </a:p>
                  </a:txBody>
                  <a:tcPr/>
                </a:tc>
                <a:tc>
                  <a:txBody>
                    <a:bodyPr/>
                    <a:lstStyle/>
                    <a:p>
                      <a:r>
                        <a:rPr lang="en-US" b="1" dirty="0"/>
                        <a:t>Outcome</a:t>
                      </a:r>
                      <a:endParaRPr lang="en-GB" b="1" dirty="0"/>
                    </a:p>
                  </a:txBody>
                  <a:tcPr/>
                </a:tc>
                <a:extLst>
                  <a:ext uri="{0D108BD9-81ED-4DB2-BD59-A6C34878D82A}">
                    <a16:rowId xmlns:a16="http://schemas.microsoft.com/office/drawing/2014/main" val="3300397398"/>
                  </a:ext>
                </a:extLst>
              </a:tr>
              <a:tr h="347982">
                <a:tc>
                  <a:txBody>
                    <a:bodyPr/>
                    <a:lstStyle/>
                    <a:p>
                      <a:r>
                        <a:rPr lang="en-US" dirty="0"/>
                        <a:t>Proposal and design</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3376976886"/>
                  </a:ext>
                </a:extLst>
              </a:tr>
              <a:tr h="347982">
                <a:tc>
                  <a:txBody>
                    <a:bodyPr/>
                    <a:lstStyle/>
                    <a:p>
                      <a:r>
                        <a:rPr lang="en-US" dirty="0"/>
                        <a:t>Student API and MySQL record</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3995622727"/>
                  </a:ext>
                </a:extLst>
              </a:tr>
              <a:tr h="347982">
                <a:tc>
                  <a:txBody>
                    <a:bodyPr/>
                    <a:lstStyle/>
                    <a:p>
                      <a:r>
                        <a:rPr lang="en-US" dirty="0"/>
                        <a:t>Student web portal</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268357455"/>
                  </a:ext>
                </a:extLst>
              </a:tr>
              <a:tr h="347982">
                <a:tc>
                  <a:txBody>
                    <a:bodyPr/>
                    <a:lstStyle/>
                    <a:p>
                      <a:r>
                        <a:rPr lang="en-US" dirty="0"/>
                        <a:t>PDF documents and QR codes</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851783939"/>
                  </a:ext>
                </a:extLst>
              </a:tr>
              <a:tr h="347982">
                <a:tc>
                  <a:txBody>
                    <a:bodyPr/>
                    <a:lstStyle/>
                    <a:p>
                      <a:r>
                        <a:rPr lang="en-US" dirty="0"/>
                        <a:t>Phone verification page</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1093009281"/>
                  </a:ext>
                </a:extLst>
              </a:tr>
              <a:tr h="230946">
                <a:tc>
                  <a:txBody>
                    <a:bodyPr/>
                    <a:lstStyle/>
                    <a:p>
                      <a:r>
                        <a:rPr lang="en-US" dirty="0"/>
                        <a:t>HELSB officer portal</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3945788780"/>
                  </a:ext>
                </a:extLst>
              </a:tr>
              <a:tr h="347982">
                <a:tc>
                  <a:txBody>
                    <a:bodyPr/>
                    <a:lstStyle/>
                    <a:p>
                      <a:r>
                        <a:rPr lang="en-US" dirty="0"/>
                        <a:t>Six-step tracker</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2907973258"/>
                  </a:ext>
                </a:extLst>
              </a:tr>
            </a:tbl>
          </a:graphicData>
        </a:graphic>
      </p:graphicFrame>
      <p:graphicFrame>
        <p:nvGraphicFramePr>
          <p:cNvPr id="3" name="Table 3">
            <a:extLst>
              <a:ext uri="{FF2B5EF4-FFF2-40B4-BE49-F238E27FC236}">
                <a16:creationId xmlns:a16="http://schemas.microsoft.com/office/drawing/2014/main" id="{0D114B5E-594B-468C-ACB0-45E72BD6BFB7}"/>
              </a:ext>
            </a:extLst>
          </p:cNvPr>
          <p:cNvGraphicFramePr>
            <a:graphicFrameLocks noGrp="1"/>
          </p:cNvGraphicFramePr>
          <p:nvPr>
            <p:extLst>
              <p:ext uri="{D42A27DB-BD31-4B8C-83A1-F6EECF244321}">
                <p14:modId xmlns:p14="http://schemas.microsoft.com/office/powerpoint/2010/main" val="3093575474"/>
              </p:ext>
            </p:extLst>
          </p:nvPr>
        </p:nvGraphicFramePr>
        <p:xfrm>
          <a:off x="782422" y="3479590"/>
          <a:ext cx="6096000" cy="949796"/>
        </p:xfrm>
        <a:graphic>
          <a:graphicData uri="http://schemas.openxmlformats.org/drawingml/2006/table">
            <a:tbl>
              <a:tblPr firstRow="1" bandRow="1">
                <a:tableStyleId>{A407EE39-42F6-4224-913A-FE5B60889325}</a:tableStyleId>
              </a:tblPr>
              <a:tblGrid>
                <a:gridCol w="4191913">
                  <a:extLst>
                    <a:ext uri="{9D8B030D-6E8A-4147-A177-3AD203B41FA5}">
                      <a16:colId xmlns:a16="http://schemas.microsoft.com/office/drawing/2014/main" val="949374336"/>
                    </a:ext>
                  </a:extLst>
                </a:gridCol>
                <a:gridCol w="1904087">
                  <a:extLst>
                    <a:ext uri="{9D8B030D-6E8A-4147-A177-3AD203B41FA5}">
                      <a16:colId xmlns:a16="http://schemas.microsoft.com/office/drawing/2014/main" val="67957662"/>
                    </a:ext>
                  </a:extLst>
                </a:gridCol>
              </a:tblGrid>
              <a:tr h="248445">
                <a:tc>
                  <a:txBody>
                    <a:bodyPr/>
                    <a:lstStyle/>
                    <a:p>
                      <a:r>
                        <a:rPr lang="en-US" dirty="0"/>
                        <a:t>Screening sentences</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706476851"/>
                  </a:ext>
                </a:extLst>
              </a:tr>
              <a:tr h="248445">
                <a:tc>
                  <a:txBody>
                    <a:bodyPr/>
                    <a:lstStyle/>
                    <a:p>
                      <a:r>
                        <a:rPr lang="en-US" dirty="0"/>
                        <a:t>Phone-width layout and Expo client</a:t>
                      </a:r>
                      <a:endParaRPr lang="en-GB" dirty="0"/>
                    </a:p>
                  </a:txBody>
                  <a:tcPr/>
                </a:tc>
                <a:tc>
                  <a:txBody>
                    <a:bodyPr/>
                    <a:lstStyle/>
                    <a:p>
                      <a:r>
                        <a:rPr lang="en-US" dirty="0"/>
                        <a:t>Completed</a:t>
                      </a:r>
                      <a:endParaRPr lang="en-GB" dirty="0"/>
                    </a:p>
                  </a:txBody>
                  <a:tcPr/>
                </a:tc>
                <a:extLst>
                  <a:ext uri="{0D108BD9-81ED-4DB2-BD59-A6C34878D82A}">
                    <a16:rowId xmlns:a16="http://schemas.microsoft.com/office/drawing/2014/main" val="357411127"/>
                  </a:ext>
                </a:extLst>
              </a:tr>
              <a:tr h="340196">
                <a:tc>
                  <a:txBody>
                    <a:bodyPr/>
                    <a:lstStyle/>
                    <a:p>
                      <a:r>
                        <a:rPr lang="en-US" dirty="0"/>
                        <a:t>Final report</a:t>
                      </a:r>
                      <a:endParaRPr lang="en-GB" dirty="0"/>
                    </a:p>
                  </a:txBody>
                  <a:tcPr/>
                </a:tc>
                <a:tc>
                  <a:txBody>
                    <a:bodyPr/>
                    <a:lstStyle/>
                    <a:p>
                      <a:r>
                        <a:rPr lang="en-US" dirty="0"/>
                        <a:t>23rd October 2026</a:t>
                      </a:r>
                      <a:endParaRPr lang="en-GB" dirty="0"/>
                    </a:p>
                  </a:txBody>
                  <a:tcPr/>
                </a:tc>
                <a:extLst>
                  <a:ext uri="{0D108BD9-81ED-4DB2-BD59-A6C34878D82A}">
                    <a16:rowId xmlns:a16="http://schemas.microsoft.com/office/drawing/2014/main" val="3990341514"/>
                  </a:ext>
                </a:extLst>
              </a:tr>
            </a:tbl>
          </a:graphicData>
        </a:graphic>
      </p:graphicFrame>
      <p:graphicFrame>
        <p:nvGraphicFramePr>
          <p:cNvPr id="4" name="Table 4">
            <a:extLst>
              <a:ext uri="{FF2B5EF4-FFF2-40B4-BE49-F238E27FC236}">
                <a16:creationId xmlns:a16="http://schemas.microsoft.com/office/drawing/2014/main" id="{7D91F4C1-BEE4-4E45-8284-5F395079E010}"/>
              </a:ext>
            </a:extLst>
          </p:cNvPr>
          <p:cNvGraphicFramePr>
            <a:graphicFrameLocks noGrp="1"/>
          </p:cNvGraphicFramePr>
          <p:nvPr>
            <p:extLst>
              <p:ext uri="{D42A27DB-BD31-4B8C-83A1-F6EECF244321}">
                <p14:modId xmlns:p14="http://schemas.microsoft.com/office/powerpoint/2010/main" val="1522939805"/>
              </p:ext>
            </p:extLst>
          </p:nvPr>
        </p:nvGraphicFramePr>
        <p:xfrm>
          <a:off x="782422" y="4429386"/>
          <a:ext cx="6096000" cy="304800"/>
        </p:xfrm>
        <a:graphic>
          <a:graphicData uri="http://schemas.openxmlformats.org/drawingml/2006/table">
            <a:tbl>
              <a:tblPr firstRow="1" bandRow="1">
                <a:tableStyleId>{A407EE39-42F6-4224-913A-FE5B60889325}</a:tableStyleId>
              </a:tblPr>
              <a:tblGrid>
                <a:gridCol w="4191913">
                  <a:extLst>
                    <a:ext uri="{9D8B030D-6E8A-4147-A177-3AD203B41FA5}">
                      <a16:colId xmlns:a16="http://schemas.microsoft.com/office/drawing/2014/main" val="4161881011"/>
                    </a:ext>
                  </a:extLst>
                </a:gridCol>
                <a:gridCol w="1904087">
                  <a:extLst>
                    <a:ext uri="{9D8B030D-6E8A-4147-A177-3AD203B41FA5}">
                      <a16:colId xmlns:a16="http://schemas.microsoft.com/office/drawing/2014/main" val="1627551595"/>
                    </a:ext>
                  </a:extLst>
                </a:gridCol>
              </a:tblGrid>
              <a:tr h="261281">
                <a:tc>
                  <a:txBody>
                    <a:bodyPr/>
                    <a:lstStyle/>
                    <a:p>
                      <a:r>
                        <a:rPr lang="en-US" dirty="0"/>
                        <a:t>Presentation</a:t>
                      </a:r>
                      <a:endParaRPr lang="en-GB" dirty="0"/>
                    </a:p>
                  </a:txBody>
                  <a:tcPr/>
                </a:tc>
                <a:tc>
                  <a:txBody>
                    <a:bodyPr/>
                    <a:lstStyle/>
                    <a:p>
                      <a:r>
                        <a:rPr lang="en-US" dirty="0"/>
                        <a:t>23rd October 2026</a:t>
                      </a:r>
                      <a:endParaRPr lang="en-GB" dirty="0"/>
                    </a:p>
                  </a:txBody>
                  <a:tcPr/>
                </a:tc>
                <a:extLst>
                  <a:ext uri="{0D108BD9-81ED-4DB2-BD59-A6C34878D82A}">
                    <a16:rowId xmlns:a16="http://schemas.microsoft.com/office/drawing/2014/main" val="1046518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Risk Analysis</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spTree>
    <p:extLst>
      <p:ext uri="{BB962C8B-B14F-4D97-AF65-F5344CB8AC3E}">
        <p14:creationId xmlns:p14="http://schemas.microsoft.com/office/powerpoint/2010/main" val="1914921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563455" y="173420"/>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Risks</a:t>
            </a:r>
            <a:endParaRPr dirty="0"/>
          </a:p>
        </p:txBody>
      </p:sp>
      <p:sp>
        <p:nvSpPr>
          <p:cNvPr id="4" name="Rectangle 3">
            <a:extLst>
              <a:ext uri="{FF2B5EF4-FFF2-40B4-BE49-F238E27FC236}">
                <a16:creationId xmlns:a16="http://schemas.microsoft.com/office/drawing/2014/main" id="{FA68E216-B4FD-4B1B-90C3-E9B52518C1BC}"/>
              </a:ext>
            </a:extLst>
          </p:cNvPr>
          <p:cNvSpPr/>
          <p:nvPr/>
        </p:nvSpPr>
        <p:spPr>
          <a:xfrm>
            <a:off x="685800" y="1111469"/>
            <a:ext cx="2900855" cy="299545"/>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C6DC9B97-106E-4AE0-89E9-45754749494A}"/>
              </a:ext>
            </a:extLst>
          </p:cNvPr>
          <p:cNvSpPr txBox="1"/>
          <p:nvPr/>
        </p:nvSpPr>
        <p:spPr>
          <a:xfrm>
            <a:off x="938048" y="1103237"/>
            <a:ext cx="2766848" cy="307777"/>
          </a:xfrm>
          <a:prstGeom prst="rect">
            <a:avLst/>
          </a:prstGeom>
          <a:noFill/>
        </p:spPr>
        <p:txBody>
          <a:bodyPr wrap="square" rtlCol="0">
            <a:spAutoFit/>
          </a:bodyPr>
          <a:lstStyle/>
          <a:p>
            <a:r>
              <a:rPr lang="en-US" dirty="0">
                <a:solidFill>
                  <a:schemeClr val="accent2"/>
                </a:solidFill>
              </a:rPr>
              <a:t>Technical Risks</a:t>
            </a:r>
            <a:endParaRPr lang="en-GB" dirty="0">
              <a:solidFill>
                <a:schemeClr val="accent2"/>
              </a:solidFill>
            </a:endParaRPr>
          </a:p>
        </p:txBody>
      </p:sp>
      <p:sp>
        <p:nvSpPr>
          <p:cNvPr id="6" name="Rectangle 5">
            <a:extLst>
              <a:ext uri="{FF2B5EF4-FFF2-40B4-BE49-F238E27FC236}">
                <a16:creationId xmlns:a16="http://schemas.microsoft.com/office/drawing/2014/main" id="{57465FA5-7F63-47B7-8B36-5BB68602CBF4}"/>
              </a:ext>
            </a:extLst>
          </p:cNvPr>
          <p:cNvSpPr/>
          <p:nvPr/>
        </p:nvSpPr>
        <p:spPr>
          <a:xfrm>
            <a:off x="5155324" y="1103237"/>
            <a:ext cx="3302876" cy="307777"/>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C5A2812-37FA-49C6-BB2E-0B65C2DA659D}"/>
              </a:ext>
            </a:extLst>
          </p:cNvPr>
          <p:cNvSpPr txBox="1"/>
          <p:nvPr/>
        </p:nvSpPr>
        <p:spPr>
          <a:xfrm>
            <a:off x="5249918" y="1119702"/>
            <a:ext cx="3302876" cy="307777"/>
          </a:xfrm>
          <a:prstGeom prst="rect">
            <a:avLst/>
          </a:prstGeom>
          <a:noFill/>
        </p:spPr>
        <p:txBody>
          <a:bodyPr wrap="square" rtlCol="0">
            <a:spAutoFit/>
          </a:bodyPr>
          <a:lstStyle/>
          <a:p>
            <a:r>
              <a:rPr lang="en-US" dirty="0">
                <a:solidFill>
                  <a:schemeClr val="accent2"/>
                </a:solidFill>
              </a:rPr>
              <a:t>Project and Personal Risks</a:t>
            </a:r>
            <a:endParaRPr lang="en-GB" dirty="0">
              <a:solidFill>
                <a:schemeClr val="accent2"/>
              </a:solidFill>
            </a:endParaRPr>
          </a:p>
        </p:txBody>
      </p:sp>
      <p:sp>
        <p:nvSpPr>
          <p:cNvPr id="8" name="Rectangle 7">
            <a:extLst>
              <a:ext uri="{FF2B5EF4-FFF2-40B4-BE49-F238E27FC236}">
                <a16:creationId xmlns:a16="http://schemas.microsoft.com/office/drawing/2014/main" id="{9727E128-E96A-4564-901B-1EE4DC31DA98}"/>
              </a:ext>
            </a:extLst>
          </p:cNvPr>
          <p:cNvSpPr/>
          <p:nvPr/>
        </p:nvSpPr>
        <p:spPr>
          <a:xfrm>
            <a:off x="685800" y="3547241"/>
            <a:ext cx="2900855" cy="307777"/>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0E1BFC7F-8444-47EA-989C-39C9BA97C61E}"/>
              </a:ext>
            </a:extLst>
          </p:cNvPr>
          <p:cNvSpPr txBox="1"/>
          <p:nvPr/>
        </p:nvSpPr>
        <p:spPr>
          <a:xfrm>
            <a:off x="811924" y="3547240"/>
            <a:ext cx="2774731" cy="307777"/>
          </a:xfrm>
          <a:prstGeom prst="rect">
            <a:avLst/>
          </a:prstGeom>
          <a:noFill/>
        </p:spPr>
        <p:txBody>
          <a:bodyPr wrap="square" rtlCol="0">
            <a:spAutoFit/>
          </a:bodyPr>
          <a:lstStyle/>
          <a:p>
            <a:r>
              <a:rPr lang="en-US" dirty="0">
                <a:solidFill>
                  <a:schemeClr val="accent2"/>
                </a:solidFill>
              </a:rPr>
              <a:t>Data and External Risks</a:t>
            </a:r>
            <a:endParaRPr lang="en-GB" dirty="0">
              <a:solidFill>
                <a:schemeClr val="accent2"/>
              </a:solidFill>
            </a:endParaRPr>
          </a:p>
        </p:txBody>
      </p:sp>
      <p:sp>
        <p:nvSpPr>
          <p:cNvPr id="10" name="Rectangle 9">
            <a:extLst>
              <a:ext uri="{FF2B5EF4-FFF2-40B4-BE49-F238E27FC236}">
                <a16:creationId xmlns:a16="http://schemas.microsoft.com/office/drawing/2014/main" id="{21311981-BAE8-4C08-BCAE-2B05E8F1D706}"/>
              </a:ext>
            </a:extLst>
          </p:cNvPr>
          <p:cNvSpPr/>
          <p:nvPr/>
        </p:nvSpPr>
        <p:spPr>
          <a:xfrm>
            <a:off x="5155323" y="3547240"/>
            <a:ext cx="3224049" cy="307777"/>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C3B07BE-B746-4039-93CF-01827D304837}"/>
              </a:ext>
            </a:extLst>
          </p:cNvPr>
          <p:cNvSpPr txBox="1"/>
          <p:nvPr/>
        </p:nvSpPr>
        <p:spPr>
          <a:xfrm>
            <a:off x="5249918" y="3547240"/>
            <a:ext cx="3082158" cy="307777"/>
          </a:xfrm>
          <a:prstGeom prst="rect">
            <a:avLst/>
          </a:prstGeom>
          <a:noFill/>
        </p:spPr>
        <p:txBody>
          <a:bodyPr wrap="square" rtlCol="0">
            <a:spAutoFit/>
          </a:bodyPr>
          <a:lstStyle/>
          <a:p>
            <a:r>
              <a:rPr lang="en-US" dirty="0">
                <a:solidFill>
                  <a:schemeClr val="accent2"/>
                </a:solidFill>
              </a:rPr>
              <a:t>Usability Risks</a:t>
            </a:r>
            <a:endParaRPr lang="en-GB" dirty="0">
              <a:solidFill>
                <a:schemeClr val="accent2"/>
              </a:solidFill>
            </a:endParaRPr>
          </a:p>
        </p:txBody>
      </p:sp>
      <p:sp>
        <p:nvSpPr>
          <p:cNvPr id="12" name="TextBox 11">
            <a:extLst>
              <a:ext uri="{FF2B5EF4-FFF2-40B4-BE49-F238E27FC236}">
                <a16:creationId xmlns:a16="http://schemas.microsoft.com/office/drawing/2014/main" id="{6CE4A724-93EB-4C32-A352-2AE28024C24A}"/>
              </a:ext>
            </a:extLst>
          </p:cNvPr>
          <p:cNvSpPr txBox="1"/>
          <p:nvPr/>
        </p:nvSpPr>
        <p:spPr>
          <a:xfrm>
            <a:off x="685800" y="1411014"/>
            <a:ext cx="2900855" cy="2002220"/>
          </a:xfrm>
          <a:prstGeom prst="rect">
            <a:avLst/>
          </a:prstGeom>
          <a:noFill/>
        </p:spPr>
        <p:txBody>
          <a:bodyPr wrap="square" rtlCol="0">
            <a:spAutoFit/>
          </a:bodyPr>
          <a:lstStyle/>
          <a:p>
            <a:endParaRPr lang="en-GB"/>
          </a:p>
        </p:txBody>
      </p:sp>
      <p:sp>
        <p:nvSpPr>
          <p:cNvPr id="2" name="TextBox 1">
            <a:extLst>
              <a:ext uri="{FF2B5EF4-FFF2-40B4-BE49-F238E27FC236}">
                <a16:creationId xmlns:a16="http://schemas.microsoft.com/office/drawing/2014/main" id="{C5D07D21-1885-448C-A53B-BDB5D640BFA6}"/>
              </a:ext>
            </a:extLst>
          </p:cNvPr>
          <p:cNvSpPr txBox="1"/>
          <p:nvPr/>
        </p:nvSpPr>
        <p:spPr>
          <a:xfrm>
            <a:off x="685800" y="1427479"/>
            <a:ext cx="4273906" cy="227754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The two databases can diverge if the internal call fails</a:t>
            </a:r>
          </a:p>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Development passwords must not be used in public</a:t>
            </a:r>
          </a:p>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PDF layout had to match the reference forms without copying private details</a:t>
            </a:r>
          </a:p>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
            </a:r>
          </a:p>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
            </a:r>
          </a:p>
          <a:p>
            <a:pPr marL="285750" indent="-285750">
              <a:buFont typeface="Arial" panose="020B0604020202020204" pitchFamily="34" charset="0"/>
              <a:buChar char="•"/>
            </a:pPr>
            <a:r>
              <a:rPr lang="en-US" sz="1600" dirty="0">
                <a:solidFill>
                  <a:schemeClr val="bg2">
                    <a:lumMod val="50000"/>
                  </a:schemeClr>
                </a:solidFill>
                <a:latin typeface="+mj-lt"/>
                <a:ea typeface="Libre Baskerville"/>
                <a:cs typeface="Libre Baskerville"/>
                <a:sym typeface="Libre Baskerville"/>
              </a:rPr>
              <a:t/>
            </a:r>
          </a:p>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11DF7EA1-430A-4B58-A802-871D8C67B8F2}"/>
              </a:ext>
            </a:extLst>
          </p:cNvPr>
          <p:cNvSpPr txBox="1"/>
          <p:nvPr/>
        </p:nvSpPr>
        <p:spPr>
          <a:xfrm>
            <a:off x="685800" y="3855017"/>
            <a:ext cx="3973982"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2">
                    <a:lumMod val="50000"/>
                  </a:schemeClr>
                </a:solidFill>
              </a:rPr>
              <a:t>The record is simulated, so it is not a live university extract</a:t>
            </a:r>
          </a:p>
          <a:p>
            <a:pPr marL="285750" indent="-285750">
              <a:buFont typeface="Arial" panose="020B0604020202020204" pitchFamily="34" charset="0"/>
              <a:buChar char="•"/>
            </a:pPr>
            <a:r>
              <a:rPr lang="en-US" sz="1600" dirty="0">
                <a:solidFill>
                  <a:schemeClr val="bg2">
                    <a:lumMod val="50000"/>
                  </a:schemeClr>
                </a:solidFill>
              </a:rPr>
              <a:t>A phone must be on the same network to open a local QR address</a:t>
            </a:r>
            <a:endParaRPr lang="en-GB" sz="1600" dirty="0">
              <a:solidFill>
                <a:schemeClr val="bg2">
                  <a:lumMod val="50000"/>
                </a:schemeClr>
              </a:solidFill>
            </a:endParaRPr>
          </a:p>
        </p:txBody>
      </p:sp>
      <p:sp>
        <p:nvSpPr>
          <p:cNvPr id="13" name="TextBox 12">
            <a:extLst>
              <a:ext uri="{FF2B5EF4-FFF2-40B4-BE49-F238E27FC236}">
                <a16:creationId xmlns:a16="http://schemas.microsoft.com/office/drawing/2014/main" id="{C7F18BBC-FE66-43BF-A531-3759154E82D3}"/>
              </a:ext>
            </a:extLst>
          </p:cNvPr>
          <p:cNvSpPr txBox="1"/>
          <p:nvPr/>
        </p:nvSpPr>
        <p:spPr>
          <a:xfrm>
            <a:off x="5155323" y="1411014"/>
            <a:ext cx="381311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2">
                    <a:lumMod val="50000"/>
                  </a:schemeClr>
                </a:solidFill>
              </a:rPr>
              <a:t>The tracker and the sentence had to stay in step</a:t>
            </a:r>
          </a:p>
          <a:p>
            <a:pPr marL="285750" indent="-285750">
              <a:buFont typeface="Arial" panose="020B0604020202020204" pitchFamily="34" charset="0"/>
              <a:buChar char="•"/>
            </a:pPr>
            <a:r>
              <a:rPr lang="en-US" sz="1600" dirty="0">
                <a:solidFill>
                  <a:schemeClr val="bg2">
                    <a:lumMod val="50000"/>
                  </a:schemeClr>
                </a:solidFill>
              </a:rPr>
              <a:t>Report, slides, and demonstration were due together</a:t>
            </a:r>
            <a:endParaRPr lang="en-GB" sz="1600" dirty="0">
              <a:solidFill>
                <a:schemeClr val="bg2">
                  <a:lumMod val="50000"/>
                </a:schemeClr>
              </a:solidFill>
            </a:endParaRPr>
          </a:p>
        </p:txBody>
      </p:sp>
      <p:sp>
        <p:nvSpPr>
          <p:cNvPr id="14" name="TextBox 13">
            <a:extLst>
              <a:ext uri="{FF2B5EF4-FFF2-40B4-BE49-F238E27FC236}">
                <a16:creationId xmlns:a16="http://schemas.microsoft.com/office/drawing/2014/main" id="{D54BAF0A-BE67-4007-807D-996A4422DF5F}"/>
              </a:ext>
            </a:extLst>
          </p:cNvPr>
          <p:cNvSpPr txBox="1"/>
          <p:nvPr/>
        </p:nvSpPr>
        <p:spPr>
          <a:xfrm>
            <a:off x="5155323" y="3855017"/>
            <a:ext cx="3476613"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2">
                    <a:lumMod val="50000"/>
                  </a:schemeClr>
                </a:solidFill>
              </a:rPr>
              <a:t>A narrow screen must still show the tracker and the menu</a:t>
            </a:r>
            <a:endParaRPr lang="en-GB" sz="1600" dirty="0">
              <a:solidFill>
                <a:schemeClr val="bg2">
                  <a:lumMod val="50000"/>
                </a:schemeClr>
              </a:solidFill>
            </a:endParaRPr>
          </a:p>
        </p:txBody>
      </p:sp>
    </p:spTree>
    <p:extLst>
      <p:ext uri="{BB962C8B-B14F-4D97-AF65-F5344CB8AC3E}">
        <p14:creationId xmlns:p14="http://schemas.microsoft.com/office/powerpoint/2010/main" val="3178573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563455" y="173420"/>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Risks</a:t>
            </a:r>
            <a:endParaRPr dirty="0"/>
          </a:p>
        </p:txBody>
      </p:sp>
      <p:sp>
        <p:nvSpPr>
          <p:cNvPr id="2301" name="Google Shape;2301;p34"/>
          <p:cNvSpPr txBox="1">
            <a:spLocks noGrp="1"/>
          </p:cNvSpPr>
          <p:nvPr>
            <p:ph type="subTitle" idx="1"/>
          </p:nvPr>
        </p:nvSpPr>
        <p:spPr>
          <a:xfrm>
            <a:off x="530896" y="1025250"/>
            <a:ext cx="6145800" cy="24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What we did</a:t>
            </a:r>
          </a:p>
          <a:p>
            <a:pPr marL="0" lvl="0" indent="0" algn="l" rtl="0">
              <a:spcBef>
                <a:spcPts val="0"/>
              </a:spcBef>
              <a:spcAft>
                <a:spcPts val="0"/>
              </a:spcAft>
              <a:buNone/>
            </a:pPr>
            <a:endParaRPr lang="en" dirty="0"/>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Kept the scope to documents, verification, the tracker, and the sentence.</a:t>
            </a:r>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Hashed passwords, separate tokens, and an internal key on the screening call.</a:t>
            </a:r>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The work is in one Git repository.</a:t>
            </a:r>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The student menu collapses on a phone, and both portals were checked at phone width.</a:t>
            </a:r>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Seeded four known cases, including K500.00 outstanding and a cleared-fee approval.</a:t>
            </a:r>
          </a:p>
          <a:p>
            <a:pPr marL="171450" lvl="0" indent="-171450" algn="l" rtl="0">
              <a:spcBef>
                <a:spcPts val="0"/>
              </a:spcBef>
              <a:spcAft>
                <a:spcPts val="0"/>
              </a:spcAft>
              <a:buFont typeface="Arial" panose="020B0604020202020204" pitchFamily="34" charset="0"/>
              <a:buChar char="•"/>
            </a:pPr>
            <a:r>
              <a:rPr lang="en" sz="1800" dirty="0">
                <a:solidFill>
                  <a:schemeClr val="bg1">
                    <a:lumMod val="10000"/>
                  </a:schemeClr>
                </a:solidFill>
              </a:rPr>
              <a:t>The QR page was opened from the address printed for the phone.</a:t>
            </a:r>
            <a:r>
              <a:rPr lang="en" dirty="0">
                <a:solidFill>
                  <a:schemeClr val="bg1">
                    <a:lumMod val="10000"/>
                  </a:schemeClr>
                </a:solidFill>
              </a:rPr>
              <a:t/>
            </a:r>
            <a:endParaRPr dirty="0">
              <a:solidFill>
                <a:schemeClr val="bg1">
                  <a:lumMod val="10000"/>
                </a:schemeClr>
              </a:solidFill>
            </a:endParaRPr>
          </a:p>
        </p:txBody>
      </p:sp>
    </p:spTree>
    <p:extLst>
      <p:ext uri="{BB962C8B-B14F-4D97-AF65-F5344CB8AC3E}">
        <p14:creationId xmlns:p14="http://schemas.microsoft.com/office/powerpoint/2010/main" val="691141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06" name="Google Shape;2106;p30"/>
          <p:cNvSpPr txBox="1">
            <a:spLocks noGrp="1"/>
          </p:cNvSpPr>
          <p:nvPr>
            <p:ph type="title"/>
          </p:nvPr>
        </p:nvSpPr>
        <p:spPr>
          <a:xfrm>
            <a:off x="936735" y="1897590"/>
            <a:ext cx="7463100" cy="12246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5000"/>
              <a:buNone/>
            </a:pPr>
            <a:r>
              <a:rPr lang="en-US" dirty="0"/>
              <a:t>References</a:t>
            </a:r>
            <a:endParaRPr dirty="0"/>
          </a:p>
        </p:txBody>
      </p:sp>
      <p:sp>
        <p:nvSpPr>
          <p:cNvPr id="2107" name="Google Shape;2107;p30"/>
          <p:cNvSpPr txBox="1">
            <a:spLocks noGrp="1"/>
          </p:cNvSpPr>
          <p:nvPr>
            <p:ph type="title" idx="2"/>
          </p:nvPr>
        </p:nvSpPr>
        <p:spPr>
          <a:xfrm>
            <a:off x="723900" y="862425"/>
            <a:ext cx="1257300" cy="9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07</a:t>
            </a:r>
            <a:endParaRPr dirty="0"/>
          </a:p>
        </p:txBody>
      </p:sp>
    </p:spTree>
    <p:extLst>
      <p:ext uri="{BB962C8B-B14F-4D97-AF65-F5344CB8AC3E}">
        <p14:creationId xmlns:p14="http://schemas.microsoft.com/office/powerpoint/2010/main" val="3787104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9"/>
        <p:cNvGrpSpPr/>
        <p:nvPr/>
      </p:nvGrpSpPr>
      <p:grpSpPr>
        <a:xfrm>
          <a:off x="0" y="0"/>
          <a:ext cx="0" cy="0"/>
          <a:chOff x="0" y="0"/>
          <a:chExt cx="0" cy="0"/>
        </a:xfrm>
      </p:grpSpPr>
      <p:sp>
        <p:nvSpPr>
          <p:cNvPr id="2300" name="Google Shape;2300;p34"/>
          <p:cNvSpPr txBox="1">
            <a:spLocks noGrp="1"/>
          </p:cNvSpPr>
          <p:nvPr>
            <p:ph type="title"/>
          </p:nvPr>
        </p:nvSpPr>
        <p:spPr>
          <a:xfrm>
            <a:off x="1563455" y="173420"/>
            <a:ext cx="5113241" cy="683633"/>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SzPts val="3500"/>
              <a:buNone/>
            </a:pPr>
            <a:r>
              <a:rPr lang="en" dirty="0"/>
              <a:t>References</a:t>
            </a:r>
            <a:endParaRPr dirty="0"/>
          </a:p>
        </p:txBody>
      </p:sp>
      <p:sp>
        <p:nvSpPr>
          <p:cNvPr id="2301" name="Google Shape;2301;p34"/>
          <p:cNvSpPr txBox="1">
            <a:spLocks noGrp="1"/>
          </p:cNvSpPr>
          <p:nvPr>
            <p:ph type="subTitle" idx="1"/>
          </p:nvPr>
        </p:nvSpPr>
        <p:spPr>
          <a:xfrm>
            <a:off x="712216" y="1025250"/>
            <a:ext cx="6752755" cy="329450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[1] Higher Education Loans and Scholarships Board. helsb.gov.zm.</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[2] ISO/IEC 18004. QR Code bar code symbology specification.</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[3] RFC 7519. JSON Web Token (JWT).</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[4] Fielding, R. T. (2000). Architectural Styles and the Design of Network-based Software Architectures.</a:t>
            </a:r>
            <a:r>
              <a:rPr lang="en-US" sz="1400" dirty="0" err="1">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r>
              <a:rPr lang="en-US" sz="1400" i="1" dirty="0">
                <a:latin typeface="Times New Roman" panose="02020603050405020304" pitchFamily="18" charset="0"/>
                <a:cs typeface="Times New Roman" panose="02020603050405020304" pitchFamily="18" charset="0"/>
              </a:rPr>
              <a:t/>
            </a:r>
            <a:endParaRPr lang="en" sz="1400" i="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[5] MySQL 8.0 Reference Manual.</a:t>
            </a:r>
            <a:r>
              <a:rPr lang="en-US" sz="1400" dirty="0" err="1">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[6] React documentation, react.dev. Express documentation, expressjs.com.</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GB" sz="1400" dirty="0">
                <a:latin typeface="Times New Roman" panose="02020603050405020304" pitchFamily="18" charset="0"/>
                <a:cs typeface="Times New Roman" panose="02020603050405020304" pitchFamily="18" charset="0"/>
              </a:rPr>
              <a:t>[7] OWASP Authentication Cheat Sheet.</a:t>
            </a:r>
            <a:r>
              <a:rPr lang="en-GB" sz="1400" i="1" dirty="0">
                <a:latin typeface="Times New Roman" panose="02020603050405020304" pitchFamily="18" charset="0"/>
                <a:cs typeface="Times New Roman" panose="02020603050405020304" pitchFamily="18" charset="0"/>
              </a:rPr>
              <a:t/>
            </a:r>
            <a:r>
              <a:rPr lang="en-GB"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[8] Government of the Republic of Zambia. Data Protection Act, 2021.</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endParaRPr lang="en"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400" dirty="0">
                <a:latin typeface="Times New Roman" panose="02020603050405020304" pitchFamily="18" charset="0"/>
                <a:cs typeface="Times New Roman" panose="02020603050405020304" pitchFamily="18" charset="0"/>
              </a:rPr>
              <a:t/>
            </a:r>
            <a:r>
              <a:rPr lang="en-US" sz="1400" i="1" dirty="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r>
              <a:rPr lang="en-US" dirty="0">
                <a:latin typeface="Times New Roman" panose="02020603050405020304" pitchFamily="18" charset="0"/>
                <a:cs typeface="Times New Roman" panose="02020603050405020304" pitchFamily="18" charset="0"/>
              </a:rPr>
              <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950338"/>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a:solidFill>
                  <a:srgbClr val="2F4741"/>
                </a:solidFill>
              </a:rPr>
              <a:t>Student portal</a:t>
            </a:r>
          </a:p>
        </p:txBody>
      </p:sp>
      <p:pic>
        <p:nvPicPr>
          <p:cNvPr id="3" name="Picture 2" descr="vs-dashboard-desktop.png"/>
          <p:cNvPicPr>
            <a:picLocks noChangeAspect="1"/>
          </p:cNvPicPr>
          <p:nvPr/>
        </p:nvPicPr>
        <p:blipFill>
          <a:blip r:embed="rId2"/>
          <a:stretch>
            <a:fillRect/>
          </a:stretch>
        </p:blipFill>
        <p:spPr>
          <a:xfrm>
            <a:off x="1554480" y="1097280"/>
            <a:ext cx="6035040" cy="38557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a:solidFill>
                  <a:srgbClr val="2F4741"/>
                </a:solidFill>
              </a:rPr>
              <a:t>Student portal on a phone</a:t>
            </a:r>
          </a:p>
        </p:txBody>
      </p:sp>
      <p:pic>
        <p:nvPicPr>
          <p:cNvPr id="3" name="Picture 2" descr="vs-dashboard-mobile.png"/>
          <p:cNvPicPr>
            <a:picLocks noChangeAspect="1"/>
          </p:cNvPicPr>
          <p:nvPr/>
        </p:nvPicPr>
        <p:blipFill>
          <a:blip r:embed="rId2"/>
          <a:stretch>
            <a:fillRect/>
          </a:stretch>
        </p:blipFill>
        <p:spPr>
          <a:xfrm>
            <a:off x="2286000" y="1051560"/>
            <a:ext cx="1783080" cy="3858768"/>
          </a:xfrm>
          <a:prstGeom prst="rect">
            <a:avLst/>
          </a:prstGeom>
        </p:spPr>
      </p:pic>
      <p:pic>
        <p:nvPicPr>
          <p:cNvPr id="4" name="Picture 3" descr="vs-menu-mobile.png"/>
          <p:cNvPicPr>
            <a:picLocks noChangeAspect="1"/>
          </p:cNvPicPr>
          <p:nvPr/>
        </p:nvPicPr>
        <p:blipFill>
          <a:blip r:embed="rId3"/>
          <a:stretch>
            <a:fillRect/>
          </a:stretch>
        </p:blipFill>
        <p:spPr>
          <a:xfrm>
            <a:off x="5029200" y="1051560"/>
            <a:ext cx="1783080" cy="385876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a:solidFill>
                  <a:srgbClr val="2F4741"/>
                </a:solidFill>
              </a:rPr>
              <a:t>HELSB officer portal</a:t>
            </a:r>
          </a:p>
        </p:txBody>
      </p:sp>
      <p:pic>
        <p:nvPicPr>
          <p:cNvPr id="3" name="Picture 2" descr="helsb-universities-desktop.png"/>
          <p:cNvPicPr>
            <a:picLocks noChangeAspect="1"/>
          </p:cNvPicPr>
          <p:nvPr/>
        </p:nvPicPr>
        <p:blipFill>
          <a:blip r:embed="rId2"/>
          <a:stretch>
            <a:fillRect/>
          </a:stretch>
        </p:blipFill>
        <p:spPr>
          <a:xfrm>
            <a:off x="274320" y="1143000"/>
            <a:ext cx="4206240" cy="2687320"/>
          </a:xfrm>
          <a:prstGeom prst="rect">
            <a:avLst/>
          </a:prstGeom>
        </p:spPr>
      </p:pic>
      <p:pic>
        <p:nvPicPr>
          <p:cNvPr id="4" name="Picture 3" descr="helsb-screening-desktop.png"/>
          <p:cNvPicPr>
            <a:picLocks noChangeAspect="1"/>
          </p:cNvPicPr>
          <p:nvPr/>
        </p:nvPicPr>
        <p:blipFill>
          <a:blip r:embed="rId3"/>
          <a:stretch>
            <a:fillRect/>
          </a:stretch>
        </p:blipFill>
        <p:spPr>
          <a:xfrm>
            <a:off x="4663440" y="1143000"/>
            <a:ext cx="4206240" cy="28625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59"/>
        <p:cNvGrpSpPr/>
        <p:nvPr/>
      </p:nvGrpSpPr>
      <p:grpSpPr>
        <a:xfrm>
          <a:off x="0" y="0"/>
          <a:ext cx="0" cy="0"/>
          <a:chOff x="0" y="0"/>
          <a:chExt cx="0" cy="0"/>
        </a:xfrm>
      </p:grpSpPr>
      <p:sp>
        <p:nvSpPr>
          <p:cNvPr id="2460" name="Google Shape;2460;p39"/>
          <p:cNvSpPr txBox="1">
            <a:spLocks noGrp="1"/>
          </p:cNvSpPr>
          <p:nvPr>
            <p:ph type="title"/>
          </p:nvPr>
        </p:nvSpPr>
        <p:spPr>
          <a:xfrm>
            <a:off x="815926" y="-637779"/>
            <a:ext cx="7788043" cy="3421118"/>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SzPts val="9000"/>
              <a:buNone/>
            </a:pPr>
            <a:r>
              <a:rPr lang="en" sz="6600" dirty="0"/>
              <a:t>Thank</a:t>
            </a:r>
            <a:br>
              <a:rPr lang="en" sz="6600" dirty="0"/>
            </a:br>
            <a:r>
              <a:rPr lang="en" sz="6600" dirty="0"/>
              <a:t>you for your Attention</a:t>
            </a:r>
            <a:endParaRPr sz="6600" dirty="0"/>
          </a:p>
        </p:txBody>
      </p:sp>
      <p:sp>
        <p:nvSpPr>
          <p:cNvPr id="4" name="Rectangle 3">
            <a:extLst>
              <a:ext uri="{FF2B5EF4-FFF2-40B4-BE49-F238E27FC236}">
                <a16:creationId xmlns:a16="http://schemas.microsoft.com/office/drawing/2014/main" id="{3AF0110B-7715-48F9-BDC5-9EF32ABA6B57}"/>
              </a:ext>
            </a:extLst>
          </p:cNvPr>
          <p:cNvSpPr/>
          <p:nvPr/>
        </p:nvSpPr>
        <p:spPr>
          <a:xfrm>
            <a:off x="2167759" y="3421118"/>
            <a:ext cx="5013434" cy="118241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F9A76547-9934-444B-B0BD-D9091EEC241E}"/>
              </a:ext>
            </a:extLst>
          </p:cNvPr>
          <p:cNvSpPr txBox="1"/>
          <p:nvPr/>
        </p:nvSpPr>
        <p:spPr>
          <a:xfrm>
            <a:off x="3985529" y="2514600"/>
            <a:ext cx="1742089" cy="584775"/>
          </a:xfrm>
          <a:prstGeom prst="rect">
            <a:avLst/>
          </a:prstGeom>
          <a:noFill/>
        </p:spPr>
        <p:txBody>
          <a:bodyPr wrap="square" rtlCol="0">
            <a:spAutoFit/>
          </a:bodyPr>
          <a:lstStyle/>
          <a:p>
            <a:r>
              <a:rPr lang="en-US" sz="3200" dirty="0">
                <a:solidFill>
                  <a:schemeClr val="accent1">
                    <a:lumMod val="50000"/>
                  </a:schemeClr>
                </a:solidFill>
              </a:rPr>
              <a:t>Q &amp; A</a:t>
            </a:r>
            <a:endParaRPr lang="en-GB" sz="3200" dirty="0">
              <a:solidFill>
                <a:schemeClr val="accent1">
                  <a:lumMod val="50000"/>
                </a:schemeClr>
              </a:solidFill>
            </a:endParaRPr>
          </a:p>
        </p:txBody>
      </p:sp>
      <p:sp>
        <p:nvSpPr>
          <p:cNvPr id="6" name="TextBox 5">
            <a:extLst>
              <a:ext uri="{FF2B5EF4-FFF2-40B4-BE49-F238E27FC236}">
                <a16:creationId xmlns:a16="http://schemas.microsoft.com/office/drawing/2014/main" id="{85F8B67A-E6C8-447C-8430-78526B7D676D}"/>
              </a:ext>
            </a:extLst>
          </p:cNvPr>
          <p:cNvSpPr txBox="1"/>
          <p:nvPr/>
        </p:nvSpPr>
        <p:spPr>
          <a:xfrm>
            <a:off x="2349062" y="3657600"/>
            <a:ext cx="4721772" cy="523220"/>
          </a:xfrm>
          <a:prstGeom prst="rect">
            <a:avLst/>
          </a:prstGeom>
          <a:noFill/>
        </p:spPr>
        <p:txBody>
          <a:bodyPr wrap="square" rtlCol="0">
            <a:spAutoFit/>
          </a:bodyPr>
          <a:lstStyle/>
          <a:p>
            <a:r>
              <a:rPr lang="en-US" dirty="0"/>
              <a:t>NOSIKU MUKUKA: 2022030346</a:t>
            </a:r>
          </a:p>
          <a:p>
            <a:r>
              <a:rPr lang="en-US" dirty="0"/>
              <a:t>SAMUEL CHIBINJI MWANZA: 2021465934</a:t>
            </a:r>
            <a:endParaRPr lang="en-GB" dirty="0"/>
          </a:p>
        </p:txBody>
      </p:sp>
      <p:pic>
        <p:nvPicPr>
          <p:cNvPr id="7" name="Picture 6">
            <a:extLst>
              <a:ext uri="{FF2B5EF4-FFF2-40B4-BE49-F238E27FC236}">
                <a16:creationId xmlns:a16="http://schemas.microsoft.com/office/drawing/2014/main" id="{312683CF-3A28-4C05-BE26-68A8A08D6186}"/>
              </a:ext>
            </a:extLst>
          </p:cNvPr>
          <p:cNvPicPr>
            <a:picLocks noChangeAspect="1"/>
          </p:cNvPicPr>
          <p:nvPr/>
        </p:nvPicPr>
        <p:blipFill>
          <a:blip r:embed="rId3"/>
          <a:stretch>
            <a:fillRect/>
          </a:stretch>
        </p:blipFill>
        <p:spPr>
          <a:xfrm>
            <a:off x="-141889" y="-63061"/>
            <a:ext cx="945931" cy="851337"/>
          </a:xfrm>
          <a:prstGeom prst="rect">
            <a:avLst/>
          </a:prstGeom>
        </p:spPr>
      </p:pic>
    </p:spTree>
  </p:cSld>
  <p:clrMapOvr>
    <a:masterClrMapping/>
  </p:clrMapOvr>
</p:sld>
</file>

<file path=ppt/theme/theme1.xml><?xml version="1.0" encoding="utf-8"?>
<a:theme xmlns:a="http://schemas.openxmlformats.org/drawingml/2006/main" name="Elegant Workplan by Slidesgo">
  <a:themeElements>
    <a:clrScheme name="Simple Light">
      <a:dk1>
        <a:srgbClr val="1C343C"/>
      </a:dk1>
      <a:lt1>
        <a:srgbClr val="F0EBE4"/>
      </a:lt1>
      <a:dk2>
        <a:srgbClr val="4C6A78"/>
      </a:dk2>
      <a:lt2>
        <a:srgbClr val="A7B3B2"/>
      </a:lt2>
      <a:accent1>
        <a:srgbClr val="E0B4A4"/>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1715</TotalTime>
  <Words>1663</Words>
  <Application>Microsoft Office PowerPoint</Application>
  <PresentationFormat>On-screen Show (16:9)</PresentationFormat>
  <Paragraphs>303</Paragraphs>
  <Slides>31</Slides>
  <Notes>31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31</vt:i4>
      </vt:variant>
    </vt:vector>
  </HeadingPairs>
  <TitlesOfParts>
    <vt:vector size="46" baseType="lpstr">
      <vt:lpstr>Arial</vt:lpstr>
      <vt:lpstr>Arial Black</vt:lpstr>
      <vt:lpstr>Arimo</vt:lpstr>
      <vt:lpstr>Bebas Neue</vt:lpstr>
      <vt:lpstr>Inter</vt:lpstr>
      <vt:lpstr>Libre Baskerville</vt:lpstr>
      <vt:lpstr>Libre Baskerville Bold</vt:lpstr>
      <vt:lpstr>Open Sans</vt:lpstr>
      <vt:lpstr>Poppins</vt:lpstr>
      <vt:lpstr>Poppins ExtraBold</vt:lpstr>
      <vt:lpstr>quote-cjk-patch</vt:lpstr>
      <vt:lpstr>Raleway</vt:lpstr>
      <vt:lpstr>Raleway ExtraBold</vt:lpstr>
      <vt:lpstr>Times New Roman</vt:lpstr>
      <vt:lpstr>Elegant Workplan by Slidesgo</vt:lpstr>
      <vt:lpstr>THE UNIVERSITY OF ZAMBIA SCHOOL OF NATURAL AND APPLIED SCIENCES DEPARTMENT OF COMPUTING AND INFORMATICS</vt:lpstr>
      <vt:lpstr>Table of contents</vt:lpstr>
      <vt:lpstr>Introduction</vt:lpstr>
      <vt:lpstr>Problem Statement</vt:lpstr>
      <vt:lpstr>Aim</vt:lpstr>
      <vt:lpstr>Objectives</vt:lpstr>
      <vt:lpstr>Scope of project</vt:lpstr>
      <vt:lpstr>Literature Overview</vt:lpstr>
      <vt:lpstr>Literature Overview</vt:lpstr>
      <vt:lpstr>Proposed Methodology</vt:lpstr>
      <vt:lpstr>Development Approach</vt:lpstr>
      <vt:lpstr>System Architecture</vt:lpstr>
      <vt:lpstr>Workflow Description</vt:lpstr>
      <vt:lpstr>Workflow Description</vt:lpstr>
      <vt:lpstr>Data Collection</vt:lpstr>
      <vt:lpstr>Tools and Technologies</vt:lpstr>
      <vt:lpstr>Ethnical and Legal considerations</vt:lpstr>
      <vt:lpstr>Expected Outcomes</vt:lpstr>
      <vt:lpstr>Software Systems /Prototypes</vt:lpstr>
      <vt:lpstr>Document Generation Engine</vt:lpstr>
      <vt:lpstr>Documentation</vt:lpstr>
      <vt:lpstr>Demonstration Materials</vt:lpstr>
      <vt:lpstr>Research Contributions</vt:lpstr>
      <vt:lpstr>Project Timeline</vt:lpstr>
      <vt:lpstr>Project Timeline</vt:lpstr>
      <vt:lpstr>Risk Analysis</vt:lpstr>
      <vt:lpstr>Risks</vt:lpstr>
      <vt:lpstr>Risks</vt:lpstr>
      <vt:lpstr>References</vt:lpstr>
      <vt:lpstr>References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UNIVERSITY OF ZAMBIA SCHOOL OF NATURAL AND APPLIED SCIENCES DEPARTMENT OF COMPUTING AND INFORMATICS</dc:title>
  <dc:creator>Nosiku Mukuka</dc:creator>
  <cp:lastModifiedBy>Nosiku Mukuka</cp:lastModifiedBy>
  <cp:revision>45</cp:revision>
  <dcterms:modified xsi:type="dcterms:W3CDTF">2026-03-26T19:57:09Z</dcterms:modified>
</cp:coreProperties>
</file>